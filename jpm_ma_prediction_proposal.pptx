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9" r:id="rId7"/>
    <p:sldId id="273" r:id="rId8"/>
    <p:sldId id="271" r:id="rId9"/>
    <p:sldId id="272" r:id="rId10"/>
    <p:sldId id="275" r:id="rId11"/>
    <p:sldId id="274" r:id="rId12"/>
    <p:sldId id="276" r:id="rId13"/>
    <p:sldId id="277" r:id="rId14"/>
    <p:sldId id="278" r:id="rId15"/>
    <p:sldId id="279" r:id="rId16"/>
    <p:sldId id="280" r:id="rId17"/>
    <p:sldId id="263" r:id="rId18"/>
    <p:sldId id="264" r:id="rId19"/>
    <p:sldId id="265" r:id="rId20"/>
    <p:sldId id="266" r:id="rId21"/>
    <p:sldId id="268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73"/>
    <p:restoredTop sz="94610"/>
  </p:normalViewPr>
  <p:slideViewPr>
    <p:cSldViewPr snapToGrid="0" snapToObjects="1">
      <p:cViewPr varScale="1">
        <p:scale>
          <a:sx n="157" d="100"/>
          <a:sy n="157" d="100"/>
        </p:scale>
        <p:origin x="48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8803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588CE-BF78-3209-501C-52A7EBDC6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289E96-828E-5F88-9305-AF32A32D8C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91C3CD-D047-00D3-7667-0E58ABB84D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F0960B-E377-3F95-2920-46864FBC67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1817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AA618-C0B1-9748-20EF-3C5111EC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329CC3-89DE-26C1-CD0A-A20F7B33C8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AA0544-6D3D-D1F1-A934-F90F40C938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2D5C1F-6370-7B13-5B95-220C5CB684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9663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F59DA-84BC-B51F-A54C-B8F48A0C4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18F83B-47EF-B678-52AD-024F276942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81EE71-BCAF-7DD8-D3E9-0523D59797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66057A-BFD0-9E08-9EAC-FBE481F37A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4812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A7C47-CB28-CE3F-E81E-EFE895F97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49E6EB-585D-3042-EA5E-AB425B0E01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66D990-40F0-7325-C22C-C94FDF3010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78ED16-F239-1C57-634E-5D42BD0139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1835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82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2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</a:rPr>
              <a:t>M&amp;A Prediction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DB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– Industry Project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Proposal|  Jun 10,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Ronald Liu    Dexin Fu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Goal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forecasting system for S&amp;P 500 returns using Google's TimesFM foundation model, leading toward a trading agent.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560320" cy="2377440"/>
          </a:xfrm>
          <a:prstGeom prst="rect">
            <a:avLst/>
          </a:prstGeom>
          <a:solidFill>
            <a:srgbClr val="F9FAFB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US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DB5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returns across 1-21 day horizons using TimesFM 2.5 200M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2194560"/>
            <a:ext cx="2560320" cy="2377440"/>
          </a:xfrm>
          <a:prstGeom prst="rect">
            <a:avLst/>
          </a:prstGeom>
          <a:solidFill>
            <a:srgbClr val="F9FAFB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US"/>
          </a:p>
        </p:txBody>
      </p:sp>
      <p:sp>
        <p:nvSpPr>
          <p:cNvPr id="9" name="Text 7"/>
          <p:cNvSpPr/>
          <p:nvPr/>
        </p:nvSpPr>
        <p:spPr>
          <a:xfrm>
            <a:off x="3474720" y="23774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DB5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47472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74720" y="33832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up/down moves with calibrated probability estimates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Timeline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457200" cy="457200"/>
          </a:xfrm>
          <a:prstGeom prst="ellipse">
            <a:avLst/>
          </a:prstGeom>
          <a:solidFill>
            <a:srgbClr val="FDB515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280160" y="1188720"/>
            <a:ext cx="7223760" cy="457200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6" name="Text 4"/>
          <p:cNvSpPr/>
          <p:nvPr/>
        </p:nvSpPr>
        <p:spPr>
          <a:xfrm>
            <a:off x="1463040" y="121615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DB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63040" y="139903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0" y="13075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TimesFM on close prices and returns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FDB515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280160" y="1783080"/>
            <a:ext cx="7223760" cy="457200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12" name="Text 10"/>
          <p:cNvSpPr/>
          <p:nvPr/>
        </p:nvSpPr>
        <p:spPr>
          <a:xfrm>
            <a:off x="1463040" y="181051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DB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63040" y="19933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Expansion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0" y="19019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MAE, direction, quantile coverage; rolling backtest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377440"/>
            <a:ext cx="457200" cy="457200"/>
          </a:xfrm>
          <a:prstGeom prst="ellipse">
            <a:avLst/>
          </a:prstGeom>
          <a:solidFill>
            <a:srgbClr val="FDB515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16" name="Text 14"/>
          <p:cNvSpPr/>
          <p:nvPr/>
        </p:nvSpPr>
        <p:spPr>
          <a:xfrm>
            <a:off x="64008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280160" y="2377440"/>
            <a:ext cx="7223760" cy="457200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18" name="Text 16"/>
          <p:cNvSpPr/>
          <p:nvPr/>
        </p:nvSpPr>
        <p:spPr>
          <a:xfrm>
            <a:off x="1463040" y="24048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DB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63040" y="258775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0" y="249631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holdout vs rolling design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rgbClr val="FDB515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22" name="Text 20"/>
          <p:cNvSpPr/>
          <p:nvPr/>
        </p:nvSpPr>
        <p:spPr>
          <a:xfrm>
            <a:off x="64008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280160" y="2971800"/>
            <a:ext cx="7223760" cy="457200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24" name="Text 22"/>
          <p:cNvSpPr/>
          <p:nvPr/>
        </p:nvSpPr>
        <p:spPr>
          <a:xfrm>
            <a:off x="1463040" y="299923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DB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463040" y="318211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Fine-Tuning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40480" y="30906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Adapter-based fine-tuning, 1.23M trainable params (0.53%)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3566160"/>
            <a:ext cx="457200" cy="457200"/>
          </a:xfrm>
          <a:prstGeom prst="ellipse">
            <a:avLst/>
          </a:prstGeom>
          <a:solidFill>
            <a:srgbClr val="FDB515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28" name="Text 26"/>
          <p:cNvSpPr/>
          <p:nvPr/>
        </p:nvSpPr>
        <p:spPr>
          <a:xfrm>
            <a:off x="64008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280160" y="3566160"/>
            <a:ext cx="7223760" cy="457200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30" name="Text 28"/>
          <p:cNvSpPr/>
          <p:nvPr/>
        </p:nvSpPr>
        <p:spPr>
          <a:xfrm>
            <a:off x="1463040" y="359359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DB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463040" y="377647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Mixer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840480" y="368503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 with self-aux/peers + DirectionHead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" y="4160520"/>
            <a:ext cx="457200" cy="457200"/>
          </a:xfrm>
          <a:prstGeom prst="ellipse">
            <a:avLst/>
          </a:prstGeom>
          <a:solidFill>
            <a:srgbClr val="FDB515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34" name="Text 32"/>
          <p:cNvSpPr/>
          <p:nvPr/>
        </p:nvSpPr>
        <p:spPr>
          <a:xfrm>
            <a:off x="64008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1280160" y="4160520"/>
            <a:ext cx="7223760" cy="457200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36" name="Text 34"/>
          <p:cNvSpPr/>
          <p:nvPr/>
        </p:nvSpPr>
        <p:spPr>
          <a:xfrm>
            <a:off x="1463040" y="418795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DB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463040" y="437083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Split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840480" y="42793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Time-ordered validation, best-checkpoint, class-balanced BCE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Setup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920240" y="1691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Databento OHLCV (adjusted)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20240" y="2103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502 S&amp;P 500 stocks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20240" y="2514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2018 - May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Days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20240" y="29260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2,013 days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337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20240" y="3337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960,723 post-adjustment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Setup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54880" y="16916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1691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TimesFM 2.5 200M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21031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2103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5, 10, 21 days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2514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2514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days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2926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26480" y="29260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Rolling, stride = 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3337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Universe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26480" y="3337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stocks (MSFT, AAPL...)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Evolution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560320" cy="3383280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560320" cy="91440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1-3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v1: Zero-Shot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Pretrained TimesFM 2.5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fine-tuning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Univariate input only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3657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20-30% MAE improvement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280160"/>
            <a:ext cx="2560320" cy="3383280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12" name="Shape 10"/>
          <p:cNvSpPr/>
          <p:nvPr/>
        </p:nvSpPr>
        <p:spPr>
          <a:xfrm>
            <a:off x="3291840" y="1280160"/>
            <a:ext cx="2560320" cy="91440"/>
          </a:xfrm>
          <a:prstGeom prst="rect">
            <a:avLst/>
          </a:prstGeom>
          <a:solidFill>
            <a:srgbClr val="3B7EA1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13" name="Text 11"/>
          <p:cNvSpPr/>
          <p:nvPr/>
        </p:nvSpPr>
        <p:spPr>
          <a:xfrm>
            <a:off x="3429000" y="1463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1737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v2: LoRA Fine-Tuned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2900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Adapters on qkv_proj + out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2900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1.23M trainable params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2900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Smooth L1 loss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3657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20-36% MAE improvement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1280160"/>
            <a:ext cx="2560320" cy="3383280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20" name="Shape 18"/>
          <p:cNvSpPr/>
          <p:nvPr/>
        </p:nvSpPr>
        <p:spPr>
          <a:xfrm>
            <a:off x="6035040" y="1280160"/>
            <a:ext cx="2560320" cy="91440"/>
          </a:xfrm>
          <a:prstGeom prst="rect">
            <a:avLst/>
          </a:prstGeom>
          <a:solidFill>
            <a:srgbClr val="FDB515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21" name="Text 19"/>
          <p:cNvSpPr/>
          <p:nvPr/>
        </p:nvSpPr>
        <p:spPr>
          <a:xfrm>
            <a:off x="6172200" y="1463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5-6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72200" y="1737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v3: Peer Mixer + Validation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7220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Cross-attention on top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7220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Self-aux + DirectionHead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7220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Validation + best checkpoint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72200" y="3657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~65% MAE improvement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9AC95-DC6B-B868-0C55-539FA4285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C16965D-EC73-8D18-385F-0BB9F9706F1E}"/>
              </a:ext>
            </a:extLst>
          </p:cNvPr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03262"/>
                </a:solidFill>
                <a:latin typeface="Georgia" pitchFamily="34" charset="0"/>
              </a:rPr>
              <a:t>Fine-Tuning</a:t>
            </a:r>
            <a:endParaRPr lang="en-US" sz="3200" dirty="0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E99D9741-72C6-F179-9402-A364159041A7}"/>
              </a:ext>
            </a:extLst>
          </p:cNvPr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Low-Rank Adaptation</a:t>
            </a:r>
            <a:endParaRPr lang="en-US" sz="1300" dirty="0"/>
          </a:p>
        </p:txBody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0F35D5E9-E0BE-DF73-1AE9-8C196E7B4E47}"/>
              </a:ext>
            </a:extLst>
          </p:cNvPr>
          <p:cNvSpPr/>
          <p:nvPr/>
        </p:nvSpPr>
        <p:spPr>
          <a:xfrm>
            <a:off x="548640" y="1463040"/>
            <a:ext cx="3840480" cy="3291840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5B404B0C-2137-E587-ADC5-9E8822CA1142}"/>
              </a:ext>
            </a:extLst>
          </p:cNvPr>
          <p:cNvSpPr/>
          <p:nvPr/>
        </p:nvSpPr>
        <p:spPr>
          <a:xfrm>
            <a:off x="731520" y="1600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74151"/>
                </a:solidFill>
                <a:latin typeface="Calibri" pitchFamily="34" charset="0"/>
                <a:cs typeface="Calibri" pitchFamily="34" charset="-120"/>
              </a:rPr>
              <a:t>Structure</a:t>
            </a:r>
            <a:endParaRPr lang="en-US" sz="1400" dirty="0"/>
          </a:p>
        </p:txBody>
      </p:sp>
      <p:sp>
        <p:nvSpPr>
          <p:cNvPr id="31" name="Text 4">
            <a:extLst>
              <a:ext uri="{FF2B5EF4-FFF2-40B4-BE49-F238E27FC236}">
                <a16:creationId xmlns:a16="http://schemas.microsoft.com/office/drawing/2014/main" id="{42423C44-8079-52A9-DADB-F9832398567F}"/>
              </a:ext>
            </a:extLst>
          </p:cNvPr>
          <p:cNvSpPr/>
          <p:nvPr/>
        </p:nvSpPr>
        <p:spPr>
          <a:xfrm>
            <a:off x="731520" y="196596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1600"/>
              </a:spcAft>
            </a:pPr>
            <a:r>
              <a:rPr lang="zh-CN" altLang="zh-CN" sz="1200">
                <a:solidFill>
                  <a:srgbClr val="374151"/>
                </a:solidFill>
                <a:latin typeface="Calibri" pitchFamily="34" charset="0"/>
                <a:cs typeface="Calibri" pitchFamily="34" charset="-120"/>
              </a:rPr>
              <a:t>LoRA, or Low-Rank Adaptation, freezes the original pretrained TimesFM weights and adds small trainable adapter matrices inside selected model layers. During training, only these adapter parameters are updated. </a:t>
            </a:r>
            <a:endParaRPr lang="en-US" altLang="zh-CN" sz="1200">
              <a:solidFill>
                <a:srgbClr val="374151"/>
              </a:solidFill>
              <a:latin typeface="Calibri" pitchFamily="34" charset="0"/>
              <a:cs typeface="Calibri" pitchFamily="34" charset="-120"/>
            </a:endParaRPr>
          </a:p>
          <a:p>
            <a:pPr>
              <a:spcAft>
                <a:spcPts val="1600"/>
              </a:spcAft>
            </a:pPr>
            <a:r>
              <a:rPr lang="en-US" altLang="zh-CN" sz="1200">
                <a:solidFill>
                  <a:srgbClr val="374151"/>
                </a:solidFill>
                <a:latin typeface="Calibri" pitchFamily="34" charset="0"/>
                <a:cs typeface="Calibri" pitchFamily="34" charset="-120"/>
              </a:rPr>
              <a:t>The goal is to make TimesFM better aligned with our dataset, including:</a:t>
            </a:r>
          </a:p>
          <a:p>
            <a:pPr marL="135450" indent="-171450" algn="just" fontAlgn="base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374151"/>
                </a:solidFill>
                <a:latin typeface="Calibri" pitchFamily="34" charset="0"/>
                <a:cs typeface="Calibri" pitchFamily="34" charset="-120"/>
              </a:rPr>
              <a:t>S&amp;P 500 daily stock prices</a:t>
            </a:r>
          </a:p>
          <a:p>
            <a:pPr marL="135450" indent="-171450" algn="just" fontAlgn="base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374151"/>
                </a:solidFill>
                <a:latin typeface="Calibri" pitchFamily="34" charset="0"/>
                <a:cs typeface="Calibri" pitchFamily="34" charset="-120"/>
              </a:rPr>
              <a:t>Simple returns</a:t>
            </a:r>
          </a:p>
          <a:p>
            <a:pPr marL="135450" indent="-171450" algn="just" fontAlgn="base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374151"/>
                </a:solidFill>
                <a:latin typeface="Calibri" pitchFamily="34" charset="0"/>
                <a:cs typeface="Calibri" pitchFamily="34" charset="-120"/>
              </a:rPr>
              <a:t>Log returns</a:t>
            </a:r>
          </a:p>
          <a:p>
            <a:pPr marL="135450" indent="-171450" algn="just" fontAlgn="base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374151"/>
                </a:solidFill>
                <a:latin typeface="Calibri" pitchFamily="34" charset="0"/>
                <a:cs typeface="Calibri" pitchFamily="34" charset="-120"/>
              </a:rPr>
              <a:t>Forecast horizons of 1, 5, 10, and 21 trading days</a:t>
            </a:r>
          </a:p>
          <a:p>
            <a:pPr>
              <a:spcAft>
                <a:spcPts val="1600"/>
              </a:spcAft>
            </a:pPr>
            <a:endParaRPr lang="zh-CN" altLang="zh-CN" sz="1200">
              <a:solidFill>
                <a:srgbClr val="374151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32" name="Shape 5">
            <a:extLst>
              <a:ext uri="{FF2B5EF4-FFF2-40B4-BE49-F238E27FC236}">
                <a16:creationId xmlns:a16="http://schemas.microsoft.com/office/drawing/2014/main" id="{AAA60E03-8664-F37A-B1D0-DCFF8E236FAC}"/>
              </a:ext>
            </a:extLst>
          </p:cNvPr>
          <p:cNvSpPr/>
          <p:nvPr/>
        </p:nvSpPr>
        <p:spPr>
          <a:xfrm>
            <a:off x="4754880" y="1463040"/>
            <a:ext cx="3840480" cy="3291840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33" name="Shape 6">
            <a:extLst>
              <a:ext uri="{FF2B5EF4-FFF2-40B4-BE49-F238E27FC236}">
                <a16:creationId xmlns:a16="http://schemas.microsoft.com/office/drawing/2014/main" id="{869A4BF8-286D-BAA0-0BC0-42A5C81445C6}"/>
              </a:ext>
            </a:extLst>
          </p:cNvPr>
          <p:cNvSpPr/>
          <p:nvPr/>
        </p:nvSpPr>
        <p:spPr>
          <a:xfrm>
            <a:off x="4754880" y="1463040"/>
            <a:ext cx="3840480" cy="91440"/>
          </a:xfrm>
          <a:prstGeom prst="rect">
            <a:avLst/>
          </a:prstGeom>
          <a:solidFill>
            <a:srgbClr val="FDB515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0904632E-FBE6-ED96-BD82-1DCF7A6F38D3}"/>
              </a:ext>
            </a:extLst>
          </p:cNvPr>
          <p:cNvSpPr/>
          <p:nvPr/>
        </p:nvSpPr>
        <p:spPr>
          <a:xfrm>
            <a:off x="4937760" y="1600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</a:t>
            </a:r>
            <a:endParaRPr lang="en-US" sz="1400" dirty="0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A5249CBE-137C-966D-2A48-ABEDFB07045A}"/>
              </a:ext>
            </a:extLst>
          </p:cNvPr>
          <p:cNvSpPr/>
          <p:nvPr/>
        </p:nvSpPr>
        <p:spPr>
          <a:xfrm>
            <a:off x="4937760" y="196596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600"/>
              </a:spcAft>
            </a:pPr>
            <a:r>
              <a:rPr lang="zh-CN" altLang="zh-CN" sz="1200">
                <a:solidFill>
                  <a:srgbClr val="374151"/>
                </a:solidFill>
                <a:latin typeface="Calibri" pitchFamily="34" charset="0"/>
                <a:cs typeface="Calibri" pitchFamily="34" charset="-120"/>
              </a:rPr>
              <a:t>Full fine-tuning would update all TimesFM parameters, which is expensive and can easily overfit because TimesFM 2.5 has more than 200M parameters. </a:t>
            </a:r>
            <a:endParaRPr lang="en-US" altLang="zh-CN" sz="1200">
              <a:solidFill>
                <a:srgbClr val="374151"/>
              </a:solidFill>
              <a:latin typeface="Calibri" pitchFamily="34" charset="0"/>
              <a:cs typeface="Calibri" pitchFamily="34" charset="-120"/>
            </a:endParaRPr>
          </a:p>
          <a:p>
            <a:pPr>
              <a:spcAft>
                <a:spcPts val="1600"/>
              </a:spcAft>
            </a:pPr>
            <a:r>
              <a:rPr lang="zh-CN" altLang="zh-CN" sz="1200">
                <a:solidFill>
                  <a:srgbClr val="374151"/>
                </a:solidFill>
                <a:latin typeface="Calibri" pitchFamily="34" charset="0"/>
                <a:cs typeface="Calibri" pitchFamily="34" charset="-120"/>
              </a:rPr>
              <a:t>LoRA trains only about 1.23M parameters, which is around 0.53% of the model.</a:t>
            </a:r>
            <a:endParaRPr lang="en-US" altLang="zh-CN" sz="1200">
              <a:solidFill>
                <a:srgbClr val="374151"/>
              </a:solidFill>
              <a:latin typeface="Calibri" pitchFamily="34" charset="0"/>
              <a:cs typeface="Calibri" pitchFamily="34" charset="-120"/>
            </a:endParaRP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zh-CN" altLang="zh-CN" sz="1200">
                <a:solidFill>
                  <a:srgbClr val="374151"/>
                </a:solidFill>
                <a:latin typeface="Calibri" pitchFamily="34" charset="0"/>
                <a:cs typeface="Calibri" pitchFamily="34" charset="-120"/>
              </a:rPr>
              <a:t>Much cheaper than full fine-tuning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zh-CN" altLang="zh-CN" sz="1200">
                <a:solidFill>
                  <a:srgbClr val="374151"/>
                </a:solidFill>
                <a:latin typeface="Calibri" pitchFamily="34" charset="0"/>
                <a:cs typeface="Calibri" pitchFamily="34" charset="-120"/>
              </a:rPr>
              <a:t>Less memory pressure than full fine-tuning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zh-CN" altLang="zh-CN" sz="1200">
                <a:solidFill>
                  <a:srgbClr val="374151"/>
                </a:solidFill>
                <a:latin typeface="Calibri" pitchFamily="34" charset="0"/>
                <a:cs typeface="Calibri" pitchFamily="34" charset="-120"/>
              </a:rPr>
              <a:t>More stable for limited financial data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zh-CN" altLang="zh-CN" sz="1200">
                <a:solidFill>
                  <a:srgbClr val="374151"/>
                </a:solidFill>
                <a:latin typeface="Calibri" pitchFamily="34" charset="0"/>
                <a:cs typeface="Calibri" pitchFamily="34" charset="-120"/>
              </a:rPr>
              <a:t>Less likely to destroy the pretrained knowledge already inside TimesFM</a:t>
            </a:r>
          </a:p>
          <a:p>
            <a:pPr>
              <a:spcAft>
                <a:spcPts val="1600"/>
              </a:spcAft>
            </a:pPr>
            <a:endParaRPr lang="zh-CN" altLang="zh-CN" sz="1200">
              <a:solidFill>
                <a:srgbClr val="374151"/>
              </a:solidFill>
              <a:latin typeface="Calibri" pitchFamily="34" charset="0"/>
              <a:cs typeface="Calibri" pitchFamily="34" charset="-120"/>
            </a:endParaRPr>
          </a:p>
          <a:p>
            <a:pPr>
              <a:spcAft>
                <a:spcPts val="1600"/>
              </a:spcAft>
            </a:pPr>
            <a:br>
              <a:rPr lang="zh-CN" altLang="zh-CN" sz="1200">
                <a:solidFill>
                  <a:srgbClr val="374151"/>
                </a:solidFill>
                <a:latin typeface="Calibri" pitchFamily="34" charset="0"/>
                <a:cs typeface="Calibri" pitchFamily="34" charset="-120"/>
              </a:rPr>
            </a:br>
            <a:endParaRPr lang="en-US" sz="1200" dirty="0">
              <a:solidFill>
                <a:srgbClr val="374151"/>
              </a:solidFill>
              <a:latin typeface="Calibri" pitchFamily="34" charset="0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03098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8AFA0-A99E-57AC-8A96-27AF4D4FE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40AFE0F-2937-DE50-5EC5-0602E561097E}"/>
              </a:ext>
            </a:extLst>
          </p:cNvPr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03262"/>
                </a:solidFill>
                <a:latin typeface="Georgia" pitchFamily="34" charset="0"/>
              </a:rPr>
              <a:t>Fine-Tuning</a:t>
            </a:r>
            <a:endParaRPr lang="en-US" sz="3200" dirty="0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D03F0C75-EE7A-DA2F-0C60-5992B110BDB1}"/>
              </a:ext>
            </a:extLst>
          </p:cNvPr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Training</a:t>
            </a:r>
            <a:r>
              <a:rPr lang="zh-CN" altLang="en-US" sz="130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30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300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61E9418-C7E7-363B-2D5F-5850863515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6136600"/>
              </p:ext>
            </p:extLst>
          </p:nvPr>
        </p:nvGraphicFramePr>
        <p:xfrm>
          <a:off x="623087" y="1489478"/>
          <a:ext cx="2160571" cy="2131816"/>
        </p:xfrm>
        <a:graphic>
          <a:graphicData uri="http://schemas.openxmlformats.org/drawingml/2006/table">
            <a:tbl>
              <a:tblPr firstCol="1">
                <a:tableStyleId>{00A15C55-8517-42AA-B614-E9B94910E393}</a:tableStyleId>
              </a:tblPr>
              <a:tblGrid>
                <a:gridCol w="1062846">
                  <a:extLst>
                    <a:ext uri="{9D8B030D-6E8A-4147-A177-3AD203B41FA5}">
                      <a16:colId xmlns:a16="http://schemas.microsoft.com/office/drawing/2014/main" val="120427"/>
                    </a:ext>
                  </a:extLst>
                </a:gridCol>
                <a:gridCol w="1097725">
                  <a:extLst>
                    <a:ext uri="{9D8B030D-6E8A-4147-A177-3AD203B41FA5}">
                      <a16:colId xmlns:a16="http://schemas.microsoft.com/office/drawing/2014/main" val="1618660004"/>
                    </a:ext>
                  </a:extLst>
                </a:gridCol>
              </a:tblGrid>
              <a:tr h="266477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LoRA rank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8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4054854896"/>
                  </a:ext>
                </a:extLst>
              </a:tr>
              <a:tr h="266477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LoRA alpha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16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984557536"/>
                  </a:ext>
                </a:extLst>
              </a:tr>
              <a:tr h="266477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LoRA dropout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0.05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875663333"/>
                  </a:ext>
                </a:extLst>
              </a:tr>
              <a:tr h="266477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Epochs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2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498775626"/>
                  </a:ext>
                </a:extLst>
              </a:tr>
              <a:tr h="266477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Batch size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8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580610512"/>
                  </a:ext>
                </a:extLst>
              </a:tr>
              <a:tr h="266477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Learning rate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0.0001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798982527"/>
                  </a:ext>
                </a:extLst>
              </a:tr>
              <a:tr h="266477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Weight decay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0.0001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18547830"/>
                  </a:ext>
                </a:extLst>
              </a:tr>
              <a:tr h="266477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Loss function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Smooth L1 loss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039955676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CAA313AA-E4AC-6AB9-F084-324FF0F85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625" y="159861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D241E4D5-4789-B61D-0760-66DA855A4124}"/>
              </a:ext>
            </a:extLst>
          </p:cNvPr>
          <p:cNvSpPr/>
          <p:nvPr/>
        </p:nvSpPr>
        <p:spPr>
          <a:xfrm>
            <a:off x="3010237" y="1325880"/>
            <a:ext cx="5585123" cy="2491741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2513A14-31CF-5DC1-4D53-3DBC0F0FEB18}"/>
              </a:ext>
            </a:extLst>
          </p:cNvPr>
          <p:cNvSpPr/>
          <p:nvPr/>
        </p:nvSpPr>
        <p:spPr>
          <a:xfrm>
            <a:off x="3217847" y="1438593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74151"/>
                </a:solidFill>
                <a:latin typeface="Calibri" pitchFamily="34" charset="0"/>
                <a:cs typeface="Calibri" pitchFamily="34" charset="-120"/>
              </a:rPr>
              <a:t>Structure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FFE872B-209A-61D1-A8A9-DB9929B59201}"/>
              </a:ext>
            </a:extLst>
          </p:cNvPr>
          <p:cNvSpPr/>
          <p:nvPr/>
        </p:nvSpPr>
        <p:spPr>
          <a:xfrm>
            <a:off x="3180170" y="1828800"/>
            <a:ext cx="5232310" cy="1901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1600"/>
              </a:spcAft>
            </a:pPr>
            <a:r>
              <a:rPr lang="zh-CN" altLang="zh-CN" sz="1200">
                <a:solidFill>
                  <a:srgbClr val="374151"/>
                </a:solidFill>
                <a:latin typeface="Calibri" pitchFamily="34" charset="0"/>
                <a:cs typeface="Calibri" pitchFamily="34" charset="-120"/>
              </a:rPr>
              <a:t>The LoRA fine-tuning is inserted into the TimesFM transformer attention layers. 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zh-CN" altLang="zh-CN" sz="1200">
                <a:solidFill>
                  <a:srgbClr val="374151"/>
                </a:solidFill>
                <a:latin typeface="Calibri" pitchFamily="34" charset="0"/>
                <a:cs typeface="Calibri" pitchFamily="34" charset="-120"/>
              </a:rPr>
              <a:t>model.stacked_xf[*].attn.qkv_proj</a:t>
            </a:r>
          </a:p>
          <a:p>
            <a:pPr marL="171450" indent="-171450" fontAlgn="base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zh-CN" altLang="zh-CN" sz="1200">
                <a:solidFill>
                  <a:srgbClr val="374151"/>
                </a:solidFill>
                <a:latin typeface="Calibri" pitchFamily="34" charset="0"/>
                <a:cs typeface="Calibri" pitchFamily="34" charset="-120"/>
              </a:rPr>
              <a:t>model.stacked_xf[*].attn.out</a:t>
            </a:r>
          </a:p>
          <a:p>
            <a:pPr>
              <a:spcAft>
                <a:spcPts val="1600"/>
              </a:spcAft>
            </a:pPr>
            <a:r>
              <a:rPr lang="zh-CN" altLang="zh-CN" sz="1200">
                <a:solidFill>
                  <a:srgbClr val="374151"/>
                </a:solidFill>
                <a:latin typeface="Calibri" pitchFamily="34" charset="0"/>
                <a:cs typeface="Calibri" pitchFamily="34" charset="-120"/>
              </a:rPr>
              <a:t>These are the input &amp; output attention projection layers inside each TimesFM transformer block. The pretrained TimesFM weights remain frozen. The model keeps its original learned time-series representation, while the LoRA adapters learn small task-specific adjustments for financial data.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8E408DDF-2CC7-8991-5820-D99C0D46E1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008602"/>
              </p:ext>
            </p:extLst>
          </p:nvPr>
        </p:nvGraphicFramePr>
        <p:xfrm>
          <a:off x="623087" y="3941334"/>
          <a:ext cx="5189521" cy="763734"/>
        </p:xfrm>
        <a:graphic>
          <a:graphicData uri="http://schemas.openxmlformats.org/drawingml/2006/table">
            <a:tbl>
              <a:tblPr firstRow="1">
                <a:tableStyleId>{00A15C55-8517-42AA-B614-E9B94910E393}</a:tableStyleId>
              </a:tblPr>
              <a:tblGrid>
                <a:gridCol w="872784">
                  <a:extLst>
                    <a:ext uri="{9D8B030D-6E8A-4147-A177-3AD203B41FA5}">
                      <a16:colId xmlns:a16="http://schemas.microsoft.com/office/drawing/2014/main" val="1873958360"/>
                    </a:ext>
                  </a:extLst>
                </a:gridCol>
                <a:gridCol w="1203025">
                  <a:extLst>
                    <a:ext uri="{9D8B030D-6E8A-4147-A177-3AD203B41FA5}">
                      <a16:colId xmlns:a16="http://schemas.microsoft.com/office/drawing/2014/main" val="2033220811"/>
                    </a:ext>
                  </a:extLst>
                </a:gridCol>
                <a:gridCol w="1037904">
                  <a:extLst>
                    <a:ext uri="{9D8B030D-6E8A-4147-A177-3AD203B41FA5}">
                      <a16:colId xmlns:a16="http://schemas.microsoft.com/office/drawing/2014/main" val="2297304459"/>
                    </a:ext>
                  </a:extLst>
                </a:gridCol>
                <a:gridCol w="1037904">
                  <a:extLst>
                    <a:ext uri="{9D8B030D-6E8A-4147-A177-3AD203B41FA5}">
                      <a16:colId xmlns:a16="http://schemas.microsoft.com/office/drawing/2014/main" val="2892569876"/>
                    </a:ext>
                  </a:extLst>
                </a:gridCol>
                <a:gridCol w="1037904">
                  <a:extLst>
                    <a:ext uri="{9D8B030D-6E8A-4147-A177-3AD203B41FA5}">
                      <a16:colId xmlns:a16="http://schemas.microsoft.com/office/drawing/2014/main" val="445690433"/>
                    </a:ext>
                  </a:extLst>
                </a:gridCol>
              </a:tblGrid>
              <a:tr h="238910"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Target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49" marR="35849" marT="35849" marB="35849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Training Samples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49" marR="35849" marT="35849" marB="35849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Epoch 1 Loss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49" marR="35849" marT="35849" marB="35849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Epoch 2 Loss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49" marR="35849" marT="35849" marB="35849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Loss Drop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49" marR="35849" marT="35849" marB="35849"/>
                </a:tc>
                <a:extLst>
                  <a:ext uri="{0D108BD9-81ED-4DB2-BD59-A6C34878D82A}">
                    <a16:rowId xmlns:a16="http://schemas.microsoft.com/office/drawing/2014/main" val="648870284"/>
                  </a:ext>
                </a:extLst>
              </a:tr>
              <a:tr h="238910"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Close price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49" marR="35849" marT="35849" marB="35849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2,004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49" marR="35849" marT="35849" marB="35849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5.414857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49" marR="35849" marT="35849" marB="35849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4.750981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49" marR="35849" marT="35849" marB="35849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12.26%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49" marR="35849" marT="35849" marB="35849"/>
                </a:tc>
                <a:extLst>
                  <a:ext uri="{0D108BD9-81ED-4DB2-BD59-A6C34878D82A}">
                    <a16:rowId xmlns:a16="http://schemas.microsoft.com/office/drawing/2014/main" val="4218095290"/>
                  </a:ext>
                </a:extLst>
              </a:tr>
              <a:tr h="238910"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Returns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49" marR="35849" marT="35849" marB="35849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4,008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49" marR="35849" marT="35849" marB="35849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0.000247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49" marR="35849" marT="35849" marB="35849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0.000218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49" marR="35849" marT="35849" marB="35849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11.87%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49" marR="35849" marT="35849" marB="35849"/>
                </a:tc>
                <a:extLst>
                  <a:ext uri="{0D108BD9-81ED-4DB2-BD59-A6C34878D82A}">
                    <a16:rowId xmlns:a16="http://schemas.microsoft.com/office/drawing/2014/main" val="533898837"/>
                  </a:ext>
                </a:extLst>
              </a:tr>
            </a:tbl>
          </a:graphicData>
        </a:graphic>
      </p:graphicFrame>
      <p:sp>
        <p:nvSpPr>
          <p:cNvPr id="9" name="Rectangle 2">
            <a:extLst>
              <a:ext uri="{FF2B5EF4-FFF2-40B4-BE49-F238E27FC236}">
                <a16:creationId xmlns:a16="http://schemas.microsoft.com/office/drawing/2014/main" id="{61BE78AF-A7B9-035D-C01D-7BCDE62E05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24638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A1D764C-7A38-691F-51FB-E04D2E5CA745}"/>
              </a:ext>
            </a:extLst>
          </p:cNvPr>
          <p:cNvSpPr txBox="1"/>
          <p:nvPr/>
        </p:nvSpPr>
        <p:spPr>
          <a:xfrm>
            <a:off x="5907059" y="3945786"/>
            <a:ext cx="268830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Aft>
                <a:spcPts val="1600"/>
              </a:spcAft>
              <a:buNone/>
            </a:pPr>
            <a:r>
              <a:rPr lang="en-US" altLang="zh-CN" sz="1100" b="1">
                <a:solidFill>
                  <a:srgbClr val="003262"/>
                </a:solidFill>
                <a:latin typeface="Calibri" pitchFamily="34" charset="0"/>
                <a:cs typeface="Calibri" pitchFamily="34" charset="-120"/>
              </a:rPr>
              <a:t>The </a:t>
            </a:r>
            <a:r>
              <a:rPr lang="zh-CN" altLang="zh-CN" sz="1100" b="1">
                <a:solidFill>
                  <a:srgbClr val="003262"/>
                </a:solidFill>
                <a:latin typeface="Calibri" pitchFamily="34" charset="0"/>
                <a:cs typeface="Calibri" pitchFamily="34" charset="-120"/>
              </a:rPr>
              <a:t>LoRA adapters successfully learned some financial-domain adjustment without modifying the full TimesFM backbone.</a:t>
            </a:r>
          </a:p>
        </p:txBody>
      </p:sp>
    </p:spTree>
    <p:extLst>
      <p:ext uri="{BB962C8B-B14F-4D97-AF65-F5344CB8AC3E}">
        <p14:creationId xmlns:p14="http://schemas.microsoft.com/office/powerpoint/2010/main" val="209386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CA531-E613-B67C-4B26-18AC55C4F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2A0F563-BF79-4BB2-B035-198BBADFE5B0}"/>
              </a:ext>
            </a:extLst>
          </p:cNvPr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03262"/>
                </a:solidFill>
                <a:latin typeface="Georgia" pitchFamily="34" charset="0"/>
              </a:rPr>
              <a:t>LoRA</a:t>
            </a:r>
            <a:r>
              <a:rPr lang="zh-CN" altLang="en-US" sz="3200" b="1">
                <a:solidFill>
                  <a:srgbClr val="003262"/>
                </a:solidFill>
                <a:latin typeface="Georgia" pitchFamily="34" charset="0"/>
              </a:rPr>
              <a:t> </a:t>
            </a:r>
            <a:r>
              <a:rPr lang="en-US" sz="3200" b="1">
                <a:solidFill>
                  <a:srgbClr val="003262"/>
                </a:solidFill>
                <a:latin typeface="Georgia" pitchFamily="34" charset="0"/>
              </a:rPr>
              <a:t>Fine-Tuning</a:t>
            </a:r>
            <a:endParaRPr lang="en-US" sz="3200" dirty="0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84D6F5CC-4849-58F8-8587-C381459FBD86}"/>
              </a:ext>
            </a:extLst>
          </p:cNvPr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Forecasting Result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8A1B789-6D2B-901E-A6DE-7A4715A533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474672"/>
              </p:ext>
            </p:extLst>
          </p:nvPr>
        </p:nvGraphicFramePr>
        <p:xfrm>
          <a:off x="612466" y="1419795"/>
          <a:ext cx="5343271" cy="2303910"/>
        </p:xfrm>
        <a:graphic>
          <a:graphicData uri="http://schemas.openxmlformats.org/drawingml/2006/table">
            <a:tbl>
              <a:tblPr firstRow="1">
                <a:tableStyleId>{1E171933-4619-4E11-9A3F-F7608DF75F80}</a:tableStyleId>
              </a:tblPr>
              <a:tblGrid>
                <a:gridCol w="990641">
                  <a:extLst>
                    <a:ext uri="{9D8B030D-6E8A-4147-A177-3AD203B41FA5}">
                      <a16:colId xmlns:a16="http://schemas.microsoft.com/office/drawing/2014/main" val="898282672"/>
                    </a:ext>
                  </a:extLst>
                </a:gridCol>
                <a:gridCol w="687257">
                  <a:extLst>
                    <a:ext uri="{9D8B030D-6E8A-4147-A177-3AD203B41FA5}">
                      <a16:colId xmlns:a16="http://schemas.microsoft.com/office/drawing/2014/main" val="3313213097"/>
                    </a:ext>
                  </a:extLst>
                </a:gridCol>
                <a:gridCol w="1108280">
                  <a:extLst>
                    <a:ext uri="{9D8B030D-6E8A-4147-A177-3AD203B41FA5}">
                      <a16:colId xmlns:a16="http://schemas.microsoft.com/office/drawing/2014/main" val="3555337839"/>
                    </a:ext>
                  </a:extLst>
                </a:gridCol>
                <a:gridCol w="866811">
                  <a:extLst>
                    <a:ext uri="{9D8B030D-6E8A-4147-A177-3AD203B41FA5}">
                      <a16:colId xmlns:a16="http://schemas.microsoft.com/office/drawing/2014/main" val="1140829952"/>
                    </a:ext>
                  </a:extLst>
                </a:gridCol>
                <a:gridCol w="1690282">
                  <a:extLst>
                    <a:ext uri="{9D8B030D-6E8A-4147-A177-3AD203B41FA5}">
                      <a16:colId xmlns:a16="http://schemas.microsoft.com/office/drawing/2014/main" val="4092857065"/>
                    </a:ext>
                  </a:extLst>
                </a:gridCol>
              </a:tblGrid>
              <a:tr h="163819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Target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6555" marR="36555" marT="36555" marB="36555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Horizon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6555" marR="36555" marT="36555" marB="36555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TimesFM MAE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6555" marR="36555" marT="36555" marB="36555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Naive MAE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6555" marR="36555" marT="36555" marB="36555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Improvement vs Naive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6555" marR="36555" marT="36555" marB="36555"/>
                </a:tc>
                <a:extLst>
                  <a:ext uri="{0D108BD9-81ED-4DB2-BD59-A6C34878D82A}">
                    <a16:rowId xmlns:a16="http://schemas.microsoft.com/office/drawing/2014/main" val="1978012121"/>
                  </a:ext>
                </a:extLst>
              </a:tr>
              <a:tr h="163819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Simple return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6555" marR="36555" marT="36555" marB="36555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Next day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6555" marR="36555" marT="36555" marB="36555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0.017341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6555" marR="36555" marT="36555" marB="36555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0.021734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6555" marR="36555" marT="36555" marB="36555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00B050"/>
                          </a:solidFill>
                        </a:rPr>
                        <a:t>20.21%</a:t>
                      </a:r>
                      <a:endParaRPr lang="zh-CN" altLang="en-US" sz="1200" kern="1200">
                        <a:solidFill>
                          <a:srgbClr val="00B050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6555" marR="36555" marT="36555" marB="36555"/>
                </a:tc>
                <a:extLst>
                  <a:ext uri="{0D108BD9-81ED-4DB2-BD59-A6C34878D82A}">
                    <a16:rowId xmlns:a16="http://schemas.microsoft.com/office/drawing/2014/main" val="1150871474"/>
                  </a:ext>
                </a:extLst>
              </a:tr>
              <a:tr h="163819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Simple return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6555" marR="36555" marT="36555" marB="36555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1 week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6555" marR="36555" marT="36555" marB="36555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0.016759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6555" marR="36555" marT="36555" marB="36555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0.023633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6555" marR="36555" marT="36555" marB="36555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00B050"/>
                          </a:solidFill>
                        </a:rPr>
                        <a:t>29.09%</a:t>
                      </a:r>
                      <a:endParaRPr lang="zh-CN" altLang="en-US" sz="1200" kern="1200">
                        <a:solidFill>
                          <a:srgbClr val="00B050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6555" marR="36555" marT="36555" marB="36555"/>
                </a:tc>
                <a:extLst>
                  <a:ext uri="{0D108BD9-81ED-4DB2-BD59-A6C34878D82A}">
                    <a16:rowId xmlns:a16="http://schemas.microsoft.com/office/drawing/2014/main" val="1787123128"/>
                  </a:ext>
                </a:extLst>
              </a:tr>
              <a:tr h="163819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Simple return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6555" marR="36555" marT="36555" marB="36555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2 weeks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6555" marR="36555" marT="36555" marB="36555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0.016499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6555" marR="36555" marT="36555" marB="36555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0.023764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6555" marR="36555" marT="36555" marB="36555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00B050"/>
                          </a:solidFill>
                        </a:rPr>
                        <a:t>30.57%</a:t>
                      </a:r>
                      <a:endParaRPr lang="zh-CN" altLang="en-US" sz="1200" kern="1200">
                        <a:solidFill>
                          <a:srgbClr val="00B050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6555" marR="36555" marT="36555" marB="36555"/>
                </a:tc>
                <a:extLst>
                  <a:ext uri="{0D108BD9-81ED-4DB2-BD59-A6C34878D82A}">
                    <a16:rowId xmlns:a16="http://schemas.microsoft.com/office/drawing/2014/main" val="2579280798"/>
                  </a:ext>
                </a:extLst>
              </a:tr>
              <a:tr h="163819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Simple return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6555" marR="36555" marT="36555" marB="36555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1 month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6555" marR="36555" marT="36555" marB="36555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0.017383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6555" marR="36555" marT="36555" marB="36555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0.027227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6555" marR="36555" marT="36555" marB="36555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00B050"/>
                          </a:solidFill>
                        </a:rPr>
                        <a:t>36.16%</a:t>
                      </a:r>
                      <a:endParaRPr lang="zh-CN" altLang="en-US" sz="1200" kern="1200">
                        <a:solidFill>
                          <a:srgbClr val="00B050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6555" marR="36555" marT="36555" marB="36555"/>
                </a:tc>
                <a:extLst>
                  <a:ext uri="{0D108BD9-81ED-4DB2-BD59-A6C34878D82A}">
                    <a16:rowId xmlns:a16="http://schemas.microsoft.com/office/drawing/2014/main" val="1954018759"/>
                  </a:ext>
                </a:extLst>
              </a:tr>
              <a:tr h="163819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Log return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6555" marR="36555" marT="36555" marB="36555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Next day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6555" marR="36555" marT="36555" marB="36555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0.017426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6555" marR="36555" marT="36555" marB="36555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0.021868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6555" marR="36555" marT="36555" marB="36555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00B050"/>
                          </a:solidFill>
                        </a:rPr>
                        <a:t>20.31%</a:t>
                      </a:r>
                      <a:endParaRPr lang="zh-CN" altLang="en-US" sz="1200" kern="1200">
                        <a:solidFill>
                          <a:srgbClr val="00B050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6555" marR="36555" marT="36555" marB="36555"/>
                </a:tc>
                <a:extLst>
                  <a:ext uri="{0D108BD9-81ED-4DB2-BD59-A6C34878D82A}">
                    <a16:rowId xmlns:a16="http://schemas.microsoft.com/office/drawing/2014/main" val="4247921279"/>
                  </a:ext>
                </a:extLst>
              </a:tr>
              <a:tr h="163819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Log return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6555" marR="36555" marT="36555" marB="36555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1 week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6555" marR="36555" marT="36555" marB="36555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0.016811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6555" marR="36555" marT="36555" marB="36555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0.023767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6555" marR="36555" marT="36555" marB="36555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00B050"/>
                          </a:solidFill>
                        </a:rPr>
                        <a:t>29.27%</a:t>
                      </a:r>
                      <a:endParaRPr lang="zh-CN" altLang="en-US" sz="1200" kern="1200">
                        <a:solidFill>
                          <a:srgbClr val="00B050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6555" marR="36555" marT="36555" marB="36555"/>
                </a:tc>
                <a:extLst>
                  <a:ext uri="{0D108BD9-81ED-4DB2-BD59-A6C34878D82A}">
                    <a16:rowId xmlns:a16="http://schemas.microsoft.com/office/drawing/2014/main" val="3375529536"/>
                  </a:ext>
                </a:extLst>
              </a:tr>
              <a:tr h="163819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Log return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6555" marR="36555" marT="36555" marB="36555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2 weeks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6555" marR="36555" marT="36555" marB="36555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0.016543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6555" marR="36555" marT="36555" marB="36555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0.023895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6555" marR="36555" marT="36555" marB="36555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00B050"/>
                          </a:solidFill>
                        </a:rPr>
                        <a:t>30.77%</a:t>
                      </a:r>
                      <a:endParaRPr lang="zh-CN" altLang="en-US" sz="1200" kern="1200">
                        <a:solidFill>
                          <a:srgbClr val="00B050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6555" marR="36555" marT="36555" marB="36555"/>
                </a:tc>
                <a:extLst>
                  <a:ext uri="{0D108BD9-81ED-4DB2-BD59-A6C34878D82A}">
                    <a16:rowId xmlns:a16="http://schemas.microsoft.com/office/drawing/2014/main" val="1355494851"/>
                  </a:ext>
                </a:extLst>
              </a:tr>
              <a:tr h="163819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Log return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6555" marR="36555" marT="36555" marB="36555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1 month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6555" marR="36555" marT="36555" marB="36555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0.017438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6555" marR="36555" marT="36555" marB="36555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0.027226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6555" marR="36555" marT="36555" marB="36555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zh-CN" sz="1200" kern="1200" dirty="0">
                          <a:solidFill>
                            <a:srgbClr val="00B050"/>
                          </a:solidFill>
                        </a:rPr>
                        <a:t>35.95%</a:t>
                      </a:r>
                      <a:endParaRPr lang="zh-CN" altLang="en-US" sz="1200" kern="1200" dirty="0">
                        <a:solidFill>
                          <a:srgbClr val="00B050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36555" marR="36555" marT="36555" marB="36555"/>
                </a:tc>
                <a:extLst>
                  <a:ext uri="{0D108BD9-81ED-4DB2-BD59-A6C34878D82A}">
                    <a16:rowId xmlns:a16="http://schemas.microsoft.com/office/drawing/2014/main" val="584210845"/>
                  </a:ext>
                </a:extLst>
              </a:tr>
            </a:tbl>
          </a:graphicData>
        </a:graphic>
      </p:graphicFrame>
      <p:pic>
        <p:nvPicPr>
          <p:cNvPr id="1027" name="Picture 3">
            <a:extLst>
              <a:ext uri="{FF2B5EF4-FFF2-40B4-BE49-F238E27FC236}">
                <a16:creationId xmlns:a16="http://schemas.microsoft.com/office/drawing/2014/main" id="{96B850BD-0739-5B0F-1591-6C494A5A00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89"/>
          <a:stretch>
            <a:fillRect/>
          </a:stretch>
        </p:blipFill>
        <p:spPr bwMode="auto">
          <a:xfrm>
            <a:off x="4838592" y="2054584"/>
            <a:ext cx="4305408" cy="153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58AC9845-2FCB-2D33-D4F9-D52015E3FA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51"/>
          <a:stretch>
            <a:fillRect/>
          </a:stretch>
        </p:blipFill>
        <p:spPr bwMode="auto">
          <a:xfrm>
            <a:off x="4838592" y="3585635"/>
            <a:ext cx="4305408" cy="1560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5914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A59C9-9C03-DAF0-4D67-5BBEBC334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FC341EA-7A24-8D62-6416-434DA74BDF93}"/>
              </a:ext>
            </a:extLst>
          </p:cNvPr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03262"/>
                </a:solidFill>
                <a:latin typeface="Georgia" pitchFamily="34" charset="0"/>
              </a:rPr>
              <a:t>LoRA</a:t>
            </a:r>
            <a:r>
              <a:rPr lang="zh-CN" altLang="en-US" sz="3200" b="1">
                <a:solidFill>
                  <a:srgbClr val="003262"/>
                </a:solidFill>
                <a:latin typeface="Georgia" pitchFamily="34" charset="0"/>
              </a:rPr>
              <a:t> </a:t>
            </a:r>
            <a:r>
              <a:rPr lang="en-US" sz="3200" b="1">
                <a:solidFill>
                  <a:srgbClr val="003262"/>
                </a:solidFill>
                <a:latin typeface="Georgia" pitchFamily="34" charset="0"/>
              </a:rPr>
              <a:t>Fine-Tuning</a:t>
            </a:r>
            <a:endParaRPr lang="en-US" sz="3200" dirty="0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A49C27CB-D2D1-6234-43C0-8EFD4116F4F7}"/>
              </a:ext>
            </a:extLst>
          </p:cNvPr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Classification Result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4A34590-D2EB-EBB2-4495-BB816A3C98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080316"/>
              </p:ext>
            </p:extLst>
          </p:nvPr>
        </p:nvGraphicFramePr>
        <p:xfrm>
          <a:off x="628650" y="1389591"/>
          <a:ext cx="5084327" cy="2474802"/>
        </p:xfrm>
        <a:graphic>
          <a:graphicData uri="http://schemas.openxmlformats.org/drawingml/2006/table">
            <a:tbl>
              <a:tblPr firstRow="1">
                <a:tableStyleId>{1E171933-4619-4E11-9A3F-F7608DF75F80}</a:tableStyleId>
              </a:tblPr>
              <a:tblGrid>
                <a:gridCol w="1127322">
                  <a:extLst>
                    <a:ext uri="{9D8B030D-6E8A-4147-A177-3AD203B41FA5}">
                      <a16:colId xmlns:a16="http://schemas.microsoft.com/office/drawing/2014/main" val="756439991"/>
                    </a:ext>
                  </a:extLst>
                </a:gridCol>
                <a:gridCol w="882032">
                  <a:extLst>
                    <a:ext uri="{9D8B030D-6E8A-4147-A177-3AD203B41FA5}">
                      <a16:colId xmlns:a16="http://schemas.microsoft.com/office/drawing/2014/main" val="3809346400"/>
                    </a:ext>
                  </a:extLst>
                </a:gridCol>
                <a:gridCol w="760651">
                  <a:extLst>
                    <a:ext uri="{9D8B030D-6E8A-4147-A177-3AD203B41FA5}">
                      <a16:colId xmlns:a16="http://schemas.microsoft.com/office/drawing/2014/main" val="2964986468"/>
                    </a:ext>
                  </a:extLst>
                </a:gridCol>
                <a:gridCol w="704007">
                  <a:extLst>
                    <a:ext uri="{9D8B030D-6E8A-4147-A177-3AD203B41FA5}">
                      <a16:colId xmlns:a16="http://schemas.microsoft.com/office/drawing/2014/main" val="354482478"/>
                    </a:ext>
                  </a:extLst>
                </a:gridCol>
                <a:gridCol w="889603">
                  <a:extLst>
                    <a:ext uri="{9D8B030D-6E8A-4147-A177-3AD203B41FA5}">
                      <a16:colId xmlns:a16="http://schemas.microsoft.com/office/drawing/2014/main" val="829485116"/>
                    </a:ext>
                  </a:extLst>
                </a:gridCol>
                <a:gridCol w="720712">
                  <a:extLst>
                    <a:ext uri="{9D8B030D-6E8A-4147-A177-3AD203B41FA5}">
                      <a16:colId xmlns:a16="http://schemas.microsoft.com/office/drawing/2014/main" val="2379423533"/>
                    </a:ext>
                  </a:extLst>
                </a:gridCol>
              </a:tblGrid>
              <a:tr h="242540"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Return Type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Horizon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TimesFM</a:t>
                      </a:r>
                      <a:endParaRPr lang="zh-CN" altLang="en-US" sz="1200" kern="1200">
                        <a:solidFill>
                          <a:srgbClr val="374151"/>
                        </a:solidFill>
                      </a:endParaRPr>
                    </a:p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Accuracy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Naive</a:t>
                      </a:r>
                      <a:endParaRPr lang="zh-CN" altLang="en-US" sz="1200" kern="1200">
                        <a:solidFill>
                          <a:srgbClr val="374151"/>
                        </a:solidFill>
                      </a:endParaRPr>
                    </a:p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Accuracy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TimesFM F1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Naive F1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 anchor="ctr"/>
                </a:tc>
                <a:extLst>
                  <a:ext uri="{0D108BD9-81ED-4DB2-BD59-A6C34878D82A}">
                    <a16:rowId xmlns:a16="http://schemas.microsoft.com/office/drawing/2014/main" val="2292108146"/>
                  </a:ext>
                </a:extLst>
              </a:tr>
              <a:tr h="195014"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Simple return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Next day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0.4680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0.5100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0.4784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0.4776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/>
                </a:tc>
                <a:extLst>
                  <a:ext uri="{0D108BD9-81ED-4DB2-BD59-A6C34878D82A}">
                    <a16:rowId xmlns:a16="http://schemas.microsoft.com/office/drawing/2014/main" val="2010601615"/>
                  </a:ext>
                </a:extLst>
              </a:tr>
              <a:tr h="195014"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Simple return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1 week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0.4860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0.4688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0.5257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0.4160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/>
                </a:tc>
                <a:extLst>
                  <a:ext uri="{0D108BD9-81ED-4DB2-BD59-A6C34878D82A}">
                    <a16:rowId xmlns:a16="http://schemas.microsoft.com/office/drawing/2014/main" val="976220240"/>
                  </a:ext>
                </a:extLst>
              </a:tr>
              <a:tr h="195014"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Simple return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2 weeks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0.4912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0.5024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0.5322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0.4751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/>
                </a:tc>
                <a:extLst>
                  <a:ext uri="{0D108BD9-81ED-4DB2-BD59-A6C34878D82A}">
                    <a16:rowId xmlns:a16="http://schemas.microsoft.com/office/drawing/2014/main" val="780115312"/>
                  </a:ext>
                </a:extLst>
              </a:tr>
              <a:tr h="195014"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Simple return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1 month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0.4983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0.4879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0.5520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0.5133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/>
                </a:tc>
                <a:extLst>
                  <a:ext uri="{0D108BD9-81ED-4DB2-BD59-A6C34878D82A}">
                    <a16:rowId xmlns:a16="http://schemas.microsoft.com/office/drawing/2014/main" val="2680402619"/>
                  </a:ext>
                </a:extLst>
              </a:tr>
              <a:tr h="141164"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Log return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Next day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0.4660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0.5100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0.4713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0.4776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/>
                </a:tc>
                <a:extLst>
                  <a:ext uri="{0D108BD9-81ED-4DB2-BD59-A6C34878D82A}">
                    <a16:rowId xmlns:a16="http://schemas.microsoft.com/office/drawing/2014/main" val="2774028955"/>
                  </a:ext>
                </a:extLst>
              </a:tr>
              <a:tr h="141164"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Log return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1 week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0.4892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0.4688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0.5258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0.4160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/>
                </a:tc>
                <a:extLst>
                  <a:ext uri="{0D108BD9-81ED-4DB2-BD59-A6C34878D82A}">
                    <a16:rowId xmlns:a16="http://schemas.microsoft.com/office/drawing/2014/main" val="808563985"/>
                  </a:ext>
                </a:extLst>
              </a:tr>
              <a:tr h="141164"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Log return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2 weeks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0.4914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0.5024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0.5286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0.4751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/>
                </a:tc>
                <a:extLst>
                  <a:ext uri="{0D108BD9-81ED-4DB2-BD59-A6C34878D82A}">
                    <a16:rowId xmlns:a16="http://schemas.microsoft.com/office/drawing/2014/main" val="2311936438"/>
                  </a:ext>
                </a:extLst>
              </a:tr>
              <a:tr h="141164"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Log return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1 month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0.4986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0.4879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0.5475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altLang="zh-CN" sz="1200" kern="1200">
                          <a:solidFill>
                            <a:srgbClr val="374151"/>
                          </a:solidFill>
                        </a:rPr>
                        <a:t>0.5133</a:t>
                      </a:r>
                      <a:endParaRPr lang="zh-CN" altLang="en-US" sz="1200" kern="1200">
                        <a:solidFill>
                          <a:srgbClr val="37415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889" marR="35889" marT="35889" marB="35889"/>
                </a:tc>
                <a:extLst>
                  <a:ext uri="{0D108BD9-81ED-4DB2-BD59-A6C34878D82A}">
                    <a16:rowId xmlns:a16="http://schemas.microsoft.com/office/drawing/2014/main" val="1340529120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A1AE74EB-1F8B-48B7-90A7-A4BAFDEB38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138271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053" name="Picture 5">
            <a:extLst>
              <a:ext uri="{FF2B5EF4-FFF2-40B4-BE49-F238E27FC236}">
                <a16:creationId xmlns:a16="http://schemas.microsoft.com/office/drawing/2014/main" id="{276C3750-459E-B222-CFAF-4C91724E6C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588"/>
          <a:stretch>
            <a:fillRect/>
          </a:stretch>
        </p:blipFill>
        <p:spPr bwMode="auto">
          <a:xfrm>
            <a:off x="5905948" y="10791"/>
            <a:ext cx="3215029" cy="2577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5" name="Picture 7">
            <a:extLst>
              <a:ext uri="{FF2B5EF4-FFF2-40B4-BE49-F238E27FC236}">
                <a16:creationId xmlns:a16="http://schemas.microsoft.com/office/drawing/2014/main" id="{10AE0901-0E32-2969-61B2-2CB2B0D7ED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92"/>
          <a:stretch>
            <a:fillRect/>
          </a:stretch>
        </p:blipFill>
        <p:spPr bwMode="auto">
          <a:xfrm>
            <a:off x="6099586" y="2562097"/>
            <a:ext cx="3044415" cy="2581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4794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8610" y="171450"/>
            <a:ext cx="8503920" cy="514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75" b="1">
                <a:solidFill>
                  <a:srgbClr val="ED7D31"/>
                </a:solidFill>
              </a:defRPr>
            </a:pPr>
            <a:r>
              <a:rPr dirty="0"/>
              <a:t>Peer Mixer</a:t>
            </a:r>
          </a:p>
          <a:p>
            <a:pPr>
              <a:spcBef>
                <a:spcPts val="0"/>
              </a:spcBef>
              <a:defRPr sz="1800" b="1">
                <a:solidFill>
                  <a:srgbClr val="1F2937"/>
                </a:solidFill>
              </a:defRPr>
            </a:pPr>
            <a:r>
              <a:rPr lang="en-US" dirty="0"/>
              <a:t>Cross-attention architecture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308610" y="720090"/>
            <a:ext cx="8538210" cy="2057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5196" y="880566"/>
            <a:ext cx="8229600" cy="236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37" b="0">
                <a:solidFill>
                  <a:srgbClr val="4B5563"/>
                </a:solidFill>
              </a:defRPr>
            </a:pP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/>
              <a:t>Use extra market context for better prediction results. Series from self features or other stocks return/features are assume to help </a:t>
            </a:r>
            <a:r>
              <a:rPr lang="en-US" altLang="zh-CN"/>
              <a:t>for prediction.</a:t>
            </a:r>
            <a:endParaRPr lang="en-US" altLang="zh-CN" dirty="0"/>
          </a:p>
        </p:txBody>
      </p:sp>
      <p:sp>
        <p:nvSpPr>
          <p:cNvPr id="5" name="Rounded Rectangle 4"/>
          <p:cNvSpPr/>
          <p:nvPr/>
        </p:nvSpPr>
        <p:spPr>
          <a:xfrm>
            <a:off x="445770" y="1583739"/>
            <a:ext cx="1021842" cy="514350"/>
          </a:xfrm>
          <a:prstGeom prst="roundRect">
            <a:avLst/>
          </a:prstGeom>
          <a:solidFill>
            <a:srgbClr val="EAF2F8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7"/>
                </a:solidFill>
              </a:defRPr>
            </a:pPr>
            <a:r>
              <a:rPr dirty="0"/>
              <a:t>Target</a:t>
            </a:r>
            <a:br>
              <a:rPr dirty="0"/>
            </a:br>
            <a:r>
              <a:rPr dirty="0"/>
              <a:t>log returns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93926" y="1597455"/>
            <a:ext cx="834390" cy="514350"/>
          </a:xfrm>
          <a:prstGeom prst="roundRect">
            <a:avLst/>
          </a:prstGeom>
          <a:solidFill>
            <a:srgbClr val="EAF2F8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7"/>
                </a:solidFill>
              </a:defRPr>
            </a:pPr>
            <a:r>
              <a:rPr dirty="0" err="1"/>
              <a:t>TimesFM</a:t>
            </a:r>
            <a:br>
              <a:rPr dirty="0"/>
            </a:br>
            <a:r>
              <a:rPr dirty="0"/>
              <a:t>tokenizer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54630" y="1592883"/>
            <a:ext cx="982980" cy="514350"/>
          </a:xfrm>
          <a:prstGeom prst="roundRect">
            <a:avLst/>
          </a:prstGeom>
          <a:solidFill>
            <a:srgbClr val="EAF2F8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7"/>
                </a:solidFill>
              </a:defRPr>
            </a:pPr>
            <a:r>
              <a:rPr dirty="0"/>
              <a:t>Target tokens</a:t>
            </a:r>
            <a:br>
              <a:rPr dirty="0"/>
            </a:br>
            <a:r>
              <a:rPr dirty="0"/>
              <a:t>Query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501902" y="1720899"/>
            <a:ext cx="157734" cy="240030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2569464" y="1716327"/>
            <a:ext cx="157734" cy="240030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45770" y="2488995"/>
            <a:ext cx="1021842" cy="534924"/>
          </a:xfrm>
          <a:prstGeom prst="roundRect">
            <a:avLst/>
          </a:prstGeom>
          <a:solidFill>
            <a:srgbClr val="FFF2E6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7"/>
                </a:solidFill>
              </a:defRPr>
            </a:pPr>
            <a:r>
              <a:rPr dirty="0"/>
              <a:t>Self-aux or</a:t>
            </a:r>
            <a:br>
              <a:rPr dirty="0"/>
            </a:br>
            <a:r>
              <a:rPr dirty="0"/>
              <a:t>peer series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16786" y="2499511"/>
            <a:ext cx="811530" cy="534924"/>
          </a:xfrm>
          <a:prstGeom prst="roundRect">
            <a:avLst/>
          </a:prstGeom>
          <a:solidFill>
            <a:srgbClr val="FFF2E6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7"/>
                </a:solidFill>
              </a:defRPr>
            </a:pPr>
            <a:r>
              <a:rPr dirty="0" err="1"/>
              <a:t>TimesFM</a:t>
            </a:r>
            <a:br>
              <a:rPr dirty="0"/>
            </a:br>
            <a:r>
              <a:rPr dirty="0"/>
              <a:t>tokenizer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28341" y="2499511"/>
            <a:ext cx="1009269" cy="534924"/>
          </a:xfrm>
          <a:prstGeom prst="roundRect">
            <a:avLst/>
          </a:prstGeom>
          <a:solidFill>
            <a:srgbClr val="FFF2E6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7"/>
                </a:solidFill>
              </a:defRPr>
            </a:pPr>
            <a:r>
              <a:rPr dirty="0"/>
              <a:t>Companion tokens</a:t>
            </a:r>
            <a:br>
              <a:rPr dirty="0"/>
            </a:br>
            <a:r>
              <a:rPr dirty="0"/>
              <a:t>Key / Value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495044" y="2639871"/>
            <a:ext cx="157734" cy="24003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Right Arrow 13"/>
          <p:cNvSpPr/>
          <p:nvPr/>
        </p:nvSpPr>
        <p:spPr>
          <a:xfrm>
            <a:off x="2558491" y="2655873"/>
            <a:ext cx="157734" cy="24003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065651" y="1970073"/>
            <a:ext cx="1164717" cy="685800"/>
          </a:xfrm>
          <a:prstGeom prst="roundRect">
            <a:avLst/>
          </a:prstGeom>
          <a:solidFill>
            <a:srgbClr val="ECFAF4"/>
          </a:solidFill>
          <a:ln>
            <a:solidFill>
              <a:srgbClr val="2F7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7"/>
                </a:solidFill>
              </a:defRPr>
            </a:pPr>
            <a:r>
              <a:rPr dirty="0"/>
              <a:t>Cross-attention mixer</a:t>
            </a:r>
            <a:br>
              <a:rPr dirty="0"/>
            </a:br>
            <a:r>
              <a:rPr dirty="0"/>
              <a:t>+ gated residual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765042" y="1720899"/>
            <a:ext cx="219456" cy="240030"/>
          </a:xfrm>
          <a:prstGeom prst="rightArrow">
            <a:avLst/>
          </a:prstGeom>
          <a:solidFill>
            <a:srgbClr val="2F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Right Arrow 16"/>
          <p:cNvSpPr/>
          <p:nvPr/>
        </p:nvSpPr>
        <p:spPr>
          <a:xfrm>
            <a:off x="3761613" y="2629584"/>
            <a:ext cx="219456" cy="240030"/>
          </a:xfrm>
          <a:prstGeom prst="rightArrow">
            <a:avLst/>
          </a:prstGeom>
          <a:solidFill>
            <a:srgbClr val="2F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Right Arrow 18"/>
          <p:cNvSpPr/>
          <p:nvPr/>
        </p:nvSpPr>
        <p:spPr>
          <a:xfrm>
            <a:off x="5303520" y="2207817"/>
            <a:ext cx="171450" cy="240030"/>
          </a:xfrm>
          <a:prstGeom prst="rightArrow">
            <a:avLst/>
          </a:prstGeom>
          <a:solidFill>
            <a:srgbClr val="2F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14350" y="3531870"/>
            <a:ext cx="2503170" cy="99441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9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5226" y="3641598"/>
            <a:ext cx="2242566" cy="855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5" b="1">
                <a:solidFill>
                  <a:srgbClr val="1F2937"/>
                </a:solidFill>
              </a:defRPr>
            </a:pPr>
            <a:r>
              <a:rPr dirty="0"/>
              <a:t>Trainable</a:t>
            </a:r>
          </a:p>
          <a:p>
            <a:pPr>
              <a:spcBef>
                <a:spcPts val="500"/>
              </a:spcBef>
              <a:defRPr sz="862">
                <a:solidFill>
                  <a:srgbClr val="4B5563"/>
                </a:solidFill>
              </a:defRPr>
            </a:pPr>
            <a:r>
              <a:rPr b="1" dirty="0"/>
              <a:t>Cross-attention weights</a:t>
            </a:r>
          </a:p>
          <a:p>
            <a:pPr>
              <a:spcBef>
                <a:spcPts val="500"/>
              </a:spcBef>
              <a:defRPr sz="862">
                <a:solidFill>
                  <a:srgbClr val="4B5563"/>
                </a:solidFill>
              </a:defRPr>
            </a:pPr>
            <a:r>
              <a:rPr b="1" dirty="0"/>
              <a:t>Gate parameter</a:t>
            </a:r>
          </a:p>
          <a:p>
            <a:pPr>
              <a:spcBef>
                <a:spcPts val="500"/>
              </a:spcBef>
              <a:defRPr sz="862">
                <a:solidFill>
                  <a:srgbClr val="4B5563"/>
                </a:solidFill>
              </a:defRPr>
            </a:pPr>
            <a:r>
              <a:rPr b="1" dirty="0" err="1"/>
              <a:t>DirectionHead</a:t>
            </a:r>
            <a:r>
              <a:rPr b="1" dirty="0"/>
              <a:t> MLP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57550" y="3531870"/>
            <a:ext cx="2503170" cy="99441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9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08426" y="3641598"/>
            <a:ext cx="2242566" cy="855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5" b="1">
                <a:solidFill>
                  <a:srgbClr val="1F2937"/>
                </a:solidFill>
              </a:defRPr>
            </a:pPr>
            <a:r>
              <a:rPr dirty="0"/>
              <a:t>Frozen</a:t>
            </a:r>
          </a:p>
          <a:p>
            <a:pPr>
              <a:spcBef>
                <a:spcPts val="500"/>
              </a:spcBef>
              <a:defRPr sz="862">
                <a:solidFill>
                  <a:srgbClr val="4B5563"/>
                </a:solidFill>
              </a:defRPr>
            </a:pPr>
            <a:r>
              <a:rPr b="1" dirty="0" err="1"/>
              <a:t>TimesFM</a:t>
            </a:r>
            <a:r>
              <a:rPr b="1" dirty="0"/>
              <a:t> tokenizer</a:t>
            </a:r>
          </a:p>
          <a:p>
            <a:pPr>
              <a:spcBef>
                <a:spcPts val="500"/>
              </a:spcBef>
              <a:defRPr sz="862">
                <a:solidFill>
                  <a:srgbClr val="4B5563"/>
                </a:solidFill>
              </a:defRPr>
            </a:pPr>
            <a:r>
              <a:rPr b="1" dirty="0" err="1"/>
              <a:t>TimesFM</a:t>
            </a:r>
            <a:r>
              <a:rPr b="1" dirty="0"/>
              <a:t> transformer </a:t>
            </a:r>
            <a:r>
              <a:rPr lang="en-US" altLang="zh-CN" b="1" dirty="0"/>
              <a:t>layers</a:t>
            </a:r>
            <a:endParaRPr b="1" dirty="0"/>
          </a:p>
          <a:p>
            <a:pPr>
              <a:spcBef>
                <a:spcPts val="500"/>
              </a:spcBef>
              <a:defRPr sz="862">
                <a:solidFill>
                  <a:srgbClr val="4B5563"/>
                </a:solidFill>
              </a:defRPr>
            </a:pPr>
            <a:r>
              <a:rPr b="1" dirty="0" err="1"/>
              <a:t>TimesFM</a:t>
            </a:r>
            <a:r>
              <a:rPr b="1" dirty="0"/>
              <a:t> output projection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00750" y="3531870"/>
            <a:ext cx="2503170" cy="99441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9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31052" y="3553881"/>
            <a:ext cx="2242566" cy="885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5" b="1">
                <a:solidFill>
                  <a:srgbClr val="1F2937"/>
                </a:solidFill>
              </a:defRPr>
            </a:pPr>
            <a:r>
              <a:rPr dirty="0"/>
              <a:t>Objective</a:t>
            </a:r>
          </a:p>
          <a:p>
            <a:pPr>
              <a:spcBef>
                <a:spcPts val="500"/>
              </a:spcBef>
              <a:defRPr sz="862">
                <a:solidFill>
                  <a:srgbClr val="4B5563"/>
                </a:solidFill>
              </a:defRPr>
            </a:pPr>
            <a:r>
              <a:rPr lang="en-US" altLang="zh-CN" b="1" dirty="0"/>
              <a:t>Regression Head: </a:t>
            </a:r>
            <a:r>
              <a:rPr b="1" dirty="0"/>
              <a:t>Smooth L1 on cumulative return</a:t>
            </a:r>
          </a:p>
          <a:p>
            <a:pPr>
              <a:spcBef>
                <a:spcPts val="200"/>
              </a:spcBef>
              <a:defRPr sz="780">
                <a:solidFill>
                  <a:srgbClr val="4B5563"/>
                </a:solidFill>
              </a:defRPr>
            </a:pPr>
            <a:r>
              <a:rPr lang="en-US" altLang="zh-CN" sz="862" b="1" dirty="0">
                <a:solidFill>
                  <a:srgbClr val="4B5563"/>
                </a:solidFill>
              </a:rPr>
              <a:t>Direction Head: classifier on final hidden state using </a:t>
            </a:r>
            <a:r>
              <a:rPr lang="en-US" altLang="zh-CN" sz="800" b="1" dirty="0"/>
              <a:t>BCE</a:t>
            </a:r>
            <a:endParaRPr lang="en-US" b="1" dirty="0"/>
          </a:p>
        </p:txBody>
      </p:sp>
      <p:sp>
        <p:nvSpPr>
          <p:cNvPr id="31" name="Rounded Rectangle 18">
            <a:extLst>
              <a:ext uri="{FF2B5EF4-FFF2-40B4-BE49-F238E27FC236}">
                <a16:creationId xmlns:a16="http://schemas.microsoft.com/office/drawing/2014/main" id="{80C561DB-E766-C7A2-6194-269875E863E2}"/>
              </a:ext>
            </a:extLst>
          </p:cNvPr>
          <p:cNvSpPr/>
          <p:nvPr/>
        </p:nvSpPr>
        <p:spPr>
          <a:xfrm>
            <a:off x="5518404" y="1896921"/>
            <a:ext cx="1417320" cy="859536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19" b="1">
                <a:solidFill>
                  <a:srgbClr val="1F2937"/>
                </a:solidFill>
              </a:defRPr>
            </a:pPr>
            <a:r>
              <a:t>Frozen TimesFM</a:t>
            </a:r>
            <a:br/>
            <a:r>
              <a:t>transformer layers</a:t>
            </a:r>
            <a:br/>
            <a:r>
              <a:t>(stacked_xf)</a:t>
            </a:r>
          </a:p>
        </p:txBody>
      </p:sp>
      <p:sp>
        <p:nvSpPr>
          <p:cNvPr id="32" name="Right Arrow 19">
            <a:extLst>
              <a:ext uri="{FF2B5EF4-FFF2-40B4-BE49-F238E27FC236}">
                <a16:creationId xmlns:a16="http://schemas.microsoft.com/office/drawing/2014/main" id="{1E444E1F-B28D-2F86-8BDB-4939AE098280}"/>
              </a:ext>
            </a:extLst>
          </p:cNvPr>
          <p:cNvSpPr/>
          <p:nvPr/>
        </p:nvSpPr>
        <p:spPr>
          <a:xfrm>
            <a:off x="7018934" y="2228391"/>
            <a:ext cx="256032" cy="182880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20">
            <a:extLst>
              <a:ext uri="{FF2B5EF4-FFF2-40B4-BE49-F238E27FC236}">
                <a16:creationId xmlns:a16="http://schemas.microsoft.com/office/drawing/2014/main" id="{9EB15506-1599-B25B-9F76-A94F672C9BB1}"/>
              </a:ext>
            </a:extLst>
          </p:cNvPr>
          <p:cNvSpPr/>
          <p:nvPr/>
        </p:nvSpPr>
        <p:spPr>
          <a:xfrm>
            <a:off x="7379207" y="1999332"/>
            <a:ext cx="1078991" cy="493776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9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60" b="1">
                <a:solidFill>
                  <a:srgbClr val="1F2937"/>
                </a:solidFill>
              </a:defRPr>
            </a:pPr>
            <a:r>
              <a:rPr dirty="0"/>
              <a:t>Final</a:t>
            </a:r>
            <a:r>
              <a:rPr lang="zh-CN" altLang="en-US" dirty="0"/>
              <a:t> </a:t>
            </a:r>
            <a:r>
              <a:rPr dirty="0"/>
              <a:t>hidden</a:t>
            </a:r>
            <a:r>
              <a:rPr lang="zh-CN" altLang="en-US" dirty="0"/>
              <a:t> </a:t>
            </a:r>
            <a:r>
              <a:rPr dirty="0"/>
              <a:t>state</a:t>
            </a:r>
          </a:p>
        </p:txBody>
      </p:sp>
      <p:sp>
        <p:nvSpPr>
          <p:cNvPr id="34" name="Rounded Rectangle 22">
            <a:extLst>
              <a:ext uri="{FF2B5EF4-FFF2-40B4-BE49-F238E27FC236}">
                <a16:creationId xmlns:a16="http://schemas.microsoft.com/office/drawing/2014/main" id="{D57E18D9-38CE-4D54-8FCF-C268B138864C}"/>
              </a:ext>
            </a:extLst>
          </p:cNvPr>
          <p:cNvSpPr/>
          <p:nvPr/>
        </p:nvSpPr>
        <p:spPr>
          <a:xfrm>
            <a:off x="7379207" y="1235350"/>
            <a:ext cx="1078992" cy="4114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9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70" b="1">
                <a:solidFill>
                  <a:srgbClr val="1F2937"/>
                </a:solidFill>
              </a:defRPr>
            </a:pPr>
            <a:r>
              <a:rPr dirty="0" err="1"/>
              <a:t>TimesFM</a:t>
            </a:r>
            <a:r>
              <a:rPr dirty="0"/>
              <a:t> output</a:t>
            </a:r>
            <a:br>
              <a:rPr dirty="0"/>
            </a:br>
            <a:r>
              <a:rPr dirty="0"/>
              <a:t>projection</a:t>
            </a:r>
          </a:p>
        </p:txBody>
      </p:sp>
      <p:sp>
        <p:nvSpPr>
          <p:cNvPr id="35" name="TextBox 23">
            <a:extLst>
              <a:ext uri="{FF2B5EF4-FFF2-40B4-BE49-F238E27FC236}">
                <a16:creationId xmlns:a16="http://schemas.microsoft.com/office/drawing/2014/main" id="{8C5B7736-51D7-DB4C-CC13-F0A3770DF687}"/>
              </a:ext>
            </a:extLst>
          </p:cNvPr>
          <p:cNvSpPr txBox="1"/>
          <p:nvPr/>
        </p:nvSpPr>
        <p:spPr>
          <a:xfrm>
            <a:off x="6935724" y="1610255"/>
            <a:ext cx="11155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70" b="1">
                <a:solidFill>
                  <a:srgbClr val="1F4E79"/>
                </a:solidFill>
              </a:defRPr>
            </a:pPr>
            <a:r>
              <a:rPr dirty="0"/>
              <a:t>return forecast</a:t>
            </a:r>
          </a:p>
        </p:txBody>
      </p:sp>
      <p:sp>
        <p:nvSpPr>
          <p:cNvPr id="36" name="Down Arrow 24">
            <a:extLst>
              <a:ext uri="{FF2B5EF4-FFF2-40B4-BE49-F238E27FC236}">
                <a16:creationId xmlns:a16="http://schemas.microsoft.com/office/drawing/2014/main" id="{6E12DC60-166E-EB99-4596-E6CE1CF5B25F}"/>
              </a:ext>
            </a:extLst>
          </p:cNvPr>
          <p:cNvSpPr/>
          <p:nvPr/>
        </p:nvSpPr>
        <p:spPr>
          <a:xfrm>
            <a:off x="7829091" y="2552087"/>
            <a:ext cx="182880" cy="274320"/>
          </a:xfrm>
          <a:prstGeom prst="downArrow">
            <a:avLst/>
          </a:prstGeom>
          <a:solidFill>
            <a:srgbClr val="2F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25">
            <a:extLst>
              <a:ext uri="{FF2B5EF4-FFF2-40B4-BE49-F238E27FC236}">
                <a16:creationId xmlns:a16="http://schemas.microsoft.com/office/drawing/2014/main" id="{94C1379A-5104-5AE0-D292-2B332A0F1A76}"/>
              </a:ext>
            </a:extLst>
          </p:cNvPr>
          <p:cNvSpPr/>
          <p:nvPr/>
        </p:nvSpPr>
        <p:spPr>
          <a:xfrm>
            <a:off x="7379207" y="2891330"/>
            <a:ext cx="1078992" cy="411480"/>
          </a:xfrm>
          <a:prstGeom prst="roundRect">
            <a:avLst/>
          </a:prstGeom>
          <a:solidFill>
            <a:srgbClr val="ECFAF4"/>
          </a:solidFill>
          <a:ln w="12700">
            <a:solidFill>
              <a:srgbClr val="2F7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80" b="1">
                <a:solidFill>
                  <a:srgbClr val="1F2937"/>
                </a:solidFill>
              </a:defRPr>
            </a:pPr>
            <a:r>
              <a:t>DirectionHead</a:t>
            </a:r>
            <a:br/>
            <a:r>
              <a:t>MLP</a:t>
            </a:r>
          </a:p>
        </p:txBody>
      </p:sp>
      <p:sp>
        <p:nvSpPr>
          <p:cNvPr id="38" name="TextBox 26">
            <a:extLst>
              <a:ext uri="{FF2B5EF4-FFF2-40B4-BE49-F238E27FC236}">
                <a16:creationId xmlns:a16="http://schemas.microsoft.com/office/drawing/2014/main" id="{107204C1-83F2-5FD5-D544-FF87A9D7B14B}"/>
              </a:ext>
            </a:extLst>
          </p:cNvPr>
          <p:cNvSpPr txBox="1"/>
          <p:nvPr/>
        </p:nvSpPr>
        <p:spPr>
          <a:xfrm>
            <a:off x="7071968" y="3302810"/>
            <a:ext cx="1143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2F7D59"/>
                </a:solidFill>
              </a:defRPr>
            </a:pPr>
            <a:r>
              <a:rPr dirty="0"/>
              <a:t>up/down probability</a:t>
            </a:r>
          </a:p>
        </p:txBody>
      </p:sp>
      <p:sp>
        <p:nvSpPr>
          <p:cNvPr id="39" name="Right Arrow 19">
            <a:extLst>
              <a:ext uri="{FF2B5EF4-FFF2-40B4-BE49-F238E27FC236}">
                <a16:creationId xmlns:a16="http://schemas.microsoft.com/office/drawing/2014/main" id="{2A57B3E6-9D18-14CF-CFD5-BD8E027326A6}"/>
              </a:ext>
            </a:extLst>
          </p:cNvPr>
          <p:cNvSpPr/>
          <p:nvPr/>
        </p:nvSpPr>
        <p:spPr>
          <a:xfrm rot="16200000">
            <a:off x="7790686" y="1728212"/>
            <a:ext cx="256032" cy="182880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352093"/>
            <a:ext cx="2856488" cy="5193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75" b="1">
                <a:solidFill>
                  <a:srgbClr val="ED7D31"/>
                </a:solidFill>
              </a:defRPr>
            </a:pPr>
            <a:r>
              <a:rPr lang="en-US" altLang="zh-CN" dirty="0"/>
              <a:t>Peer Mixer</a:t>
            </a:r>
          </a:p>
          <a:p>
            <a:pPr>
              <a:spcBef>
                <a:spcPts val="0"/>
              </a:spcBef>
              <a:defRPr sz="1800" b="1">
                <a:solidFill>
                  <a:srgbClr val="1F2937"/>
                </a:solidFill>
              </a:defRPr>
            </a:pPr>
            <a:r>
              <a:rPr lang="en-US" altLang="zh-CN" dirty="0"/>
              <a:t>Cross-attention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900733"/>
            <a:ext cx="8538210" cy="2057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10FECE36-2AE9-F806-41E3-ECF681A4A1FC}"/>
              </a:ext>
            </a:extLst>
          </p:cNvPr>
          <p:cNvSpPr/>
          <p:nvPr/>
        </p:nvSpPr>
        <p:spPr>
          <a:xfrm>
            <a:off x="822960" y="121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Self-Aux Mode</a:t>
            </a:r>
            <a:endParaRPr lang="en-US" sz="1400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730F5DD6-598C-2822-0156-35A8F1C89842}"/>
              </a:ext>
            </a:extLst>
          </p:cNvPr>
          <p:cNvSpPr/>
          <p:nvPr/>
        </p:nvSpPr>
        <p:spPr>
          <a:xfrm>
            <a:off x="822960" y="1711756"/>
            <a:ext cx="3474720" cy="23116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Auxiliary channels from the target stock itself:
</a:t>
            </a: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Momentum: </a:t>
            </a: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1d, 5d, 10d, 21d, 60d returns
</a:t>
            </a: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Volume: </a:t>
            </a: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1d, 5d, 10d, 21d, 60d volume changes
10 auxiliary channels total.</a:t>
            </a:r>
          </a:p>
          <a:p>
            <a:endParaRPr lang="en-US" altLang="zh-CN" sz="1100" i="1" dirty="0">
              <a:solidFill>
                <a:srgbClr val="5C5C5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altLang="zh-CN" sz="11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Self-aux features use clipped </a:t>
            </a:r>
            <a:r>
              <a:rPr lang="en-US" altLang="zh-CN" sz="1100" i="1" dirty="0" err="1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pct_change</a:t>
            </a:r>
            <a:r>
              <a:rPr lang="en-US" altLang="zh-CN" sz="11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[-3, 3].</a:t>
            </a: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tokens = Query
Self-aux tokens = Key + Value</a:t>
            </a:r>
            <a:endParaRPr lang="en-US" sz="1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B73D93C6-9AD7-2783-4233-CBBD44B9923E}"/>
              </a:ext>
            </a:extLst>
          </p:cNvPr>
          <p:cNvSpPr/>
          <p:nvPr/>
        </p:nvSpPr>
        <p:spPr>
          <a:xfrm>
            <a:off x="4754880" y="119969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7E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Peers Mode</a:t>
            </a:r>
            <a:endParaRPr lang="en-US" sz="1400" dirty="0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B355A180-2992-93EF-1881-F64B616CE4FA}"/>
              </a:ext>
            </a:extLst>
          </p:cNvPr>
          <p:cNvSpPr/>
          <p:nvPr/>
        </p:nvSpPr>
        <p:spPr>
          <a:xfrm>
            <a:off x="4663440" y="1711756"/>
            <a:ext cx="3657600" cy="2265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prices from hand-picked sector peers:
</a:t>
            </a: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NVDA: </a:t>
            </a: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AMD, AVGO, AMAT, LRCX, KLAC
</a:t>
            </a: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JPM: </a:t>
            </a: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BAC, C, GS, MS, WFC, PNC
</a:t>
            </a: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XOM: </a:t>
            </a: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CVX, COP, EOG, SLB, HAL
</a:t>
            </a: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tokens = Query
Peer stock tokens = Key + Value</a:t>
            </a:r>
            <a:endParaRPr lang="en-US" sz="1100" dirty="0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54E7DA82-5220-E753-0A50-DC0EEFFF68A4}"/>
              </a:ext>
            </a:extLst>
          </p:cNvPr>
          <p:cNvSpPr/>
          <p:nvPr/>
        </p:nvSpPr>
        <p:spPr>
          <a:xfrm>
            <a:off x="4480560" y="1188720"/>
            <a:ext cx="0" cy="2926080"/>
          </a:xfrm>
          <a:prstGeom prst="line">
            <a:avLst/>
          </a:prstGeom>
          <a:noFill/>
          <a:ln w="12700">
            <a:solidFill>
              <a:srgbClr val="D4D0C8"/>
            </a:solidFill>
            <a:prstDash val="solid"/>
          </a:ln>
        </p:spPr>
        <p:txBody>
          <a:bodyPr/>
          <a:lstStyle/>
          <a:p>
            <a:endParaRPr lang="fr-US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288452E3-2900-999E-7CA3-EA7E5FEFC258}"/>
              </a:ext>
            </a:extLst>
          </p:cNvPr>
          <p:cNvSpPr/>
          <p:nvPr/>
        </p:nvSpPr>
        <p:spPr>
          <a:xfrm>
            <a:off x="822960" y="41148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modes: </a:t>
            </a:r>
            <a:r>
              <a:rPr lang="en-US" sz="1000" i="1" dirty="0" err="1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TimesFM</a:t>
            </a:r>
            <a:r>
              <a:rPr lang="en-US" sz="10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backbone is frozen.</a:t>
            </a:r>
            <a:r>
              <a:rPr lang="en-US" altLang="zh-CN" sz="10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Trainable components are cross-attention adapters and optional </a:t>
            </a:r>
            <a:r>
              <a:rPr lang="en-US" altLang="zh-CN" sz="1000" i="1" dirty="0" err="1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DirectionHead</a:t>
            </a:r>
            <a:r>
              <a:rPr lang="en-US" altLang="zh-CN" sz="10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0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is smooth L1 on cumulative returns</a:t>
            </a:r>
            <a:r>
              <a:rPr lang="zh-CN" altLang="en-US" sz="10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0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r>
              <a:rPr lang="en-US" sz="10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cross-entropy on direction. 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68161"/>
            <a:ext cx="8503920" cy="514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75" b="1">
                <a:solidFill>
                  <a:srgbClr val="ED7D31"/>
                </a:solidFill>
              </a:defRPr>
            </a:pPr>
            <a:r>
              <a:t>Peer Mixer</a:t>
            </a:r>
          </a:p>
          <a:p>
            <a:pPr>
              <a:spcBef>
                <a:spcPts val="0"/>
              </a:spcBef>
              <a:defRPr sz="1800" b="1">
                <a:solidFill>
                  <a:srgbClr val="1F2937"/>
                </a:solidFill>
              </a:defRPr>
            </a:pPr>
            <a:r>
              <a:t>Experiment matrix and feature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16801"/>
            <a:ext cx="8538210" cy="2057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5196" y="99441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37" b="0">
                <a:solidFill>
                  <a:srgbClr val="4B5563"/>
                </a:solidFill>
              </a:defRPr>
            </a:pPr>
            <a:r>
              <a:rPr dirty="0"/>
              <a:t>Four comparable runs separate the input source question from the horizon specialization question.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0332268"/>
              </p:ext>
            </p:extLst>
          </p:nvPr>
        </p:nvGraphicFramePr>
        <p:xfrm>
          <a:off x="425196" y="1403158"/>
          <a:ext cx="8106156" cy="207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9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5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20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18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4312"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</a:defRPr>
                      </a:pPr>
                      <a:r>
                        <a:rPr sz="900" b="0" dirty="0"/>
                        <a:t>Run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</a:defRPr>
                      </a:pPr>
                      <a:r>
                        <a:rPr sz="900" b="0"/>
                        <a:t>Aux input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</a:defRPr>
                      </a:pPr>
                      <a:r>
                        <a:rPr sz="900" b="0"/>
                        <a:t>Horizons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</a:defRPr>
                      </a:pPr>
                      <a:r>
                        <a:rPr sz="900" b="0" dirty="0"/>
                        <a:t>What it tests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312">
                <a:tc>
                  <a:txBody>
                    <a:bodyPr/>
                    <a:lstStyle/>
                    <a:p>
                      <a:pPr algn="ctr">
                        <a:defRPr sz="644">
                          <a:solidFill>
                            <a:srgbClr val="1F2937"/>
                          </a:solidFill>
                        </a:defRPr>
                      </a:pPr>
                      <a:r>
                        <a:rPr sz="800" b="0" dirty="0"/>
                        <a:t>h10_self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44">
                          <a:solidFill>
                            <a:srgbClr val="1F2937"/>
                          </a:solidFill>
                        </a:defRPr>
                      </a:pPr>
                      <a:r>
                        <a:rPr sz="800" b="0" dirty="0"/>
                        <a:t>Self-Aux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44">
                          <a:solidFill>
                            <a:srgbClr val="1F2937"/>
                          </a:solidFill>
                        </a:defRPr>
                      </a:pPr>
                      <a:r>
                        <a:rPr sz="800" b="0"/>
                        <a:t>10d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4">
                          <a:solidFill>
                            <a:srgbClr val="1F2937"/>
                          </a:solidFill>
                        </a:defRPr>
                      </a:pPr>
                      <a:r>
                        <a:rPr sz="800" b="0"/>
                        <a:t>Own momentum/volume, single-horizon specialization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312">
                <a:tc>
                  <a:txBody>
                    <a:bodyPr/>
                    <a:lstStyle/>
                    <a:p>
                      <a:pPr algn="ctr">
                        <a:defRPr sz="644">
                          <a:solidFill>
                            <a:srgbClr val="1F2937"/>
                          </a:solidFill>
                        </a:defRPr>
                      </a:pPr>
                      <a:r>
                        <a:rPr sz="800" b="0"/>
                        <a:t>h10_peers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44">
                          <a:solidFill>
                            <a:srgbClr val="1F2937"/>
                          </a:solidFill>
                        </a:defRPr>
                      </a:pPr>
                      <a:r>
                        <a:rPr sz="800" b="0" dirty="0"/>
                        <a:t>Peers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44">
                          <a:solidFill>
                            <a:srgbClr val="1F2937"/>
                          </a:solidFill>
                        </a:defRPr>
                      </a:pPr>
                      <a:r>
                        <a:rPr sz="800" b="0" dirty="0"/>
                        <a:t>10d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4">
                          <a:solidFill>
                            <a:srgbClr val="1F2937"/>
                          </a:solidFill>
                        </a:defRPr>
                      </a:pPr>
                      <a:r>
                        <a:rPr sz="800" b="0"/>
                        <a:t>Sector peer stock context at 10d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312">
                <a:tc>
                  <a:txBody>
                    <a:bodyPr/>
                    <a:lstStyle/>
                    <a:p>
                      <a:pPr algn="ctr">
                        <a:defRPr sz="644">
                          <a:solidFill>
                            <a:srgbClr val="1F2937"/>
                          </a:solidFill>
                        </a:defRPr>
                      </a:pPr>
                      <a:r>
                        <a:rPr sz="800" b="0"/>
                        <a:t>h51021_self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44">
                          <a:solidFill>
                            <a:srgbClr val="1F2937"/>
                          </a:solidFill>
                        </a:defRPr>
                      </a:pPr>
                      <a:r>
                        <a:rPr sz="800" b="0"/>
                        <a:t>Self-Aux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44">
                          <a:solidFill>
                            <a:srgbClr val="1F2937"/>
                          </a:solidFill>
                        </a:defRPr>
                      </a:pPr>
                      <a:r>
                        <a:rPr sz="800" b="0" dirty="0"/>
                        <a:t>5 / 10 / 21d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4">
                          <a:solidFill>
                            <a:srgbClr val="1F2937"/>
                          </a:solidFill>
                        </a:defRPr>
                      </a:pPr>
                      <a:r>
                        <a:rPr sz="800" b="0" dirty="0"/>
                        <a:t>Own features across multiple horizons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312">
                <a:tc>
                  <a:txBody>
                    <a:bodyPr/>
                    <a:lstStyle/>
                    <a:p>
                      <a:pPr algn="ctr">
                        <a:defRPr sz="644">
                          <a:solidFill>
                            <a:srgbClr val="1F2937"/>
                          </a:solidFill>
                        </a:defRPr>
                      </a:pPr>
                      <a:r>
                        <a:rPr sz="800" b="0"/>
                        <a:t>h51021_peers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44">
                          <a:solidFill>
                            <a:srgbClr val="1F2937"/>
                          </a:solidFill>
                        </a:defRPr>
                      </a:pPr>
                      <a:r>
                        <a:rPr sz="800" b="0"/>
                        <a:t>Peers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44">
                          <a:solidFill>
                            <a:srgbClr val="1F2937"/>
                          </a:solidFill>
                        </a:defRPr>
                      </a:pPr>
                      <a:r>
                        <a:rPr sz="800" b="0"/>
                        <a:t>5 / 10 / 21d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4">
                          <a:solidFill>
                            <a:srgbClr val="1F2937"/>
                          </a:solidFill>
                        </a:defRPr>
                      </a:pPr>
                      <a:r>
                        <a:rPr sz="800" b="0" dirty="0"/>
                        <a:t>Peer context across multiple horizons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25196" y="3740341"/>
            <a:ext cx="2640330" cy="96012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9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6072" y="3850069"/>
            <a:ext cx="2379726" cy="768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5" b="1">
                <a:solidFill>
                  <a:srgbClr val="1F2937"/>
                </a:solidFill>
              </a:defRPr>
            </a:pPr>
            <a:r>
              <a:t>Training setup</a:t>
            </a:r>
          </a:p>
          <a:p>
            <a:pPr>
              <a:spcBef>
                <a:spcPts val="500"/>
              </a:spcBef>
              <a:defRPr sz="862">
                <a:solidFill>
                  <a:srgbClr val="4B5563"/>
                </a:solidFill>
              </a:defRPr>
            </a:pPr>
            <a:r>
              <a:t>10 target stocks</a:t>
            </a:r>
          </a:p>
          <a:p>
            <a:pPr>
              <a:spcBef>
                <a:spcPts val="500"/>
              </a:spcBef>
              <a:defRPr sz="862">
                <a:solidFill>
                  <a:srgbClr val="4B5563"/>
                </a:solidFill>
              </a:defRPr>
            </a:pPr>
            <a:r>
              <a:t>Context = 512 trading days</a:t>
            </a:r>
          </a:p>
          <a:p>
            <a:pPr>
              <a:spcBef>
                <a:spcPts val="500"/>
              </a:spcBef>
              <a:defRPr sz="862">
                <a:solidFill>
                  <a:srgbClr val="4B5563"/>
                </a:solidFill>
              </a:defRPr>
            </a:pPr>
            <a:r>
              <a:t>10 epochs, lr = 5e-5, 4 attention heads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57550" y="3740341"/>
            <a:ext cx="2640330" cy="96012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9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08426" y="3850069"/>
            <a:ext cx="2379726" cy="768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5" b="1">
                <a:solidFill>
                  <a:srgbClr val="1F2937"/>
                </a:solidFill>
              </a:defRPr>
            </a:pPr>
            <a:r>
              <a:t>Evaluation setup</a:t>
            </a:r>
          </a:p>
          <a:p>
            <a:pPr>
              <a:spcBef>
                <a:spcPts val="500"/>
              </a:spcBef>
              <a:defRPr sz="862">
                <a:solidFill>
                  <a:srgbClr val="4B5563"/>
                </a:solidFill>
              </a:defRPr>
            </a:pPr>
            <a:r>
              <a:t>640 rolling windows per horizon</a:t>
            </a:r>
          </a:p>
          <a:p>
            <a:pPr>
              <a:spcBef>
                <a:spcPts val="500"/>
              </a:spcBef>
              <a:defRPr sz="862">
                <a:solidFill>
                  <a:srgbClr val="4B5563"/>
                </a:solidFill>
              </a:defRPr>
            </a:pPr>
            <a:r>
              <a:t>Cumulative log-return regression</a:t>
            </a:r>
          </a:p>
          <a:p>
            <a:pPr>
              <a:spcBef>
                <a:spcPts val="500"/>
              </a:spcBef>
              <a:defRPr sz="862">
                <a:solidFill>
                  <a:srgbClr val="4B5563"/>
                </a:solidFill>
              </a:defRPr>
            </a:pPr>
            <a:r>
              <a:t>DirectionHead classification metrics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9904" y="3740341"/>
            <a:ext cx="2551176" cy="96012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9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40780" y="3850069"/>
            <a:ext cx="2290572" cy="768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5" b="1">
                <a:solidFill>
                  <a:srgbClr val="1F2937"/>
                </a:solidFill>
              </a:defRPr>
            </a:pPr>
            <a:r>
              <a:t>Reporting principle</a:t>
            </a:r>
          </a:p>
          <a:p>
            <a:pPr>
              <a:spcBef>
                <a:spcPts val="500"/>
              </a:spcBef>
              <a:defRPr sz="862">
                <a:solidFill>
                  <a:srgbClr val="4B5563"/>
                </a:solidFill>
              </a:defRPr>
            </a:pPr>
            <a:r>
              <a:t>Use MAE improvement for magnitude</a:t>
            </a:r>
          </a:p>
          <a:p>
            <a:pPr>
              <a:spcBef>
                <a:spcPts val="500"/>
              </a:spcBef>
              <a:defRPr sz="862">
                <a:solidFill>
                  <a:srgbClr val="4B5563"/>
                </a:solidFill>
              </a:defRPr>
            </a:pPr>
            <a:r>
              <a:t>Use balanced accuracy, MCC, ROC-AUC for direction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8610" y="171450"/>
            <a:ext cx="8503920" cy="514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75" b="1">
                <a:solidFill>
                  <a:srgbClr val="ED7D31"/>
                </a:solidFill>
              </a:defRPr>
            </a:pPr>
            <a:r>
              <a:t>Peer Mixer</a:t>
            </a:r>
          </a:p>
          <a:p>
            <a:pPr>
              <a:spcBef>
                <a:spcPts val="0"/>
              </a:spcBef>
              <a:defRPr sz="1800" b="1">
                <a:solidFill>
                  <a:srgbClr val="1F2937"/>
                </a:solidFill>
              </a:defRPr>
            </a:pPr>
            <a:r>
              <a:t>Performance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08610" y="720090"/>
            <a:ext cx="8538210" cy="2057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3" descr="peer_mixer_results_panel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86" y="822960"/>
            <a:ext cx="8195310" cy="33801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2915" y="4423410"/>
            <a:ext cx="819531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64" b="1">
                <a:solidFill>
                  <a:srgbClr val="1F2937"/>
                </a:solidFill>
              </a:defRPr>
            </a:pPr>
            <a:r>
              <a:rPr dirty="0"/>
              <a:t>Readout: h10 self-aux is best for magnitude; h21 multi-horizon self-aux is best for </a:t>
            </a:r>
            <a:r>
              <a:rPr dirty="0" err="1"/>
              <a:t>DirectionHead</a:t>
            </a:r>
            <a:r>
              <a:rPr dirty="0"/>
              <a:t>. Peers slightly help multi-horizon MAE, but not direction.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138160" cy="4678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2800" b="1" dirty="0">
                <a:solidFill>
                  <a:srgbClr val="003262"/>
                </a:solidFill>
                <a:latin typeface="Calibri"/>
              </a:rPr>
              <a:t>Validation Split Inside Training Prefix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9728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1300" b="1">
                <a:solidFill>
                  <a:srgbClr val="5C5C5C"/>
                </a:solidFill>
                <a:latin typeface="Calibri"/>
              </a:rPr>
              <a:t>Previous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143000"/>
            <a:ext cx="5577840" cy="347472"/>
          </a:xfrm>
          <a:prstGeom prst="rect">
            <a:avLst/>
          </a:prstGeom>
          <a:solidFill>
            <a:srgbClr val="003262"/>
          </a:solidFill>
          <a:ln>
            <a:solidFill>
              <a:srgbClr val="0032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920240" y="1225296"/>
            <a:ext cx="4754880" cy="1371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all prefix samples used for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109728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1300" b="1">
                <a:solidFill>
                  <a:srgbClr val="5C5C5C"/>
                </a:solidFill>
                <a:latin typeface="Calibri"/>
              </a:rPr>
              <a:t>New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2011680"/>
            <a:ext cx="4480560" cy="347472"/>
          </a:xfrm>
          <a:prstGeom prst="rect">
            <a:avLst/>
          </a:prstGeom>
          <a:solidFill>
            <a:srgbClr val="003262"/>
          </a:solidFill>
          <a:ln>
            <a:solidFill>
              <a:srgbClr val="0032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35040" y="2011680"/>
            <a:ext cx="1097280" cy="347472"/>
          </a:xfrm>
          <a:prstGeom prst="rect">
            <a:avLst/>
          </a:prstGeom>
          <a:solidFill>
            <a:srgbClr val="3B7EA1"/>
          </a:solidFill>
          <a:ln>
            <a:solidFill>
              <a:srgbClr val="3B7E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32320" y="2011680"/>
            <a:ext cx="914400" cy="347472"/>
          </a:xfrm>
          <a:prstGeom prst="rect">
            <a:avLst/>
          </a:prstGeom>
          <a:solidFill>
            <a:srgbClr val="FDB515"/>
          </a:solidFill>
          <a:ln>
            <a:solidFill>
              <a:srgbClr val="FDB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0" y="2093976"/>
            <a:ext cx="640080" cy="1371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53328" y="2093976"/>
            <a:ext cx="1051560" cy="1371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87184" y="2093976"/>
            <a:ext cx="777240" cy="1371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900" b="1">
                <a:solidFill>
                  <a:srgbClr val="003262"/>
                </a:solidFill>
                <a:latin typeface="Calibri"/>
              </a:rPr>
              <a:t>backtest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80360"/>
            <a:ext cx="781812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2880360"/>
            <a:ext cx="64008" cy="1143000"/>
          </a:xfrm>
          <a:prstGeom prst="rect">
            <a:avLst/>
          </a:prstGeom>
          <a:solidFill>
            <a:srgbClr val="FDB515"/>
          </a:solidFill>
          <a:ln>
            <a:solidFill>
              <a:srgbClr val="FDB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3544" y="2990088"/>
            <a:ext cx="7434072" cy="23774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1450" b="1">
                <a:solidFill>
                  <a:srgbClr val="003262"/>
                </a:solidFill>
                <a:latin typeface="Calibri"/>
              </a:rPr>
              <a:t>Key idea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227832"/>
            <a:ext cx="7406640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200"/>
              </a:spcAft>
            </a:pPr>
            <a:r>
              <a:rPr sz="1080" dirty="0">
                <a:solidFill>
                  <a:srgbClr val="5C5C5C"/>
                </a:solidFill>
                <a:latin typeface="Calibri"/>
              </a:rPr>
              <a:t>Validation is still inside the training prefix.</a:t>
            </a:r>
          </a:p>
          <a:p>
            <a:pPr>
              <a:spcAft>
                <a:spcPts val="200"/>
              </a:spcAft>
            </a:pPr>
            <a:r>
              <a:rPr sz="1080" dirty="0">
                <a:solidFill>
                  <a:srgbClr val="5C5C5C"/>
                </a:solidFill>
                <a:latin typeface="Calibri"/>
              </a:rPr>
              <a:t>Split is chronological, not random.</a:t>
            </a:r>
          </a:p>
          <a:p>
            <a:pPr>
              <a:spcAft>
                <a:spcPts val="200"/>
              </a:spcAft>
            </a:pPr>
            <a:r>
              <a:rPr sz="1080" dirty="0">
                <a:solidFill>
                  <a:srgbClr val="5C5C5C"/>
                </a:solidFill>
                <a:latin typeface="Calibri"/>
              </a:rPr>
              <a:t>Default validation fraction is 0.20.</a:t>
            </a:r>
          </a:p>
          <a:p>
            <a:pPr>
              <a:spcAft>
                <a:spcPts val="200"/>
              </a:spcAft>
            </a:pPr>
            <a:r>
              <a:rPr sz="1080" dirty="0">
                <a:solidFill>
                  <a:srgbClr val="5C5C5C"/>
                </a:solidFill>
                <a:latin typeface="Calibri"/>
              </a:rPr>
              <a:t>No leakage into rolling </a:t>
            </a:r>
            <a:r>
              <a:rPr sz="1080" dirty="0" err="1">
                <a:solidFill>
                  <a:srgbClr val="5C5C5C"/>
                </a:solidFill>
                <a:latin typeface="Calibri"/>
              </a:rPr>
              <a:t>backtest</a:t>
            </a:r>
            <a:r>
              <a:rPr sz="1080" dirty="0">
                <a:solidFill>
                  <a:srgbClr val="5C5C5C"/>
                </a:solidFill>
                <a:latin typeface="Calibri"/>
              </a:rPr>
              <a:t> windows.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138160" cy="4678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2800" b="1" dirty="0">
                <a:solidFill>
                  <a:srgbClr val="003262"/>
                </a:solidFill>
                <a:latin typeface="Calibri"/>
              </a:rPr>
              <a:t>Validation Logging + Best Checkpoint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60120"/>
            <a:ext cx="3886200" cy="3383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64008" cy="3383280"/>
          </a:xfrm>
          <a:prstGeom prst="rect">
            <a:avLst/>
          </a:prstGeom>
          <a:solidFill>
            <a:srgbClr val="FDB515"/>
          </a:solidFill>
          <a:ln>
            <a:solidFill>
              <a:srgbClr val="FDB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069848"/>
            <a:ext cx="3502152" cy="23774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1450" b="1">
                <a:solidFill>
                  <a:srgbClr val="003262"/>
                </a:solidFill>
                <a:latin typeface="Calibri"/>
              </a:rPr>
              <a:t>Logged each epoch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399032"/>
            <a:ext cx="3474720" cy="28529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200"/>
              </a:spcAft>
            </a:pPr>
            <a:r>
              <a:rPr sz="1080">
                <a:solidFill>
                  <a:srgbClr val="5C5C5C"/>
                </a:solidFill>
                <a:latin typeface="Calibri"/>
              </a:rPr>
              <a:t>val/peer_mixer/epoch_loss</a:t>
            </a:r>
          </a:p>
          <a:p>
            <a:pPr>
              <a:spcAft>
                <a:spcPts val="200"/>
              </a:spcAft>
            </a:pPr>
            <a:r>
              <a:rPr sz="1080">
                <a:solidFill>
                  <a:srgbClr val="5C5C5C"/>
                </a:solidFill>
                <a:latin typeface="Calibri"/>
              </a:rPr>
              <a:t>val/peer_mixer/epoch_cumulative_loss</a:t>
            </a:r>
          </a:p>
          <a:p>
            <a:pPr>
              <a:spcAft>
                <a:spcPts val="200"/>
              </a:spcAft>
            </a:pPr>
            <a:r>
              <a:rPr sz="1080">
                <a:solidFill>
                  <a:srgbClr val="5C5C5C"/>
                </a:solidFill>
                <a:latin typeface="Calibri"/>
              </a:rPr>
              <a:t>val/peer_mixer/epoch_direction_accuracy</a:t>
            </a:r>
          </a:p>
          <a:p>
            <a:pPr>
              <a:spcAft>
                <a:spcPts val="200"/>
              </a:spcAft>
            </a:pPr>
            <a:r>
              <a:rPr sz="1080">
                <a:solidFill>
                  <a:srgbClr val="5C5C5C"/>
                </a:solidFill>
                <a:latin typeface="Calibri"/>
              </a:rPr>
              <a:t>val/peer_mixer/epoch_direction_balanced_accuracy</a:t>
            </a:r>
          </a:p>
          <a:p>
            <a:pPr>
              <a:spcAft>
                <a:spcPts val="200"/>
              </a:spcAft>
            </a:pPr>
            <a:r>
              <a:rPr sz="1080">
                <a:solidFill>
                  <a:srgbClr val="5C5C5C"/>
                </a:solidFill>
                <a:latin typeface="Calibri"/>
              </a:rPr>
              <a:t>val/peer_mixer/epoch_direction_mcc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960120"/>
            <a:ext cx="3886200" cy="3383280"/>
          </a:xfrm>
          <a:prstGeom prst="roundRect">
            <a:avLst/>
          </a:prstGeom>
          <a:solidFill>
            <a:srgbClr val="EBF4F9"/>
          </a:solidFill>
          <a:ln w="9525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709160" y="960120"/>
            <a:ext cx="64008" cy="3383280"/>
          </a:xfrm>
          <a:prstGeom prst="rect">
            <a:avLst/>
          </a:prstGeom>
          <a:solidFill>
            <a:srgbClr val="3B7EA1"/>
          </a:solidFill>
          <a:ln>
            <a:solidFill>
              <a:srgbClr val="3B7E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46904" y="1069848"/>
            <a:ext cx="3502152" cy="23774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1450" b="1">
                <a:solidFill>
                  <a:srgbClr val="003262"/>
                </a:solidFill>
                <a:latin typeface="Calibri"/>
              </a:rPr>
              <a:t>Best checkpoint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46904" y="1399032"/>
            <a:ext cx="3474720" cy="28529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200"/>
              </a:spcAft>
            </a:pPr>
            <a:r>
              <a:rPr sz="1080">
                <a:solidFill>
                  <a:srgbClr val="5C5C5C"/>
                </a:solidFill>
                <a:latin typeface="Calibri"/>
              </a:rPr>
              <a:t>After each epoch: run validation.</a:t>
            </a:r>
          </a:p>
          <a:p>
            <a:pPr>
              <a:spcAft>
                <a:spcPts val="200"/>
              </a:spcAft>
            </a:pPr>
            <a:r>
              <a:rPr sz="1080">
                <a:solidFill>
                  <a:srgbClr val="5C5C5C"/>
                </a:solidFill>
                <a:latin typeface="Calibri"/>
              </a:rPr>
              <a:t>Compare selected validation metric.</a:t>
            </a:r>
          </a:p>
          <a:p>
            <a:pPr>
              <a:spcAft>
                <a:spcPts val="200"/>
              </a:spcAft>
            </a:pPr>
            <a:r>
              <a:rPr sz="1080">
                <a:solidFill>
                  <a:srgbClr val="5C5C5C"/>
                </a:solidFill>
                <a:latin typeface="Calibri"/>
              </a:rPr>
              <a:t>Keep best state_dict in memory.</a:t>
            </a:r>
          </a:p>
          <a:p>
            <a:pPr>
              <a:spcAft>
                <a:spcPts val="200"/>
              </a:spcAft>
            </a:pPr>
            <a:r>
              <a:rPr sz="1080">
                <a:solidFill>
                  <a:srgbClr val="5C5C5C"/>
                </a:solidFill>
                <a:latin typeface="Calibri"/>
              </a:rPr>
              <a:t>After training: restore best state_dict.</a:t>
            </a:r>
          </a:p>
          <a:p>
            <a:pPr>
              <a:spcAft>
                <a:spcPts val="200"/>
              </a:spcAft>
            </a:pPr>
            <a:r>
              <a:rPr sz="1080">
                <a:solidFill>
                  <a:srgbClr val="5C5C5C"/>
                </a:solidFill>
                <a:latin typeface="Calibri"/>
              </a:rPr>
              <a:t>DirectionHead run uses val_direction_balanced_accuracy.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13816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2800" b="1">
                <a:solidFill>
                  <a:srgbClr val="003262"/>
                </a:solidFill>
                <a:latin typeface="Calibri"/>
              </a:rPr>
              <a:t>Regression Result: Cumulative Log Return MAE</a:t>
            </a:r>
          </a:p>
        </p:txBody>
      </p:sp>
      <p:pic>
        <p:nvPicPr>
          <p:cNvPr id="4" name="Picture 3" descr="week6_style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5212080" cy="242316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06440" y="1051560"/>
          <a:ext cx="2834640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8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8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8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8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2890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FFFFFF"/>
                          </a:solidFill>
                          <a:latin typeface="Calibri"/>
                        </a:rPr>
                        <a:t>Run</a:t>
                      </a:r>
                    </a:p>
                  </a:txBody>
                  <a:tcPr marL="27432" marR="27432" marT="18288" marB="18288" anchor="ctr">
                    <a:solidFill>
                      <a:srgbClr val="0032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Calibri"/>
                        </a:rPr>
                        <a:t>Avg MAE</a:t>
                      </a:r>
                    </a:p>
                  </a:txBody>
                  <a:tcPr marL="27432" marR="27432" marT="18288" marB="18288" anchor="ctr">
                    <a:solidFill>
                      <a:srgbClr val="0032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Calibri"/>
                        </a:rPr>
                        <a:t>Naive MAE</a:t>
                      </a:r>
                    </a:p>
                  </a:txBody>
                  <a:tcPr marL="27432" marR="27432" marT="18288" marB="18288" anchor="ctr">
                    <a:solidFill>
                      <a:srgbClr val="0032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Calibri"/>
                        </a:rPr>
                        <a:t>MAE Imp.</a:t>
                      </a:r>
                    </a:p>
                  </a:txBody>
                  <a:tcPr marL="27432" marR="27432" marT="18288" marB="18288" anchor="ctr">
                    <a:solidFill>
                      <a:srgbClr val="0032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1E1E"/>
                          </a:solidFill>
                          <a:latin typeface="Calibri"/>
                        </a:rPr>
                        <a:t>Skip FT</a:t>
                      </a:r>
                    </a:p>
                  </a:txBody>
                  <a:tcPr marL="27432" marR="27432" marT="18288" marB="18288" anchor="ctr">
                    <a:solidFill>
                      <a:srgbClr val="EB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E1E1E"/>
                          </a:solidFill>
                          <a:latin typeface="Calibri"/>
                        </a:rPr>
                        <a:t>0.0630</a:t>
                      </a:r>
                    </a:p>
                  </a:txBody>
                  <a:tcPr marL="27432" marR="27432" marT="18288" marB="18288" anchor="ctr">
                    <a:solidFill>
                      <a:srgbClr val="EB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E1E1E"/>
                          </a:solidFill>
                          <a:latin typeface="Calibri"/>
                        </a:rPr>
                        <a:t>0.2158</a:t>
                      </a:r>
                    </a:p>
                  </a:txBody>
                  <a:tcPr marL="27432" marR="27432" marT="18288" marB="18288" anchor="ctr">
                    <a:solidFill>
                      <a:srgbClr val="EB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E1E1E"/>
                          </a:solidFill>
                          <a:latin typeface="Calibri"/>
                        </a:rPr>
                        <a:t>66.9%</a:t>
                      </a:r>
                    </a:p>
                  </a:txBody>
                  <a:tcPr marL="27432" marR="27432" marT="18288" marB="18288" anchor="ctr">
                    <a:solidFill>
                      <a:srgbClr val="EB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1E1E"/>
                          </a:solidFill>
                          <a:latin typeface="Calibri"/>
                        </a:rPr>
                        <a:t>With FT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E1E1E"/>
                          </a:solidFill>
                          <a:latin typeface="Calibri"/>
                        </a:rPr>
                        <a:t>0.0673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E1E1E"/>
                          </a:solidFill>
                          <a:latin typeface="Calibri"/>
                        </a:rPr>
                        <a:t>0.2158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E1E1E"/>
                          </a:solidFill>
                          <a:latin typeface="Calibri"/>
                        </a:rPr>
                        <a:t>65.0%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1E1E"/>
                          </a:solidFill>
                          <a:latin typeface="Calibri"/>
                        </a:rPr>
                        <a:t>DirectionHead</a:t>
                      </a:r>
                    </a:p>
                  </a:txBody>
                  <a:tcPr marL="27432" marR="27432" marT="18288" marB="18288" anchor="ctr">
                    <a:solidFill>
                      <a:srgbClr val="EB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E1E1E"/>
                          </a:solidFill>
                          <a:latin typeface="Calibri"/>
                        </a:rPr>
                        <a:t>0.0650</a:t>
                      </a:r>
                    </a:p>
                  </a:txBody>
                  <a:tcPr marL="27432" marR="27432" marT="18288" marB="18288" anchor="ctr">
                    <a:solidFill>
                      <a:srgbClr val="EB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E1E1E"/>
                          </a:solidFill>
                          <a:latin typeface="Calibri"/>
                        </a:rPr>
                        <a:t>0.2158</a:t>
                      </a:r>
                    </a:p>
                  </a:txBody>
                  <a:tcPr marL="27432" marR="27432" marT="18288" marB="18288" anchor="ctr">
                    <a:solidFill>
                      <a:srgbClr val="EB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E1E1E"/>
                          </a:solidFill>
                          <a:latin typeface="Calibri"/>
                        </a:rPr>
                        <a:t>65.8%</a:t>
                      </a:r>
                    </a:p>
                  </a:txBody>
                  <a:tcPr marL="27432" marR="27432" marT="18288" marB="18288" anchor="ctr">
                    <a:solidFill>
                      <a:srgbClr val="EB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06440" y="2423160"/>
          <a:ext cx="2834640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8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8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8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8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2890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FFFFFF"/>
                          </a:solidFill>
                          <a:latin typeface="Calibri"/>
                        </a:rPr>
                        <a:t>Run</a:t>
                      </a:r>
                    </a:p>
                  </a:txBody>
                  <a:tcPr marL="27432" marR="27432" marT="18288" marB="18288" anchor="ctr">
                    <a:solidFill>
                      <a:srgbClr val="0032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Calibri"/>
                        </a:rPr>
                        <a:t>1w</a:t>
                      </a:r>
                    </a:p>
                  </a:txBody>
                  <a:tcPr marL="27432" marR="27432" marT="18288" marB="18288" anchor="ctr">
                    <a:solidFill>
                      <a:srgbClr val="0032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Calibri"/>
                        </a:rPr>
                        <a:t>2w</a:t>
                      </a:r>
                    </a:p>
                  </a:txBody>
                  <a:tcPr marL="27432" marR="27432" marT="18288" marB="18288" anchor="ctr">
                    <a:solidFill>
                      <a:srgbClr val="0032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Calibri"/>
                        </a:rPr>
                        <a:t>1m</a:t>
                      </a:r>
                    </a:p>
                  </a:txBody>
                  <a:tcPr marL="27432" marR="27432" marT="18288" marB="18288" anchor="ctr">
                    <a:solidFill>
                      <a:srgbClr val="0032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1E1E"/>
                          </a:solidFill>
                          <a:latin typeface="Calibri"/>
                        </a:rPr>
                        <a:t>Skip FT</a:t>
                      </a:r>
                    </a:p>
                  </a:txBody>
                  <a:tcPr marL="27432" marR="27432" marT="18288" marB="18288" anchor="ctr">
                    <a:solidFill>
                      <a:srgbClr val="EB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E1E1E"/>
                          </a:solidFill>
                          <a:latin typeface="Calibri"/>
                        </a:rPr>
                        <a:t>57.2%</a:t>
                      </a:r>
                    </a:p>
                  </a:txBody>
                  <a:tcPr marL="27432" marR="27432" marT="18288" marB="18288" anchor="ctr">
                    <a:solidFill>
                      <a:srgbClr val="EB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E1E1E"/>
                          </a:solidFill>
                          <a:latin typeface="Calibri"/>
                        </a:rPr>
                        <a:t>67.6%</a:t>
                      </a:r>
                    </a:p>
                  </a:txBody>
                  <a:tcPr marL="27432" marR="27432" marT="18288" marB="18288" anchor="ctr">
                    <a:solidFill>
                      <a:srgbClr val="EB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E1E1E"/>
                          </a:solidFill>
                          <a:latin typeface="Calibri"/>
                        </a:rPr>
                        <a:t>76.0%</a:t>
                      </a:r>
                    </a:p>
                  </a:txBody>
                  <a:tcPr marL="27432" marR="27432" marT="18288" marB="18288" anchor="ctr">
                    <a:solidFill>
                      <a:srgbClr val="EB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1E1E"/>
                          </a:solidFill>
                          <a:latin typeface="Calibri"/>
                        </a:rPr>
                        <a:t>With FT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E1E1E"/>
                          </a:solidFill>
                          <a:latin typeface="Calibri"/>
                        </a:rPr>
                        <a:t>54.6%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E1E1E"/>
                          </a:solidFill>
                          <a:latin typeface="Calibri"/>
                        </a:rPr>
                        <a:t>66.7%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E1E1E"/>
                          </a:solidFill>
                          <a:latin typeface="Calibri"/>
                        </a:rPr>
                        <a:t>73.6%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1E1E"/>
                          </a:solidFill>
                          <a:latin typeface="Calibri"/>
                        </a:rPr>
                        <a:t>DirectionHead</a:t>
                      </a:r>
                    </a:p>
                  </a:txBody>
                  <a:tcPr marL="27432" marR="27432" marT="18288" marB="18288" anchor="ctr">
                    <a:solidFill>
                      <a:srgbClr val="EB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E1E1E"/>
                          </a:solidFill>
                          <a:latin typeface="Calibri"/>
                        </a:rPr>
                        <a:t>55.6%</a:t>
                      </a:r>
                    </a:p>
                  </a:txBody>
                  <a:tcPr marL="27432" marR="27432" marT="18288" marB="18288" anchor="ctr">
                    <a:solidFill>
                      <a:srgbClr val="EB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E1E1E"/>
                          </a:solidFill>
                          <a:latin typeface="Calibri"/>
                        </a:rPr>
                        <a:t>66.7%</a:t>
                      </a:r>
                    </a:p>
                  </a:txBody>
                  <a:tcPr marL="27432" marR="27432" marT="18288" marB="18288" anchor="ctr">
                    <a:solidFill>
                      <a:srgbClr val="EB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E1E1E"/>
                          </a:solidFill>
                          <a:latin typeface="Calibri"/>
                        </a:rPr>
                        <a:t>75.2%</a:t>
                      </a:r>
                    </a:p>
                  </a:txBody>
                  <a:tcPr marL="27432" marR="27432" marT="18288" marB="18288" anchor="ctr">
                    <a:solidFill>
                      <a:srgbClr val="EB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3886200"/>
            <a:ext cx="804672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1250" b="0">
                <a:solidFill>
                  <a:srgbClr val="5C5C5C"/>
                </a:solidFill>
                <a:latin typeface="Calibri"/>
              </a:rPr>
              <a:t>All runs beat persistence by about 65% average MAE improvement. Skip FT is best on MAE in these outputs.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DirectionHead Improvements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upgrade: class-balanced loss + expanded direction metrics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046720" cy="1417320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5" name="Text 3"/>
          <p:cNvSpPr/>
          <p:nvPr/>
        </p:nvSpPr>
        <p:spPr>
          <a:xfrm>
            <a:off x="777240" y="16642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91640" y="201168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BCEWithLogitsLoss(logit, label)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91640" y="228600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BCEWithLogitsLoss(pos_weight = N_down / N_up)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60604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Class-balanced to fight bullish bias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8046720" cy="1417320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12" name="Text 10"/>
          <p:cNvSpPr/>
          <p:nvPr/>
        </p:nvSpPr>
        <p:spPr>
          <a:xfrm>
            <a:off x="777240" y="32186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Added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35661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91640" y="356616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F1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38404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91640" y="384048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Accuracy, MCC, Precision, Recall, Specificity, Confusion Matrix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416052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majority-class shortcuts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Experiment Comparison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FT vs With FT vs DirectionHead -&gt; same targets, horizons, rolling windows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8046720" cy="914400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91440" cy="914400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FT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mixer only, no LoRA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91840" y="164592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on MAE; DirectionHead helps balanced accuracy and MCC; strongly up-biased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8046720" cy="914400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91440" cy="914400"/>
          </a:xfrm>
          <a:prstGeom prst="rect">
            <a:avLst/>
          </a:prstGeom>
          <a:solidFill>
            <a:srgbClr val="3B7EA1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11" name="Text 9"/>
          <p:cNvSpPr/>
          <p:nvPr/>
        </p:nvSpPr>
        <p:spPr>
          <a:xfrm>
            <a:off x="822960" y="2606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2926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+ peer mixer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269748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didn't help MAE here, but reduced extreme up-bias; less biased direction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8046720" cy="914400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91440" cy="914400"/>
          </a:xfrm>
          <a:prstGeom prst="rect">
            <a:avLst/>
          </a:prstGeom>
          <a:solidFill>
            <a:srgbClr val="FDB515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16" name="Text 14"/>
          <p:cNvSpPr/>
          <p:nvPr/>
        </p:nvSpPr>
        <p:spPr>
          <a:xfrm>
            <a:off x="822960" y="3657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DirectionHead Run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3977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BCE + val checkpoint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37490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metrics improve, but prediction shifts toward down (over-correction)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Direction Classification: Best Result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h=21 Self-Aux DirectionHead with class-balanced BCE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840480" cy="3200400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52.5%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566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0" y="3566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886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0" y="3886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0.529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206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Accuracy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4206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52.8%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1463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Interpreting the numbers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54880" y="192024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accuracy is inflated by </a:t>
            </a: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bullish bias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Model predicts 'up' ~75% of the time when market is up only ~54%.
</a:t>
            </a:r>
            <a:r>
              <a:rPr lang="en-US" sz="12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Class-balanced BCE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reduces this but can over-correct toward 'down'.
</a:t>
            </a:r>
            <a:r>
              <a:rPr lang="en-US" sz="12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0.058 = small but real positive signal (0 is random, 1 is perfect).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713232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365760" cy="365760"/>
          </a:xfrm>
          <a:prstGeom prst="ellipse">
            <a:avLst/>
          </a:prstGeom>
          <a:solidFill>
            <a:srgbClr val="FDB515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1280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Mixer is the strongest architecture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 on top of frozen TimesFM gives ~65% MAE improvement, outperforming both zero-shot and pure LoRA fine-tuning.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029968"/>
            <a:ext cx="8046720" cy="713232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9" name="Shape 7"/>
          <p:cNvSpPr/>
          <p:nvPr/>
        </p:nvSpPr>
        <p:spPr>
          <a:xfrm>
            <a:off x="685800" y="2212848"/>
            <a:ext cx="365760" cy="365760"/>
          </a:xfrm>
          <a:prstGeom prst="ellipse">
            <a:avLst/>
          </a:prstGeom>
          <a:solidFill>
            <a:srgbClr val="FDB515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10" name="Text 8"/>
          <p:cNvSpPr/>
          <p:nvPr/>
        </p:nvSpPr>
        <p:spPr>
          <a:xfrm>
            <a:off x="685800" y="2212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1214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trades MAE for less bias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3957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didn't improve MAE in our setup, but it reduced extreme up-bias in direction predictions. There's a tradeoff between magnitude accuracy and direction calibration.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871216"/>
            <a:ext cx="8046720" cy="713232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14" name="Shape 12"/>
          <p:cNvSpPr/>
          <p:nvPr/>
        </p:nvSpPr>
        <p:spPr>
          <a:xfrm>
            <a:off x="685800" y="3054096"/>
            <a:ext cx="365760" cy="365760"/>
          </a:xfrm>
          <a:prstGeom prst="ellipse">
            <a:avLst/>
          </a:prstGeom>
          <a:solidFill>
            <a:srgbClr val="FDB515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15" name="Text 13"/>
          <p:cNvSpPr/>
          <p:nvPr/>
        </p:nvSpPr>
        <p:spPr>
          <a:xfrm>
            <a:off x="685800" y="30540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296265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is essential for picking checkpoints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323697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loss alone is misleading. Chronological validation split with best-checkpoint selection is the core upgrade that makes results reliable.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712464"/>
            <a:ext cx="8046720" cy="713232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19" name="Shape 17"/>
          <p:cNvSpPr/>
          <p:nvPr/>
        </p:nvSpPr>
        <p:spPr>
          <a:xfrm>
            <a:off x="685800" y="3895344"/>
            <a:ext cx="365760" cy="365760"/>
          </a:xfrm>
          <a:prstGeom prst="ellipse">
            <a:avLst/>
          </a:prstGeom>
          <a:solidFill>
            <a:srgbClr val="FDB515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20" name="Text 18"/>
          <p:cNvSpPr/>
          <p:nvPr/>
        </p:nvSpPr>
        <p:spPr>
          <a:xfrm>
            <a:off x="685800" y="38953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38039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signal is real but needs careful control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4078224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 of 0.058 confirms positive signal. Class-balanced BCE helps but can over-correct. Threshold calibration and trading-aware metrics are the next levers.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32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DB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Dexin Fu  ·  Yihan Lin  ·  Yimei Cheng  ·  Al Bensaid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C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1807</Words>
  <Application>Microsoft Macintosh PowerPoint</Application>
  <PresentationFormat>全屏显示(16:9)</PresentationFormat>
  <Paragraphs>440</Paragraphs>
  <Slides>21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5" baseType="lpstr">
      <vt:lpstr>Arial</vt:lpstr>
      <vt:lpstr>Calibri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Dexin Fu</cp:lastModifiedBy>
  <cp:revision>20</cp:revision>
  <dcterms:created xsi:type="dcterms:W3CDTF">2026-05-20T02:32:48Z</dcterms:created>
  <dcterms:modified xsi:type="dcterms:W3CDTF">2026-06-09T19:44:45Z</dcterms:modified>
</cp:coreProperties>
</file>