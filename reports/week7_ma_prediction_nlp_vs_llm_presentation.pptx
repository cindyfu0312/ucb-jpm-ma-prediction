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1737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Predicting M&amp;A from Free News</a:t>
            </a:r>
          </a:p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Classic NLP vs LLM, Head to 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B8860B"/>
                </a:solidFill>
                <a:latin typeface="Calibri"/>
              </a:rPr>
              <a:t>J.P.Morgan Industry Project | Week 7 Results - NLP vs LLM on the Full Dataset |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D6E8F7"/>
                </a:solidFill>
                <a:latin typeface="Calibri"/>
              </a:rPr>
              <a:t>Dexin Fu, Ronald Liu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Two feature pipelines, one corpus - which one actually predicts an acquisition?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2697480" cy="118872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53312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1,156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events scored (both pipelines)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298448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353312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2011680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Classic-NLP test 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1298448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353312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011680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LLM test AUC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298448"/>
            <a:ext cx="269748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353312"/>
            <a:ext cx="269748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0.55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011680"/>
            <a:ext cx="2697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Combined (A+B) test AUC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87168"/>
            <a:ext cx="11091672" cy="42062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487168"/>
            <a:ext cx="10972800" cy="42062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3A5C"/>
                </a:solidFill>
                <a:latin typeface="Calibri"/>
              </a:rPr>
              <a:t>Honest scope: 2,002 windows (pre/baseline) from 1,156 events (400 in the held-out test set), one time-based split (train &lt;= 2025-06-23), bootstrap 95% CIs. Small sample - read every AUC as DIRECTIONAL.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175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0266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01568"/>
            <a:ext cx="3703320" cy="1600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3493008"/>
            <a:ext cx="3557016" cy="1417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Given 90 days of a company's free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news BEFORE any announcement,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can we rank it as an acquisition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target better than a coin flip?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2816" y="30175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42816" y="30266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Two pipelines, same rows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2816" y="3401568"/>
            <a:ext cx="3703320" cy="1600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3493008"/>
            <a:ext cx="3557016" cy="1417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A: classic NLP (VADER, FinBERT,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NMF, log-odds, momentum, EDGAR)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B: one LLM call/window -&gt; 17 fields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Only the featurizer changes.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9872" y="301752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302666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9872" y="3401568"/>
            <a:ext cx="3703320" cy="1600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4" y="3493008"/>
            <a:ext cx="3557016" cy="1417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All three sets edge above chance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(0.53 / 0.52 / 0.55 AUC).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NLP + LLM combined does best -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 small, clean, promising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One Corpus, One Split, Two Featurizers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The comparison is fair because everything except the features is held identical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events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(SPGlobal &gt;=$1B)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93976" y="152704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=</a:t>
            </a:r>
          </a:p>
        </p:txBody>
      </p:sp>
      <p:sp>
        <p:nvSpPr>
          <p:cNvPr id="9" name="Rectangle 8"/>
          <p:cNvSpPr/>
          <p:nvPr/>
        </p:nvSpPr>
        <p:spPr>
          <a:xfrm>
            <a:off x="2249424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9424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news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(GDELT + EDGAR)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152704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33088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33088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windows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pre vs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61304" y="152704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2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16752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time split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train &lt;= 2025-06-23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152704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=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0416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3 models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LogReg/RF/GB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8632" y="1527048"/>
            <a:ext cx="219456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B8860B"/>
                </a:solidFill>
                <a:latin typeface="Calibri"/>
              </a:rPr>
              <a:t>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417320"/>
            <a:ext cx="1755648" cy="86868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435608"/>
            <a:ext cx="1755648" cy="83210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Same bootstrap</a:t>
            </a:r>
          </a:p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95% CIs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97480"/>
            <a:ext cx="571500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697480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Held identical across both pipelines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2697480"/>
            <a:ext cx="5715000" cy="347472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2697480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The ONLY thing that differs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44952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044952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Event set, news corpus, noise filter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3044952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26480" y="3044952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How the text becomes numbers: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392424"/>
            <a:ext cx="571500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3392424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Pre / baseline 90-day window geometry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3392424"/>
            <a:ext cx="571500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0" y="3392424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A: hand-built NLP statistics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739896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739896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Train/test time split + class balance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80760" y="3739896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3739896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B: an LLM's structured judgment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087368"/>
            <a:ext cx="571500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4087368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LogReg / RandomForest / GradientBoost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4087368"/>
            <a:ext cx="5715000" cy="34747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0" y="4087368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Top-16 features by train-only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434840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4434840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Bootstrap 95% CIs on every AUC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434840"/>
            <a:ext cx="5715000" cy="3474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4434840"/>
            <a:ext cx="5623560" cy="347472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  mutual information, per set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Pipeline 1: Classic NLP (Weeks 3-4)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Hand-built linguistic statistics - the established baseline, recomputed on this corpus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06440" cy="3657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9304"/>
            <a:ext cx="580644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What it computes (28 candidate features)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806440" cy="32461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532120" cy="3063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Volume + VADER sentiment (7):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counts, avg/std/max/min tone, pos/neg ratio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M&amp;A keyword hits (2)</a:t>
            </a:r>
            <a:r>
              <a:rPr sz="1200" b="0">
                <a:solidFill>
                  <a:srgbClr val="1A3A5C"/>
                </a:solidFill>
                <a:latin typeface="Calibri"/>
              </a:rPr>
              <a:t>   +   </a:t>
            </a:r>
            <a:r>
              <a:rPr sz="1200" b="1">
                <a:solidFill>
                  <a:srgbClr val="1A3A5C"/>
                </a:solidFill>
                <a:latin typeface="Calibri"/>
              </a:rPr>
              <a:t>FinBERT finance tone (4)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Log-odds distinctive terms (1):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data-driven, company-name masked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NMF topics (8)</a:t>
            </a:r>
            <a:r>
              <a:rPr sz="1200" b="0">
                <a:solidFill>
                  <a:srgbClr val="1A3A5C"/>
                </a:solidFill>
                <a:latin typeface="Calibri"/>
              </a:rPr>
              <a:t>   +   </a:t>
            </a:r>
            <a:r>
              <a:rPr sz="1200" b="1">
                <a:solidFill>
                  <a:srgbClr val="1A3A5C"/>
                </a:solidFill>
                <a:latin typeface="Calibri"/>
              </a:rPr>
              <a:t>Momentum (2)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EDGAR filing structure (3):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8-K / SC 13D counts + deal-filing ratio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2512" y="1280160"/>
            <a:ext cx="54406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289304"/>
            <a:ext cx="54406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C000"/>
                </a:solidFill>
                <a:latin typeface="Calibri"/>
              </a:rPr>
              <a:t>Result on this corpus (advance prediction)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1783080"/>
            <a:ext cx="233172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78308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14232" y="1783080"/>
            <a:ext cx="169164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8308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05872" y="1783080"/>
            <a:ext cx="141732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51592" y="178308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95% CI (bootstrap)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2148840"/>
            <a:ext cx="23317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14884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4232" y="2148840"/>
            <a:ext cx="16916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952" y="214884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05872" y="2148840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51592" y="214884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[0.470, 0.580]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2512" y="2514600"/>
            <a:ext cx="233172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251460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Random Forest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14232" y="2514600"/>
            <a:ext cx="16916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59952" y="251460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05872" y="2514600"/>
            <a:ext cx="141732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51592" y="251460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[0.472, 0.578]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2512" y="2880360"/>
            <a:ext cx="23317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288036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Gradient Boosting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14232" y="2880360"/>
            <a:ext cx="16916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952" y="288036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0.499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05872" y="2880360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51592" y="288036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[0.446, 0.557]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2512" y="3611880"/>
            <a:ext cx="5440680" cy="13716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Reads as: </a:t>
            </a:r>
            <a:r>
              <a:rPr sz="1250" b="0">
                <a:solidFill>
                  <a:srgbClr val="1A3A5C"/>
                </a:solidFill>
                <a:latin typeface="Calibri"/>
              </a:rPr>
              <a:t>best classic model AUC 0.53 - a coin flip.</a:t>
            </a:r>
          </a:p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Context: </a:t>
            </a:r>
            <a:r>
              <a:rPr sz="1250" b="0">
                <a:solidFill>
                  <a:srgbClr val="1A3A5C"/>
                </a:solidFill>
                <a:latin typeface="Calibri"/>
              </a:rPr>
              <a:t>the SAME pipeline pointed at the announcement week detects a deal at AUC ~ 0.77 (week 3-4). The signal exists - just not 90 days early.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Pipeline 2: LLM Feature Extraction (Week 7)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One structured call per window (openai/gpt-4o-mini) - the same news, read by a generative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06440" cy="3657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9304"/>
            <a:ext cx="580644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What it extracts (17 strict-JSON fields)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806440" cy="32461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532120" cy="3108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10 M&amp;A-precursor signals, each 0-10: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rumor, strategic-review, activist, mgmt-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instability, distress, undervaluation,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sector-consolidation, antitrust, divestiture,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growth (control dimension)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acquisition_likelihood 0-100</a:t>
            </a:r>
            <a:r>
              <a:rPr sz="1200" b="0">
                <a:solidFill>
                  <a:srgbClr val="1A3A5C"/>
                </a:solidFill>
                <a:latin typeface="Calibri"/>
              </a:rPr>
              <a:t>   +   info_quality 0-10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Audit-only (never model inputs):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dominant_theme, recognized_company/deal,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1A3A5C"/>
                </a:solidFill>
                <a:latin typeface="Calibri"/>
              </a:rPr>
              <a:t>   evidence_quotes, rationale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82512" y="1280160"/>
            <a:ext cx="544068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289304"/>
            <a:ext cx="544068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C000"/>
                </a:solidFill>
                <a:latin typeface="Calibri"/>
              </a:rPr>
              <a:t>Result on this corpus (advance prediction)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82512" y="1783080"/>
            <a:ext cx="233172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78308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14232" y="1783080"/>
            <a:ext cx="169164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59952" y="178308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405872" y="1783080"/>
            <a:ext cx="141732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51592" y="178308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95% CI (bootstrap)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2512" y="2148840"/>
            <a:ext cx="23317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14884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14232" y="2148840"/>
            <a:ext cx="16916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952" y="214884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0.518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05872" y="2148840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51592" y="214884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[0.465, 0.571]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2512" y="2514600"/>
            <a:ext cx="233172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2" y="251460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Random Forest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14232" y="2514600"/>
            <a:ext cx="169164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59952" y="251460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0.517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05872" y="2514600"/>
            <a:ext cx="1417320" cy="36576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51592" y="251460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[0.468, 0.569]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2512" y="2880360"/>
            <a:ext cx="23317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2880360"/>
            <a:ext cx="22402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Gradient Boosting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14232" y="2880360"/>
            <a:ext cx="16916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952" y="2880360"/>
            <a:ext cx="160020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0.502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05872" y="2880360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51592" y="2880360"/>
            <a:ext cx="1325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[0.450, 0.553]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2" y="3611880"/>
            <a:ext cx="2606040" cy="105156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3666744"/>
            <a:ext cx="260604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$2.10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4325112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total API spend (both variants)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20" y="3611880"/>
            <a:ext cx="2606040" cy="10515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9720" y="3666744"/>
            <a:ext cx="260604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2023-10-01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4325112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knowledge cutoff (memorization guard)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Feature Dictionary - Every Input the Models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Set A = classic NLP stack · Set B = LLM signals · C = A ∪ B, top 16 of 40 by train-only mutual information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623560" cy="365760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A - classic NLP (28 candidates)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45920"/>
            <a:ext cx="5623560" cy="41605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55648"/>
            <a:ext cx="5394960" cy="3977639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Volume &amp; VADER sentiment (7):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news_count · avg / std / max / min_sentiment · pos_ratio · neg_ratio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M&amp;A keywords (2):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ma_keyword_count · ma_keyword_ratio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FinBERT finance sentiment (4):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avg / std_finbert_compound · avg_finbert_positive · avg_finbert_negative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Data-driven terms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distinctive_term_ratio (log-odds, 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Momentum (2):</a:t>
            </a:r>
            <a:r>
              <a:rPr sz="1150" b="0">
                <a:solidFill>
                  <a:srgbClr val="1A3A5C"/>
                </a:solidFill>
                <a:latin typeface="Calibri"/>
              </a:rPr>
              <a:t>  late_share · sentiment_trend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EDGAR filing structure (3):</a:t>
            </a:r>
          </a:p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edgar_filing_count · edgar_deal_filing_count · edgar_deal_filing_ratio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NMF topics (8):</a:t>
            </a:r>
            <a:r>
              <a:rPr sz="1150" b="0">
                <a:solidFill>
                  <a:srgbClr val="1A3A5C"/>
                </a:solidFill>
                <a:latin typeface="Calibri"/>
              </a:rPr>
              <a:t>  topic_0_mean … topic_7_mean (name-masked)</a:t>
            </a:r>
          </a:p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Meta (1):</a:t>
            </a:r>
            <a:r>
              <a:rPr sz="1150" b="0">
                <a:solidFill>
                  <a:srgbClr val="1A3A5C"/>
                </a:solidFill>
                <a:latin typeface="Calibri"/>
              </a:rPr>
              <a:t>  industry_enc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0488" y="1280160"/>
            <a:ext cx="5623560" cy="3657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90488" y="1289304"/>
            <a:ext cx="5623560" cy="34747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SET B - LLM signals (12 features + 5 audit fields)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1645920"/>
            <a:ext cx="5623560" cy="41605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19072"/>
            <a:ext cx="5394960" cy="408736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Model features (one strict-JSON call per window):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ma_rumor_intensity 0-10: “in talks”, bids, “sources say”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strategic_alternatives_review 0-10: reviews, bankers hired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activist_pressure 0-10: activists, stakes, proxy fights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management_instability 0-10: CEO/CFO exits, shakeups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financial_distress 0-10: losses, debt, downgrades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undervaluation_narrative 0-10: “cheap”, lagging peers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sector_consolidation_wave 0-10: peers merging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regulatory_antitrust_attention 0-10: regulator scrutiny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divestiture_restructuring 0-10: spin-offs, carve-outs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growth_expansion_tone 0-10: ordinary growth (control)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acquisition_likelihood 0-100: holistic judgment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headline_information_quality 0-10: text usability</a:t>
            </a:r>
          </a:p>
          <a:p>
            <a:pPr algn="l">
              <a:lnSpc>
                <a:spcPct val="108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Audit fields - never model inputs: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dominant_theme · recognized_company · recognized_deal</a:t>
            </a:r>
          </a:p>
          <a:p>
            <a:pPr algn="l">
              <a:lnSpc>
                <a:spcPct val="108000"/>
              </a:lnSpc>
            </a:pPr>
            <a:r>
              <a:rPr sz="1150" b="0">
                <a:solidFill>
                  <a:srgbClr val="1A3A5C"/>
                </a:solidFill>
                <a:latin typeface="Calibri"/>
              </a:rPr>
              <a:t>   evidence_quotes (verbatim) · rationale (≤ 40 words)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The Exact Call - Nothing Hidden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One API call per window = fixed instructions + this window's text -&gt; 17 forced fields. The 0/1 label is never in the prompt.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11457432" cy="603504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97864"/>
            <a:ext cx="11155680" cy="58521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3A5C"/>
                </a:solidFill>
                <a:latin typeface="Calibri"/>
              </a:rPr>
              <a:t>The model never sees:  </a:t>
            </a:r>
            <a:r>
              <a:rPr sz="1200" b="0">
                <a:solidFill>
                  <a:srgbClr val="1A3A5C"/>
                </a:solidFill>
                <a:latin typeface="Calibri"/>
              </a:rPr>
              <a:t>the announcement date · whether this is a run-up or a “quiet” window · the outcome.  It scores blind - the 1/0 label lives only in our spreadsheet, never in the prompt. That is what makes the comparison fair.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01952"/>
            <a:ext cx="6720840" cy="416052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93392"/>
            <a:ext cx="6446520" cy="3977639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E6DB4"/>
                </a:solidFill>
                <a:latin typeface="Calibri"/>
              </a:rPr>
              <a:t>①  SYSTEM MESSAGE</a:t>
            </a:r>
            <a:r>
              <a:rPr sz="950" b="0">
                <a:solidFill>
                  <a:srgbClr val="1A3A5C"/>
                </a:solidFill>
                <a:latin typeface="Calibri"/>
              </a:rPr>
              <a:t>   - role + rules, identical for every call</a:t>
            </a:r>
          </a:p>
          <a:p>
            <a:pPr algn="l">
              <a:lnSpc>
                <a:spcPct val="102000"/>
              </a:lnSpc>
            </a:pPr>
            <a:r>
              <a:rPr sz="950" b="0">
                <a:solidFill>
                  <a:srgbClr val="1A3A5C"/>
                </a:solidFill>
                <a:latin typeface="Calibri"/>
              </a:rPr>
              <a:t>You are a financial-news analyst scoring M&amp;A-precursor signals for ONE US public company from a single ~90-day period of its news coverage. Judge ONLY from the text provided. Do not use any memory of real-world outcomes for this specific company. Score each dimension 0-10 (0 = no evidence, 10 = overwhelming). Be conservative: for most companies in most periods, most dimensions score 0-2.</a:t>
            </a:r>
          </a:p>
          <a:p>
            <a:pPr algn="l">
              <a:lnSpc>
                <a:spcPct val="102000"/>
              </a:lnSpc>
            </a:pPr>
            <a:r>
              <a:rPr sz="9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1150" b="1">
                <a:solidFill>
                  <a:srgbClr val="2E6DB4"/>
                </a:solidFill>
                <a:latin typeface="Calibri"/>
              </a:rPr>
              <a:t>②  USER MESSAGE</a:t>
            </a:r>
            <a:r>
              <a:rPr sz="950" b="0">
                <a:solidFill>
                  <a:srgbClr val="1A3A5C"/>
                </a:solidFill>
                <a:latin typeface="Calibri"/>
              </a:rPr>
              <a:t>   - only THIS window's text  (ANSYS, Inc.)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Company: ANSYS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Period: ~90 days ending 2024-01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SEC filings during the period: 8-K x3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Headlines (40 of 40 kept after spam filtering, chronological; 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[d72] S &amp; P 500 Gains and Losses Today : Nike Warns of Soft Sa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[d72] Stocks meander into Christmas after cool PCE - Newsquawk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[d72] Ansys Shares Climb 17 % After Reports of Possible Sale (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[d72] Why AAR Shares Are Trading Lower By 7 %? Here Are Other 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Tech Giants In Talks : Synopsys Reportedly Aims For Bloc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Synopsys To Acquire Engineering Software Firm Ansys (bus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Synopsys and Ansys in talks to merge : report (biztoc.co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Synopsys Submits Offer to Acquire Ansys (marketscreener.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Ansys explores sale amid takeover interest - sources (ke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Big Design - Software Companies in Talks to Merge (bizto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[d73] S &amp; P 500 posts best weekly win streak in over six years</a:t>
            </a:r>
          </a:p>
          <a:p>
            <a:pPr algn="l">
              <a:lnSpc>
                <a:spcPct val="102000"/>
              </a:lnSpc>
            </a:pPr>
            <a:r>
              <a:rPr sz="900" b="0">
                <a:solidFill>
                  <a:srgbClr val="1A3A5C"/>
                </a:solidFill>
                <a:latin typeface="Calibri"/>
              </a:rPr>
              <a:t>Score the signals defined in the schema, based ONLY on the text above.</a:t>
            </a:r>
          </a:p>
          <a:p>
            <a:pPr algn="l">
              <a:lnSpc>
                <a:spcPct val="102000"/>
              </a:lnSpc>
            </a:pPr>
            <a:r>
              <a:rPr sz="95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02000"/>
              </a:lnSpc>
            </a:pPr>
            <a:r>
              <a:rPr sz="950" b="1">
                <a:solidFill>
                  <a:srgbClr val="B8860B"/>
                </a:solidFill>
                <a:latin typeface="Calibri"/>
              </a:rPr>
              <a:t>+  response_format = strict JSON schema  -&gt;  forces the 17 fields at right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42048" y="1901952"/>
            <a:ext cx="4581144" cy="17007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1947672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C000"/>
                </a:solidFill>
                <a:latin typeface="Calibri"/>
              </a:rPr>
              <a:t>③  THE 17 FIELDS WE FORCE (the labels we ask for)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249424"/>
            <a:ext cx="4370832" cy="129844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10 M&amp;A-precursor signals, each 0-10 + a definition: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  rumor · strategic-review · activist · mgmt-instability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  distress · undervaluation · sector-consolidation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  antitrust · divestiture · growth (control dim.)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acquisition_likelihood 0-100   ·   info_quality 0-10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dominant_theme · evidence_quotes (≤3) · rationale</a:t>
            </a:r>
          </a:p>
          <a:p>
            <a:pPr algn="l">
              <a:lnSpc>
                <a:spcPct val="106000"/>
              </a:lnSpc>
            </a:pPr>
            <a:r>
              <a:rPr sz="950" b="0">
                <a:solidFill>
                  <a:srgbClr val="D6E8F7"/>
                </a:solidFill>
                <a:latin typeface="Calibri"/>
              </a:rPr>
              <a:t>recognized_company / recognized_deal -&gt; memorization flag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2048" y="3675887"/>
            <a:ext cx="4581144" cy="2386584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60920" y="372160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C000"/>
                </a:solidFill>
                <a:latin typeface="Calibri"/>
              </a:rPr>
              <a:t>④  IT RETURNS - strict JSON, one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20" y="4023360"/>
            <a:ext cx="4370832" cy="1965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"ma_rumor_intensity": 10,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"strategic_alternatives_review": 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"activist_pressure": 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"management_instability": 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"financial_distress": 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"acquisition_likelihood": 90,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"dominant_theme": "ma_speculation",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"recognized_company": true,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"recognized_deal": true,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"evidence_quotes": [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 "Ansys Shares Climb 17 % After Reports of Possibl\u2026",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 "Synopsys Reportedly in Advanced Talks to Acquire\u2026"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],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 "rationale": "The coverage primarily discusses potential ac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D6E8F7"/>
                </a:solidFill>
                <a:latin typeface="Calibri"/>
              </a:rPr>
              <a:t>}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Head to Head: Does the LLM Beat Classic NLP?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Best model per feature set, identical rows &amp; split, bootstrap 95% CIs (2,002 windows)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20040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31089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Feature set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566160" y="1371600"/>
            <a:ext cx="292608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371600"/>
            <a:ext cx="28346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Best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246888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23774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Test ROC-AUC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0" y="1371600"/>
            <a:ext cx="283464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371600"/>
            <a:ext cx="27432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95% CI (bootstrap)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773936"/>
            <a:ext cx="32004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773936"/>
            <a:ext cx="31089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 - Classic NLP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1773936"/>
            <a:ext cx="29260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1773936"/>
            <a:ext cx="28346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1773936"/>
            <a:ext cx="24688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1773936"/>
            <a:ext cx="23774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0.525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773936"/>
            <a:ext cx="2834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1773936"/>
            <a:ext cx="27432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[0.470, 0.580]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176272"/>
            <a:ext cx="32004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176272"/>
            <a:ext cx="31089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 - LLM signals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66160" y="2176272"/>
            <a:ext cx="292608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2176272"/>
            <a:ext cx="28346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176272"/>
            <a:ext cx="246888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2176272"/>
            <a:ext cx="23774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2176272"/>
            <a:ext cx="28346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176272"/>
            <a:ext cx="27432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[0.465, 0.571]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578608"/>
            <a:ext cx="32004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578608"/>
            <a:ext cx="31089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 - Combined A+B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66160" y="2578608"/>
            <a:ext cx="29260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2578608"/>
            <a:ext cx="28346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Logistic Regression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578608"/>
            <a:ext cx="24688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78608"/>
            <a:ext cx="237744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0.551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61120" y="2578608"/>
            <a:ext cx="28346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7432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[0.495, 0.606]</a:t>
            </a:r>
          </a:p>
        </p:txBody>
      </p:sp>
      <p:pic>
        <p:nvPicPr>
          <p:cNvPr id="38" name="Picture 37" descr="fig_au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246120"/>
            <a:ext cx="6816970" cy="237744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Are the LLM Signals New Information?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Spearman rank correlation - LLM fields (rows) x classic-NLP features (columns)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llm_vs_classic_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25880"/>
            <a:ext cx="6492240" cy="4565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1463040"/>
            <a:ext cx="4892040" cy="4297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3A5C"/>
                </a:solidFill>
                <a:latin typeface="Calibri"/>
              </a:rPr>
              <a:t>How to read it: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Each cell: do the two scores rank companies the same way? (+1 identical, 0 unrelated, -1 opposite)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A deep-red row = that LLM field just re-derives a classic feature (redundant).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A near-white row = a description the classic stack misses (novel).</a:t>
            </a:r>
          </a:p>
          <a:p>
            <a:pPr algn="l">
              <a:lnSpc>
                <a:spcPct val="12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• The LLM's rumor read largely re-derives simple keyword matching; activist, distress and divestiture reads are genuinely new descriptive axes.</a:t>
            </a:r>
          </a:p>
          <a:p>
            <a:pPr algn="l">
              <a:lnSpc>
                <a:spcPct val="12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Takeaway: </a:t>
            </a:r>
            <a:r>
              <a:rPr sz="1250" b="0">
                <a:solidFill>
                  <a:srgbClr val="1A3A5C"/>
                </a:solidFill>
                <a:latin typeface="Calibri"/>
              </a:rPr>
              <a:t>the LLM is partly redundant, partly novel - but neither part separates pre from baseline, so the novelty does not become predictivity.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Is the LLM Result Trustworthy?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Two stress tests: does it remember these deals, and does it read the text or the name?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3566160" cy="1188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26464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84832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memorization-probe accuracy (chance 50%)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151376" y="1371600"/>
            <a:ext cx="356616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51376" y="1426464"/>
            <a:ext cx="356616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51% /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51376" y="2084832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accuracy pre / post knowledge cutoff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36992" y="1371600"/>
            <a:ext cx="3886200" cy="11887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1426464"/>
            <a:ext cx="388620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FFC000"/>
                </a:solidFill>
                <a:latin typeface="Calibri"/>
              </a:rPr>
              <a:t>+0.02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992" y="2084832"/>
            <a:ext cx="38862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>
                <a:solidFill>
                  <a:srgbClr val="D6E8F7"/>
                </a:solidFill>
                <a:latin typeface="Calibri"/>
              </a:rPr>
              <a:t>AUC drop when the company name is hidden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788920"/>
            <a:ext cx="562356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79806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Test 1: does it just remember the outcome?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72968"/>
            <a:ext cx="5623560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5477256" cy="18288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Ask, with NO news: 'was this company announced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as a &gt;=$1B target?' - from memory alone.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Cutoff 2023-10-01: </a:t>
            </a:r>
            <a:r>
              <a:rPr sz="1250" b="0">
                <a:solidFill>
                  <a:srgbClr val="1A3A5C"/>
                </a:solidFill>
                <a:latin typeface="Calibri"/>
              </a:rPr>
              <a:t>most 2024-26 deals are AFTER training, so the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model cannot have memorized them - a clean holdout.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Pre ~ post accuracy =&gt; </a:t>
            </a:r>
            <a:r>
              <a:rPr sz="1250" b="0">
                <a:solidFill>
                  <a:srgbClr val="1A3A5C"/>
                </a:solidFill>
                <a:latin typeface="Calibri"/>
              </a:rPr>
              <a:t>no time-localized memory edge.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88920"/>
            <a:ext cx="562356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90488" y="2798064"/>
            <a:ext cx="56235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Test 2: reading the text or the name?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0488" y="3172968"/>
            <a:ext cx="5623560" cy="20116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264408"/>
            <a:ext cx="5477256" cy="18288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Re-score every window with the company name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blanked out, then compare the AUC.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AUC change +0.02: </a:t>
            </a:r>
            <a:r>
              <a:rPr sz="1250" b="0">
                <a:solidFill>
                  <a:srgbClr val="1A3A5C"/>
                </a:solidFill>
                <a:latin typeface="Calibri"/>
              </a:rPr>
              <a:t>how much of the 'skill' was recognizing the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company vs actually reading the coverage.</a:t>
            </a:r>
          </a:p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Matters most </a:t>
            </a:r>
            <a:r>
              <a:rPr sz="1250" b="0">
                <a:solidFill>
                  <a:srgbClr val="1A3A5C"/>
                </a:solidFill>
                <a:latin typeface="Calibri"/>
              </a:rPr>
              <a:t>for scoring companies never seen before.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Every LLM Score Cites Its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The model must quote the exact headline behind each signal - reading, not predicting (slide 6) - and we verify every quote against the source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57432" cy="5029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50292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3A5C"/>
                </a:solidFill>
                <a:latin typeface="Calibri"/>
              </a:rPr>
              <a:t>Across 8 tested events: 22 of 22 cited signals matched a real headline VERBATIM - 0 hallucinated sources. Examples: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265176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874519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Company - signal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874519"/>
            <a:ext cx="100584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1874519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874519"/>
            <a:ext cx="5971032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874519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Cited headline (verbatim from the news)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94392" y="1874519"/>
            <a:ext cx="1828800" cy="402336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0112" y="1874519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276855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276855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Clearwater Analytics - rumor intensity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2276855"/>
            <a:ext cx="10058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2276855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 / 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2276855"/>
            <a:ext cx="597103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276855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“Warburg Pincus, Permira said to be in talks to buy Clearwater Analytics”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94392" y="2276855"/>
            <a:ext cx="18288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40112" y="2276855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[d61] seekingalpha.com  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79191"/>
            <a:ext cx="26517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679191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Clearwater Analytics - acq. likelihood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17520" y="2679191"/>
            <a:ext cx="10058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63240" y="2679191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80 /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2679191"/>
            <a:ext cx="5971032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2679191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“Buyout firm Thoma Bravo has offered to buy Clearwater Analytics, sources say”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94392" y="2679191"/>
            <a:ext cx="18288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40112" y="2679191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[d63] marketscreener.com  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081527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3081527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ANSYS - rumor intensity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17520" y="3081527"/>
            <a:ext cx="10058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63240" y="3081527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 / 10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023360" y="3081527"/>
            <a:ext cx="597103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69080" y="3081527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“Ansys explores sale amid takeover interest - sources”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94392" y="3081527"/>
            <a:ext cx="18288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40112" y="3081527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[d73] kelo.com  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483863"/>
            <a:ext cx="26517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3483863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ANSYS - acq. likelihood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3483863"/>
            <a:ext cx="10058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63240" y="3483863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80 / 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23360" y="3483863"/>
            <a:ext cx="5971032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3483863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“Synopsys Reportedly in Advanced Talks to Acquire Ansys”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994392" y="3483863"/>
            <a:ext cx="18288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2" y="3483863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[d86] marketscreener.com  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886199"/>
            <a:ext cx="265176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886199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Instructure - rumor intensity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886199"/>
            <a:ext cx="10058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63240" y="3886199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 / 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023360" y="3886199"/>
            <a:ext cx="5971032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69080" y="3886199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“Thoma Bravo explores sale of Instructure, sources say”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994392" y="3886199"/>
            <a:ext cx="18288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0112" y="3886199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[d28] marketscreener.com  ✓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4288535"/>
            <a:ext cx="265176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4288535"/>
            <a:ext cx="256032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Instructure - acq. likelihood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17520" y="4288535"/>
            <a:ext cx="100584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063240" y="4288535"/>
            <a:ext cx="91440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85 / 100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23360" y="4288535"/>
            <a:ext cx="5971032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069080" y="4288535"/>
            <a:ext cx="5879592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“KKR Emerges as Front-Runner for Instructure Buyout”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994392" y="4288535"/>
            <a:ext cx="1828800" cy="402336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0112" y="4288535"/>
            <a:ext cx="1737360" cy="40233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3A5C"/>
                </a:solidFill>
                <a:latin typeface="Calibri"/>
              </a:rPr>
              <a:t>[d91] themiddlemarket.com  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37760"/>
            <a:ext cx="11457432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A3A5C"/>
                </a:solidFill>
                <a:latin typeface="Calibri"/>
              </a:rPr>
              <a:t>Illustrative high-signal windows.  </a:t>
            </a:r>
            <a:r>
              <a:rPr sz="1150" b="0">
                <a:solidFill>
                  <a:srgbClr val="1A3A5C"/>
                </a:solidFill>
                <a:latin typeface="Calibri"/>
              </a:rPr>
              <a:t>Explicit deal chatter like this is rare across all events, so headline-only prediction still lands near chance (slide 6). The point here is trust: every score traces to a real, checkable headline - and the acquirer is read FROM the text, not recalled from memory (consistent with the clean memorization probe).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521440" cy="56692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Calibri"/>
              </a:rPr>
              <a:t>Verdict &amp;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115214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B8860B"/>
                </a:solidFill>
                <a:latin typeface="Calibri"/>
              </a:rPr>
              <a:t>A small, clean edge over chance - promising but not yet conclusive, and how to confirm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3502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What we see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09928"/>
            <a:ext cx="3703320" cy="187451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801368"/>
            <a:ext cx="3557016" cy="1691639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A small edge above chance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across all three sets (0.53 / 0.52 /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0.55 AUC). Combining classic NLP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with LLM judgment does best -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 hint of complementary signal.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32588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42816" y="133502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Is the edge real?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1709928"/>
            <a:ext cx="3703320" cy="187451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1801368"/>
            <a:ext cx="3557016" cy="1691639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Small, not yet significant: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95% CIs still include 0.50 on 400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test rows. But it is clean -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memorization probe at chance,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masking barely moves it (not an artifact).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2" y="1325880"/>
            <a:ext cx="3703320" cy="384048"/>
          </a:xfrm>
          <a:prstGeom prst="rect">
            <a:avLst/>
          </a:prstGeom>
          <a:solidFill>
            <a:srgbClr val="2E6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19872" y="1335024"/>
            <a:ext cx="37033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2" y="1709928"/>
            <a:ext cx="3703320" cy="1874519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1801368"/>
            <a:ext cx="3557016" cy="1691639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A3A5C"/>
                </a:solidFill>
                <a:latin typeface="Calibri"/>
              </a:rPr>
              <a:t>Promising enough to scale.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More events to tighten the CIs,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article bodies for richer text, a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cutoff-matched backtest. Keep NLP the</a:t>
            </a:r>
          </a:p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3A5C"/>
                </a:solidFill>
                <a:latin typeface="Calibri"/>
              </a:rPr>
              <a:t>cheap baseline; layer the LLM on top.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29000"/>
            <a:ext cx="11457432" cy="16916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557016"/>
            <a:ext cx="11064240" cy="153619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14000"/>
              </a:lnSpc>
            </a:pPr>
            <a:r>
              <a:rPr sz="1600" b="1">
                <a:solidFill>
                  <a:srgbClr val="1A3A5C"/>
                </a:solidFill>
                <a:latin typeface="Calibri"/>
              </a:rPr>
              <a:t>The bottom line:  </a:t>
            </a:r>
            <a:r>
              <a:rPr sz="1500" b="0">
                <a:solidFill>
                  <a:srgbClr val="1A3A5C"/>
                </a:solidFill>
                <a:latin typeface="Calibri"/>
              </a:rPr>
              <a:t>combining classic NLP with LLM judgment gives a small but consistent edge over chance (best 0.55), and it is clean - no memorization, no name-recognition. Promising, though not yet statistically conclusive on this sample.</a:t>
            </a:r>
          </a:p>
          <a:p>
            <a:pPr algn="l">
              <a:lnSpc>
                <a:spcPct val="114000"/>
              </a:lnSpc>
            </a:pPr>
            <a:r>
              <a:rPr sz="1300" b="0">
                <a:solidFill>
                  <a:srgbClr val="1A3A5C"/>
                </a:solidFill>
                <a:latin typeface="Calibri"/>
              </a:rPr>
              <a:t/>
            </a:r>
          </a:p>
          <a:p>
            <a:pPr algn="l">
              <a:lnSpc>
                <a:spcPct val="114000"/>
              </a:lnSpc>
            </a:pPr>
            <a:r>
              <a:rPr sz="1300" b="0">
                <a:solidFill>
                  <a:srgbClr val="1A3A5C"/>
                </a:solidFill>
                <a:latin typeface="Calibri"/>
              </a:rPr>
              <a:t>For context, the same pipeline detects an announcement once it lands at AUC ~ 0.77, so the signal exists - the open question is how early it becomes readable. This 1,156-event edge is worth scaling: more data to tighten the CIs, richer text, and a cutoff-matched backtest to confirm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74536"/>
            <a:ext cx="8229600" cy="256032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12191695" cy="1463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0" b="1">
                <a:solidFill>
                  <a:srgbClr val="FFFFFF"/>
                </a:solidFill>
                <a:latin typeface="Calibri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09360"/>
            <a:ext cx="12191695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BBBBBB"/>
                </a:solidFill>
                <a:latin typeface="Calibri"/>
              </a:rPr>
              <a:t>M&amp;A Prediction | JPMorgan Industry Project |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