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17373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Predicting M&amp;A from Free News</a:t>
            </a:r>
          </a:p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Classic NLP vs LLM, Head to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B8860B"/>
                </a:solidFill>
                <a:latin typeface="Calibri"/>
              </a:rPr>
              <a:t>J.P.Morgan Industry Project | Week 7 Results - NLP vs LLM on the Full Dataset |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6E8F7"/>
                </a:solidFill>
                <a:latin typeface="Calibri"/>
              </a:rPr>
              <a:t>Dexin Fu, Ronald Liu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Two feature pipelines, one corpus - which one actually predicts an acquisition?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2697480" cy="11887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1,156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events scored (both pipelines)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298448"/>
            <a:ext cx="269748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3552" y="1353312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000"/>
                </a:solidFill>
                <a:latin typeface="Calibri"/>
              </a:rPr>
              <a:t>0.53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201168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Classic-NLP test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298448"/>
            <a:ext cx="269748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353312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000"/>
                </a:solidFill>
                <a:latin typeface="Calibri"/>
              </a:rPr>
              <a:t>0.52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01168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LLM test 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9136" y="1298448"/>
            <a:ext cx="269748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1353312"/>
            <a:ext cx="269748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000"/>
                </a:solidFill>
                <a:latin typeface="Calibri"/>
              </a:rPr>
              <a:t>0.55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011680"/>
            <a:ext cx="269748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Combined (A+B) test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87168"/>
            <a:ext cx="11091672" cy="42062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87168"/>
            <a:ext cx="10972800" cy="42062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3A5C"/>
                </a:solidFill>
                <a:latin typeface="Calibri"/>
              </a:rPr>
              <a:t>Honest scope: 2002 windows from 1156 events (400 in the held-out test set), one time-based split (train &lt;= 2025-06-23), bootstrap 95% CIs. Small sample - read every AUC as DIRECTIONAL.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2666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01568"/>
            <a:ext cx="3703320" cy="1600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493008"/>
            <a:ext cx="3557016" cy="1417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Given 90 days of a company's free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news BEFORE any announcement,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can we rank it as an acquisition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target better than a coin flip?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301752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02666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Two pipelines, same 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401568"/>
            <a:ext cx="3703320" cy="1600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3493008"/>
            <a:ext cx="3557016" cy="1417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A: classic NLP (VADER, FinBERT,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NMF, log-odds, momentum, EDGAR)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B: one LLM call/window -&gt; 17 fields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Only the featurizer changes.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301752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302666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The answer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401568"/>
            <a:ext cx="3703320" cy="16002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93024" y="3493008"/>
            <a:ext cx="3557016" cy="141732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Both land near AUC 0.50 on advance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prediction. The LLM does not rescue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a signal that is not in the news.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Signal lives at announcement, not before.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Verdict: neither pipeline beats chance at 90-day advance prediction (classic 0.53, LLM 0.52, combined 0.55). A generative LLM confirms week 4's null - the news simply does not carry the signal.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One Corpus, One Split, Two Featurizers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The comparison is fair because everything except the features is held identical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events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(SPGlobal &gt;=$1B)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3976" y="1527048"/>
            <a:ext cx="219456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8860B"/>
                </a:solidFill>
                <a:latin typeface="Calibri"/>
              </a:rPr>
              <a:t>=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9424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9424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news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(GDELT + EDGAR)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1527048"/>
            <a:ext cx="219456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8860B"/>
                </a:solidFill>
                <a:latin typeface="Calibri"/>
              </a:rPr>
              <a:t>=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windows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pre vs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4" y="1527048"/>
            <a:ext cx="219456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8860B"/>
                </a:solidFill>
                <a:latin typeface="Calibri"/>
              </a:rPr>
              <a:t>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time split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train &lt;= 2025-06-23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1527048"/>
            <a:ext cx="219456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8860B"/>
                </a:solidFill>
                <a:latin typeface="Calibri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416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6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3 models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LogReg/RF/GB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8632" y="1527048"/>
            <a:ext cx="219456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B8860B"/>
                </a:solidFill>
                <a:latin typeface="Calibri"/>
              </a:rPr>
              <a:t>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1417320"/>
            <a:ext cx="1755648" cy="86868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1435608"/>
            <a:ext cx="1755648" cy="832104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Same bootstrap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95% CIs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97480"/>
            <a:ext cx="5715000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697480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Held identical across both pipelines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697480"/>
            <a:ext cx="5715000" cy="347472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697480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The ONLY thing that differs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44952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044952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Event set, news corpus, noise filter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3044952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3044952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How the text becomes numbers: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92424"/>
            <a:ext cx="5715000" cy="34747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392424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Pre / baseline 90-day window geometry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3392424"/>
            <a:ext cx="5715000" cy="34747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392424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A: hand-built NLP statistics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9896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739896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Train/test time split + class balance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739896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3739896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B: an LLM's structured judgment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87368"/>
            <a:ext cx="5715000" cy="34747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087368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LogReg / RandomForest / GradientBoost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087368"/>
            <a:ext cx="5715000" cy="34747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4087368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Top-16 features by train-only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34840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434840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Bootstrap 95% CIs on every AUC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434840"/>
            <a:ext cx="5715000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4434840"/>
            <a:ext cx="5623560" cy="347472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  mutual information, per set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Because the rows, split, and learners are shared, any AUC difference is the featurizer talking - not a data or tuning artifact.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Pipeline 1: Classic NLP (Weeks 3-4)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Hand-built linguistic statistics - the established baseline, recomputed on this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806440" cy="3657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9304"/>
            <a:ext cx="5806440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What it computes (28 candidate features)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806440" cy="3246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5532120" cy="30632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Volume + VADER sentiment (7):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counts, avg/std/max/min tone, pos/neg ratio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M&amp;A keyword hits (2)</a:t>
            </a:r>
            <a:r>
              <a:rPr sz="1200" b="0">
                <a:solidFill>
                  <a:srgbClr val="1A3A5C"/>
                </a:solidFill>
                <a:latin typeface="Calibri"/>
              </a:rPr>
              <a:t>   +   </a:t>
            </a:r>
            <a:r>
              <a:rPr sz="1200" b="1">
                <a:solidFill>
                  <a:srgbClr val="1A3A5C"/>
                </a:solidFill>
                <a:latin typeface="Calibri"/>
              </a:rPr>
              <a:t>FinBERT finance tone (4)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Log-odds distinctive terms (1):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data-driven, company-name masked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NMF topics (8)</a:t>
            </a:r>
            <a:r>
              <a:rPr sz="1200" b="0">
                <a:solidFill>
                  <a:srgbClr val="1A3A5C"/>
                </a:solidFill>
                <a:latin typeface="Calibri"/>
              </a:rPr>
              <a:t>   +   </a:t>
            </a:r>
            <a:r>
              <a:rPr sz="1200" b="1">
                <a:solidFill>
                  <a:srgbClr val="1A3A5C"/>
                </a:solidFill>
                <a:latin typeface="Calibri"/>
              </a:rPr>
              <a:t>Momentum (2)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EDGAR filing structure (3):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8-K / SC 13D counts + deal-filing ratio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280160"/>
            <a:ext cx="544068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289304"/>
            <a:ext cx="5440680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C000"/>
                </a:solidFill>
                <a:latin typeface="Calibri"/>
              </a:rPr>
              <a:t>Result on this corpus (advance prediction)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1783080"/>
            <a:ext cx="233172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14232" y="1783080"/>
            <a:ext cx="169164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78308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Test 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05872" y="1783080"/>
            <a:ext cx="141732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1592" y="178308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95% CI (bootstrap)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148840"/>
            <a:ext cx="2331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14884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4232" y="214884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214884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0.525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5872" y="2148840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1592" y="214884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[0.470, 0.580]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514600"/>
            <a:ext cx="233172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51460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14232" y="2514600"/>
            <a:ext cx="169164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51460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0.523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05872" y="2514600"/>
            <a:ext cx="141732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51592" y="251460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[0.472, 0.578]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2880360"/>
            <a:ext cx="2331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88036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Gradient Boosting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14232" y="288036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88036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0.499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05872" y="2880360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1592" y="288036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[0.446, 0.557]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3611880"/>
            <a:ext cx="5440680" cy="13716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Reads as: </a:t>
            </a:r>
            <a:r>
              <a:rPr sz="1250" b="0">
                <a:solidFill>
                  <a:srgbClr val="1A3A5C"/>
                </a:solidFill>
                <a:latin typeface="Calibri"/>
              </a:rPr>
              <a:t>best classic model AUC 0.53 - a coin flip.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Context: </a:t>
            </a:r>
            <a:r>
              <a:rPr sz="1250" b="0">
                <a:solidFill>
                  <a:srgbClr val="1A3A5C"/>
                </a:solidFill>
                <a:latin typeface="Calibri"/>
              </a:rPr>
              <a:t>the SAME pipeline pointed at the announcement week detects a deal at AUC ~ 0.77 (week 3-4). The signal exists - just not 90 days early.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Classic NLP: strong at DETECTING an announcement, at chance for PREDICTING one in advance - the week 3-4 conclusion.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Pipeline 2: LLM Feature Extraction (Week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One structured call per window (openai/gpt-4o-mini) - the same news, read by a generative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806440" cy="3657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9304"/>
            <a:ext cx="5806440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What it extracts (17 strict-JSON fields)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5806440" cy="324612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5532120" cy="31089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10 M&amp;A-precursor signals, each 0-10: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rumor, strategic-review, activist, mgmt-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instability, distress, undervaluation,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sector-consolidation, antitrust, divestiture,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growth (control dimension)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acquisition_likelihood 0-100</a:t>
            </a:r>
            <a:r>
              <a:rPr sz="1200" b="0">
                <a:solidFill>
                  <a:srgbClr val="1A3A5C"/>
                </a:solidFill>
                <a:latin typeface="Calibri"/>
              </a:rPr>
              <a:t>   +   info_quality 0-10</a:t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3A5C"/>
                </a:solidFill>
                <a:latin typeface="Calibri"/>
              </a:rPr>
              <a:t>Audit-only (never model inputs):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dominant_theme, recognized_company/deal,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3A5C"/>
                </a:solidFill>
                <a:latin typeface="Calibri"/>
              </a:rPr>
              <a:t>   evidence_quotes, rationale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1280160"/>
            <a:ext cx="544068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289304"/>
            <a:ext cx="5440680" cy="34747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C000"/>
                </a:solidFill>
                <a:latin typeface="Calibri"/>
              </a:rPr>
              <a:t>Result on this corpus (advance prediction)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1783080"/>
            <a:ext cx="233172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14232" y="1783080"/>
            <a:ext cx="169164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178308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Test ROC-AUC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05872" y="1783080"/>
            <a:ext cx="1417320" cy="3657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51592" y="178308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95% CI (bootstrap)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82512" y="2148840"/>
            <a:ext cx="2331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14884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Logistic 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4232" y="214884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214884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0.518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5872" y="2148840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1592" y="214884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[0.465, 0.571]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2512" y="2514600"/>
            <a:ext cx="233172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251460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14232" y="2514600"/>
            <a:ext cx="169164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51460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0.517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05872" y="2514600"/>
            <a:ext cx="1417320" cy="36576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51592" y="251460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[0.468, 0.569]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2880360"/>
            <a:ext cx="23317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880360"/>
            <a:ext cx="22402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Gradient Boosting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14232" y="2880360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2880360"/>
            <a:ext cx="160020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0.502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05872" y="2880360"/>
            <a:ext cx="141732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51592" y="2880360"/>
            <a:ext cx="1325880" cy="365760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A3A5C"/>
                </a:solidFill>
                <a:latin typeface="Calibri"/>
              </a:rPr>
              <a:t>[0.450, 0.553]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3611880"/>
            <a:ext cx="2606040" cy="105156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3666744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$2.10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32511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total API spend (both variants)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3611880"/>
            <a:ext cx="2606040" cy="10515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3666744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2023-10-01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325112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knowledge cutoff (memorization guard)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The LLM reads the identical noise-filtered headlines and returns judgment scores - best LLM model AUC 0.52. Cheap and fast, but does it PREDICT better?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Head to Head: Does the LLM Beat Classic NLP?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Best model per feature set, identical rows &amp; split, bootstrap 95% CIs (2002 windows)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200400" cy="40233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Feature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926080" cy="40233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28346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Best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71600"/>
            <a:ext cx="2468880" cy="40233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23774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Test 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2834640" cy="402336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371600"/>
            <a:ext cx="274320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95% CI (bootstrap)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73936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773936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 - Classic NLP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1773936"/>
            <a:ext cx="2926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1773936"/>
            <a:ext cx="28346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773936"/>
            <a:ext cx="24688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773936"/>
            <a:ext cx="23774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0.525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773936"/>
            <a:ext cx="2834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1773936"/>
            <a:ext cx="274320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[0.470, 0.580]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76272"/>
            <a:ext cx="3200400" cy="40233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176272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B - LLM signals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2176272"/>
            <a:ext cx="2926080" cy="40233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2176272"/>
            <a:ext cx="28346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Logistic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176272"/>
            <a:ext cx="2468880" cy="40233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176272"/>
            <a:ext cx="23774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0.518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176272"/>
            <a:ext cx="2834640" cy="402336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176272"/>
            <a:ext cx="274320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[0.465, 0.571]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78608"/>
            <a:ext cx="32004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2578608"/>
            <a:ext cx="310896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C - Combined A+B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2578608"/>
            <a:ext cx="29260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578608"/>
            <a:ext cx="28346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Logistic Regression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578608"/>
            <a:ext cx="246888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578608"/>
            <a:ext cx="237744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0.551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578608"/>
            <a:ext cx="28346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2578608"/>
            <a:ext cx="2743200" cy="40233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[0.495, 0.606]</a:t>
            </a:r>
          </a:p>
        </p:txBody>
      </p:sp>
      <p:pic>
        <p:nvPicPr>
          <p:cNvPr id="38" name="Picture 37" descr="fig_au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246120"/>
            <a:ext cx="6816970" cy="237744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CIs overlap (delta = +0.026): the LLM does NOT clearly beat classic NLP on advance prediction - the same null result, now with a generative model.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Are the LLM Signals New Information?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Spearman rank correlation - LLM fields (rows) x classic-NLP features (columns)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llm_vs_classic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6492240" cy="4565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463040"/>
            <a:ext cx="4892040" cy="42976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How to read it: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• Each cell: do the two scores rank companies the same way? (+1 identical, 0 unrelated, -1 opposite)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• A deep-red row = that LLM field just re-derives a classic feature (redundant).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• A near-white row = a description the classic stack misses (novel).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• The LLM's rumor read largely re-derives simple keyword matching; activist, distress and divestiture reads are genuinely new descriptive axes.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Takeaway: </a:t>
            </a:r>
            <a:r>
              <a:rPr sz="1250" b="0">
                <a:solidFill>
                  <a:srgbClr val="1A3A5C"/>
                </a:solidFill>
                <a:latin typeface="Calibri"/>
              </a:rPr>
              <a:t>the LLM is partly redundant, partly novel - but neither part separates pre from baseline, so the novelty does not become predictivity.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897880"/>
            <a:ext cx="11457432" cy="64008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34456"/>
            <a:ext cx="11064240" cy="56692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New ways to DESCRIBE the news are not new ability to PREDICT from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Is the LLM Result Trustworthy?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Two stress tests: does it remember these deals, and does it read the text or the name?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1188720"/>
          </a:xfrm>
          <a:prstGeom prst="rect">
            <a:avLst/>
          </a:prstGeom>
          <a:solidFill>
            <a:srgbClr val="1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26464"/>
            <a:ext cx="356616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memorization-probe accuracy (chance 50%)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51376" y="1371600"/>
            <a:ext cx="356616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51376" y="1426464"/>
            <a:ext cx="356616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000"/>
                </a:solidFill>
                <a:latin typeface="Calibri"/>
              </a:rPr>
              <a:t>51% /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51376" y="2084832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accuracy pre / post knowledge cutoff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1371600"/>
            <a:ext cx="3886200" cy="11887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426464"/>
            <a:ext cx="3886200" cy="64008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FC000"/>
                </a:solidFill>
                <a:latin typeface="Calibri"/>
              </a:rPr>
              <a:t>+0.02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084832"/>
            <a:ext cx="3886200" cy="4572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D6E8F7"/>
                </a:solidFill>
                <a:latin typeface="Calibri"/>
              </a:rPr>
              <a:t>AUC drop when the company name is hidden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562356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98064"/>
            <a:ext cx="56235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Test 1: does it just remember the outcome?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72968"/>
            <a:ext cx="5623560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264408"/>
            <a:ext cx="5477256" cy="18288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Ask, with NO news: 'was this company announced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as a &gt;=$1B target?' - from memory alone.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Cutoff 2023-10-01: </a:t>
            </a:r>
            <a:r>
              <a:rPr sz="1250" b="0">
                <a:solidFill>
                  <a:srgbClr val="1A3A5C"/>
                </a:solidFill>
                <a:latin typeface="Calibri"/>
              </a:rPr>
              <a:t>most 2024-26 deals are AFTER training, so the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model cannot have memorized them - a clean holdout.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Pre ~ post accuracy =&gt; </a:t>
            </a:r>
            <a:r>
              <a:rPr sz="1250" b="0">
                <a:solidFill>
                  <a:srgbClr val="1A3A5C"/>
                </a:solidFill>
                <a:latin typeface="Calibri"/>
              </a:rPr>
              <a:t>no time-localized memory edge.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2788920"/>
            <a:ext cx="562356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2798064"/>
            <a:ext cx="562356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Test 2: reading the text or the name?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172968"/>
            <a:ext cx="5623560" cy="201168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264408"/>
            <a:ext cx="5477256" cy="182880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Re-score every window with the company name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blanked out, then compare the AUC.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AUC change +0.02: </a:t>
            </a:r>
            <a:r>
              <a:rPr sz="1250" b="0">
                <a:solidFill>
                  <a:srgbClr val="1A3A5C"/>
                </a:solidFill>
                <a:latin typeface="Calibri"/>
              </a:rPr>
              <a:t>how much of the 'skill' was recognizing the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company vs actually reading the coverage.</a:t>
            </a:r>
          </a:p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Matters most </a:t>
            </a:r>
            <a:r>
              <a:rPr sz="1250" b="0">
                <a:solidFill>
                  <a:srgbClr val="1A3A5C"/>
                </a:solidFill>
                <a:latin typeface="Calibri"/>
              </a:rPr>
              <a:t>for scoring companies never seen before.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06440"/>
            <a:ext cx="11457432" cy="685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43016"/>
            <a:ext cx="11064240" cy="612648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Look-ahead memory is the real risk here - and the Oct-2023 cutoff plus the pre~post split are what let us bound it, rather than hand-wave it away.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521440" cy="566928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Verdict &amp;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52144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B8860B"/>
                </a:solidFill>
                <a:latin typeface="Calibri"/>
              </a:rPr>
              <a:t>What both pipelines agree on, and the one experiment that would change the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3502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What we can say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09928"/>
            <a:ext cx="3703320" cy="187451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801368"/>
            <a:ext cx="3557016" cy="1691639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Advance prediction fails </a:t>
            </a:r>
            <a:r>
              <a:rPr sz="1250" b="0">
                <a:solidFill>
                  <a:srgbClr val="1A3A5C"/>
                </a:solidFill>
                <a:latin typeface="Calibri"/>
              </a:rPr>
              <a:t>for both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pipelines - classic and LLM alike land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at AUC ~ 0.50 on 90-day-ahead ranking.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 generative LLM does not manufacture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a signal the free news does not contain.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32588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33502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Where the signal 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2816" y="1709928"/>
            <a:ext cx="3703320" cy="187451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801368"/>
            <a:ext cx="3557016" cy="1691639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Detection works</a:t>
            </a:r>
            <a:r>
              <a:rPr sz="1250" b="0">
                <a:solidFill>
                  <a:srgbClr val="1A3A5C"/>
                </a:solidFill>
                <a:latin typeface="Calibri"/>
              </a:rPr>
              <a:t>  (AUC ~ 0.77).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The moment an announcement lands, the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same news becomes highly separable.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The task, not the model, is the limit: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pre-announcement news is near-silent.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325880"/>
            <a:ext cx="3703320" cy="38404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1335024"/>
            <a:ext cx="3703320" cy="36576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1709928"/>
            <a:ext cx="3703320" cy="1874519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801368"/>
            <a:ext cx="3557016" cy="1691639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3A5C"/>
                </a:solidFill>
                <a:latin typeface="Calibri"/>
              </a:rPr>
              <a:t>Keep classic NLP as the baseline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(cheaper, no API, no look-ahead risk).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Use the LLM for auditable DESCRIPTION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(evidence quotes), not prediction.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3A5C"/>
                </a:solidFill>
                <a:latin typeface="Calibri"/>
              </a:rPr>
              <a:t>Trust nothing until the cutoff backtest.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29000"/>
            <a:ext cx="11457432" cy="1691640"/>
          </a:xfrm>
          <a:prstGeom prst="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557016"/>
            <a:ext cx="11064240" cy="153619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1">
                <a:solidFill>
                  <a:srgbClr val="1A3A5C"/>
                </a:solidFill>
                <a:latin typeface="Calibri"/>
              </a:rPr>
              <a:t>The bottom line:  </a:t>
            </a:r>
            <a:r>
              <a:rPr sz="1500" b="0">
                <a:solidFill>
                  <a:srgbClr val="1A3A5C"/>
                </a:solidFill>
                <a:latin typeface="Calibri"/>
              </a:rPr>
              <a:t>on this corpus, free pre-announcement news cannot predict a &gt;=$1B acquisition - best AUC 0.55, a coin flip - whether the features are hand-built or LLM-generated.</a:t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1A3A5C"/>
                </a:solidFill>
                <a:latin typeface="Calibri"/>
              </a:rPr>
              <a:t/>
            </a:r>
          </a:p>
          <a:p>
            <a:pPr algn="l">
              <a:lnSpc>
                <a:spcPct val="114000"/>
              </a:lnSpc>
            </a:pPr>
            <a:r>
              <a:rPr sz="1300" b="0">
                <a:solidFill>
                  <a:srgbClr val="1A3A5C"/>
                </a:solidFill>
                <a:latin typeface="Calibri"/>
              </a:rPr>
              <a:t>This is the week-4 null result, now confirmed with a generative LLM on 1156 events. The honest next step is a cutoff-matched backtest: score only deals AFTER the model's training cutoff, so look-ahead is structurally impossible. We are already on that footing - openai/gpt-4o-mini's 2023-10-01 cutoff puts most of the 2024-26 events outside its training window.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48656"/>
            <a:ext cx="11457432" cy="658368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11064240" cy="585216"/>
          </a:xfrm>
          <a:prstGeom prst="rect">
            <a:avLst/>
          </a:prstGeom>
          <a:noFill/>
        </p:spPr>
        <p:txBody>
          <a:bodyPr wrap="square" anchor="ctr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3A5C"/>
                </a:solidFill>
                <a:latin typeface="Calibri"/>
              </a:rPr>
              <a:t>Next: a full cutoff-matched backtest via OpenRouter - the only version of this result an investor should trust.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1463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Calibri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</p:spPr>
        <p:txBody>
          <a:bodyPr wrap="square" anchor="t" lIns="45720" rIns="45720" tIns="22860" bIns="2286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BBBBB"/>
                </a:solidFill>
                <a:latin typeface="Calibri"/>
              </a:rPr>
              <a:t>M&amp;A Prediction | JPMorgan Industry Project |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