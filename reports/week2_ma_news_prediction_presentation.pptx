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2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59DF4-BBFD-9F48-A58C-A55211B0ED90}" v="9" dt="2026-06-24T17:46:09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6024"/>
  </p:normalViewPr>
  <p:slideViewPr>
    <p:cSldViewPr snapToGrid="0" snapToObjects="1">
      <p:cViewPr varScale="1">
        <p:scale>
          <a:sx n="118" d="100"/>
          <a:sy n="118" d="100"/>
        </p:scale>
        <p:origin x="2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M&amp;A Prediction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B8860B"/>
                </a:solidFill>
              </a:rPr>
              <a:t>Pre-Announcement 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41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D6E8F7"/>
                </a:solidFill>
              </a:rPr>
              <a:t>J.P.Morgan</a:t>
            </a:r>
            <a:r>
              <a:rPr lang="en-US" altLang="zh-CN" b="1" dirty="0">
                <a:solidFill>
                  <a:srgbClr val="D6E8F7"/>
                </a:solidFill>
              </a:rPr>
              <a:t> Industry Project  |  Week 2 Results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Dexin Fu, Ronald Liu</a:t>
            </a:r>
            <a:endParaRPr sz="24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B8860B"/>
                </a:solidFill>
              </a:rPr>
              <a:t>SPGlobal</a:t>
            </a:r>
            <a:r>
              <a:rPr sz="1400" b="0" i="0" dirty="0">
                <a:solidFill>
                  <a:srgbClr val="B8860B"/>
                </a:solidFill>
              </a:rPr>
              <a:t> M&amp;A Database — US Acquisitions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560320" cy="12801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16,915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Total M&amp;A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560320" cy="12801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33074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2025</a:t>
            </a:r>
            <a:r>
              <a:rPr lang="en-US" sz="2800" b="1" dirty="0">
                <a:solidFill>
                  <a:srgbClr val="FFFFFF"/>
                </a:solidFill>
              </a:rPr>
              <a:t>.6</a:t>
            </a:r>
            <a:r>
              <a:rPr sz="2800" b="1" i="0" dirty="0">
                <a:solidFill>
                  <a:srgbClr val="FFFFFF"/>
                </a:solidFill>
              </a:rPr>
              <a:t>–2026</a:t>
            </a:r>
            <a:r>
              <a:rPr lang="en-US" sz="2800" b="1" i="0" dirty="0">
                <a:solidFill>
                  <a:srgbClr val="FFFFFF"/>
                </a:solidFill>
              </a:rPr>
              <a:t>.6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4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Date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2560320" cy="12801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261872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C000"/>
                </a:solidFill>
              </a:rPr>
              <a:t>1.2%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Target Ticker 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188720"/>
            <a:ext cx="2560320" cy="12801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2618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14,772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Completed Deals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37237"/>
            <a:ext cx="110642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57200" y="2782957"/>
            <a:ext cx="3009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782957"/>
            <a:ext cx="194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782957"/>
            <a:ext cx="4956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84709"/>
            <a:ext cx="11064240" cy="32918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457200" y="3130429"/>
            <a:ext cx="3009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target_name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130429"/>
            <a:ext cx="194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A4A"/>
                </a:solidFill>
              </a:rPr>
              <a:t>99.8%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130429"/>
            <a:ext cx="4956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Company name — used for news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13893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457200" y="3459613"/>
            <a:ext cx="3009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target_ticker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459613"/>
            <a:ext cx="194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1.2%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459613"/>
            <a:ext cx="4956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Stock ticker — very limited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43077"/>
            <a:ext cx="11064240" cy="32918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457200" y="3788797"/>
            <a:ext cx="3009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acquirer_ticker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788797"/>
            <a:ext cx="194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10.4%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3788797"/>
            <a:ext cx="4956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Slightly better acquirer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072261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457200" y="4117981"/>
            <a:ext cx="3009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deal_value_usd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117981"/>
            <a:ext cx="194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22.9%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4117981"/>
            <a:ext cx="4956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Deal size known for ~1 in 4 deals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401445"/>
            <a:ext cx="11064240" cy="32918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457200" y="4447164"/>
            <a:ext cx="3009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primary_industry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447164"/>
            <a:ext cx="194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A4A"/>
                </a:solidFill>
              </a:rPr>
              <a:t>85%+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4447164"/>
            <a:ext cx="4956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3A5C"/>
                </a:solidFill>
              </a:rPr>
              <a:t>Sector classification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End-to-End M&amp;A Prediction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8579" y="1645920"/>
            <a:ext cx="1600200" cy="1645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40291" y="1857547"/>
            <a:ext cx="160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SPGlobal
M&amp;A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579" y="2651760"/>
            <a:ext cx="16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D6E8F7"/>
                </a:solidFill>
              </a:rPr>
              <a:t>16,915 US deals
2025–2026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319" y="2253929"/>
            <a:ext cx="22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i="0" dirty="0">
                <a:solidFill>
                  <a:srgbClr val="B8860B"/>
                </a:solidFill>
              </a:rPr>
              <a:t>→</a:t>
            </a:r>
            <a:endParaRPr sz="3200" b="1" i="0" dirty="0">
              <a:solidFill>
                <a:srgbClr val="B8860B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60000" y="1659569"/>
            <a:ext cx="1600200" cy="1645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2437140" y="1862184"/>
            <a:ext cx="160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News
Scraping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0000" y="2665409"/>
            <a:ext cx="16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GDELT + SEC EDGAR
+ Google News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6704" y="2240677"/>
            <a:ext cx="22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2348" y="1646317"/>
            <a:ext cx="1600200" cy="1645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321200" y="1827858"/>
            <a:ext cx="160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VADER
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2348" y="2652157"/>
            <a:ext cx="16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Headline NLP
Compound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052" y="2240677"/>
            <a:ext cx="22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768" y="1646317"/>
            <a:ext cx="1600200" cy="1645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6300344" y="1844692"/>
            <a:ext cx="160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768" y="2652157"/>
            <a:ext cx="16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9 features per
event-window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0472" y="2240677"/>
            <a:ext cx="22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7828" y="1646317"/>
            <a:ext cx="1600200" cy="1645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166116" y="1979286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ML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828" y="2652157"/>
            <a:ext cx="16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Logistic Reg.
Random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1280" y="2240677"/>
            <a:ext cx="22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8860B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36924" y="1646317"/>
            <a:ext cx="1600200" cy="1645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10036924" y="1977629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6924" y="2652157"/>
            <a:ext cx="16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ROC-AUC
PR-AUC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News Sources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77639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381" y="3971825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GDELT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61688"/>
            <a:ext cx="3749039" cy="137610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4416552"/>
            <a:ext cx="35295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1A3A5C"/>
                </a:solidFill>
              </a:rPr>
              <a:t>Global Database of Events, Language, and Tone</a:t>
            </a:r>
          </a:p>
          <a:p>
            <a:pPr algn="l"/>
            <a:r>
              <a:rPr sz="1600" dirty="0">
                <a:solidFill>
                  <a:srgbClr val="1A3A5C"/>
                </a:solidFill>
              </a:rPr>
              <a:t>Date-filtered</a:t>
            </a:r>
            <a:endParaRPr lang="en-US" sz="1600" dirty="0">
              <a:solidFill>
                <a:srgbClr val="1A3A5C"/>
              </a:solidFill>
            </a:endParaRPr>
          </a:p>
          <a:p>
            <a:pPr algn="l"/>
            <a:r>
              <a:rPr sz="1600" dirty="0">
                <a:solidFill>
                  <a:srgbClr val="1A3A5C"/>
                </a:solidFill>
              </a:rPr>
              <a:t>English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977639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07408" y="3983212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SEC EDGAR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361688"/>
            <a:ext cx="3749039" cy="137610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07408" y="4416552"/>
            <a:ext cx="35295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1A3A5C"/>
                </a:solidFill>
              </a:rPr>
              <a:t>SEC filings: 8-K, SC-TO, 13D, 13G, DEFM14A</a:t>
            </a:r>
          </a:p>
          <a:p>
            <a:pPr algn="l"/>
            <a:r>
              <a:rPr sz="1600" dirty="0">
                <a:solidFill>
                  <a:srgbClr val="1A3A5C"/>
                </a:solidFill>
              </a:rPr>
              <a:t>Covers private M&amp;A targets</a:t>
            </a:r>
          </a:p>
          <a:p>
            <a:pPr algn="l"/>
            <a:r>
              <a:rPr sz="1600" dirty="0">
                <a:solidFill>
                  <a:srgbClr val="1A3A5C"/>
                </a:solidFill>
              </a:rPr>
              <a:t>Full-text search by company name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977639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88965" y="3983212"/>
            <a:ext cx="356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Google News RSS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361688"/>
            <a:ext cx="3749039" cy="137610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39327" y="4416552"/>
            <a:ext cx="35295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1A3A5C"/>
                </a:solidFill>
              </a:rPr>
              <a:t>Broad keyword news</a:t>
            </a:r>
          </a:p>
          <a:p>
            <a:pPr algn="l"/>
            <a:r>
              <a:rPr sz="1600" dirty="0">
                <a:solidFill>
                  <a:srgbClr val="1A3A5C"/>
                </a:solidFill>
              </a:rPr>
              <a:t>Recent articles only (no date filter)</a:t>
            </a:r>
          </a:p>
          <a:p>
            <a:pPr algn="l"/>
            <a:r>
              <a:rPr sz="1600" dirty="0">
                <a:solidFill>
                  <a:srgbClr val="1A3A5C"/>
                </a:solidFill>
              </a:rPr>
              <a:t>Used as supplementary source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DB1E147-182F-A38B-6C3E-718DF6CDC600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Scraping Results — 50 Events Sampled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560320" cy="1188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Events Sampled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560320" cy="11887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261872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105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Events with News (46%)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256032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261872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702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105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Total Articles Collected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188720"/>
            <a:ext cx="256032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261872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637 / 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1051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GDELT / SEC EDGAR Articles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42032"/>
            <a:ext cx="1143000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508" y="2742641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3A5C"/>
                </a:solidFill>
              </a:rPr>
              <a:t>Coverage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154680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A3A5C"/>
                </a:solidFill>
              </a:rPr>
              <a:t>•  54% of sampled events returned 0 articles — mostly private/small companies with minimal media presence</a:t>
            </a:r>
          </a:p>
          <a:p>
            <a:pPr algn="l"/>
            <a:r>
              <a:rPr dirty="0">
                <a:solidFill>
                  <a:srgbClr val="1A3A5C"/>
                </a:solidFill>
              </a:rPr>
              <a:t>•  GDELT coverage: strong for large public companies; drops off sharply for smaller or private targets</a:t>
            </a:r>
          </a:p>
          <a:p>
            <a:pPr algn="l"/>
            <a:r>
              <a:rPr dirty="0">
                <a:solidFill>
                  <a:srgbClr val="1A3A5C"/>
                </a:solidFill>
              </a:rPr>
              <a:t>•  SEC EDGAR: captures M&amp;A filings (13D, SC-TO, 8-K) — valuable supplement for private company M&amp;A</a:t>
            </a:r>
          </a:p>
          <a:p>
            <a:pPr algn="l"/>
            <a:r>
              <a:rPr dirty="0">
                <a:solidFill>
                  <a:srgbClr val="1A3A5C"/>
                </a:solidFill>
              </a:rPr>
              <a:t>•  Coverage correlates strongly with deal size: &gt;$1B deals likely have much higher news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508" y="4452067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A5C"/>
                </a:solidFill>
              </a:rPr>
              <a:t>Response Plans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508" y="4909267"/>
            <a:ext cx="566928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443948" y="4915231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Plan A: Coverage-Stratified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508" y="5293314"/>
            <a:ext cx="5669280" cy="90631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462236" y="5348178"/>
            <a:ext cx="5449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3A5C"/>
                </a:solidFill>
              </a:rPr>
              <a:t>Train/evaluate only on the 23 covered events
Removes noise from zero-coverage events
Reduced sample → model accuracy limited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4668" y="4909267"/>
            <a:ext cx="566928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296108" y="4915231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</a:rPr>
              <a:t>Plan B: Larger-Deal Filter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4668" y="5293315"/>
            <a:ext cx="5669280" cy="90525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314396" y="5348178"/>
            <a:ext cx="5449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3A5C"/>
                </a:solidFill>
              </a:rPr>
              <a:t>Filter: target_ticker exists OR deal_value ≥ $10M
Expected coverage: substantially higher
Trade-off: smaller but more informative universe</a:t>
            </a: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85F77424-F58F-24B6-60E3-9341A2CD2E1A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VADER Headline Scoring — 702 Articles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3A5C"/>
                </a:solidFill>
              </a:rPr>
              <a:t>VADER (Valence Aware Dictionary and </a:t>
            </a:r>
            <a:r>
              <a:rPr sz="1600" b="1" i="0" dirty="0" err="1">
                <a:solidFill>
                  <a:srgbClr val="1A3A5C"/>
                </a:solidFill>
              </a:rPr>
              <a:t>sEntiment</a:t>
            </a:r>
            <a:r>
              <a:rPr sz="1600" b="1" i="0" dirty="0">
                <a:solidFill>
                  <a:srgbClr val="1A3A5C"/>
                </a:solidFill>
              </a:rPr>
              <a:t> Reasoner)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77781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555555"/>
                </a:solidFill>
              </a:rPr>
              <a:t>•  Rule-based NLP tuned for short financial/news text  </a:t>
            </a:r>
            <a:endParaRPr lang="en-US" sz="1400" dirty="0">
              <a:solidFill>
                <a:srgbClr val="555555"/>
              </a:solidFill>
            </a:endParaRPr>
          </a:p>
          <a:p>
            <a:pPr algn="l"/>
            <a:r>
              <a:rPr sz="1400" dirty="0">
                <a:solidFill>
                  <a:srgbClr val="555555"/>
                </a:solidFill>
              </a:rPr>
              <a:t>•  Returns compound score ∈ [−1, +1]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216" y="4232367"/>
            <a:ext cx="114300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368" y="4287231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5688" y="4287231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Avg Compound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0248" y="428723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1928" y="4287231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Neg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2168" y="4287231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M&amp;A Keywords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216" y="4598127"/>
            <a:ext cx="11430000" cy="365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368" y="4662135"/>
            <a:ext cx="233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Pre-M&amp;A (label=1)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5688" y="4662135"/>
            <a:ext cx="1965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+0.0655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0248" y="4662135"/>
            <a:ext cx="178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0.0822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1928" y="4662135"/>
            <a:ext cx="169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0.0520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2168" y="4662135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1.46%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216" y="4982175"/>
            <a:ext cx="11430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395368" y="5046183"/>
            <a:ext cx="233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Baseline (label=0)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5688" y="5046183"/>
            <a:ext cx="1965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+0.1085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0248" y="5046183"/>
            <a:ext cx="178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0.0953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1928" y="5046183"/>
            <a:ext cx="169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0.0384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2168" y="5046183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2.79%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2216" y="5366223"/>
            <a:ext cx="11430000" cy="3657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395368" y="5430231"/>
            <a:ext cx="233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Difference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5688" y="5430231"/>
            <a:ext cx="1965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−0.0430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0248" y="5430231"/>
            <a:ext cx="178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−0.0131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1928" y="5430231"/>
            <a:ext cx="169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+0.0136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2168" y="5430231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−1.33%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2216" y="5753783"/>
            <a:ext cx="11430000" cy="5689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3656" y="578452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855000"/>
                </a:solidFill>
              </a:rPr>
              <a:t>Surprising Finding: Baseline articles are more positive and have more M&amp;A keywords than pre-announcement articles.
This is counter-intuitive — the 180-day shift may land in an earlier period of high M&amp;A sector activity.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21892EDB-1CFB-6C6D-B3DB-1D62F4FF57E9}"/>
              </a:ext>
            </a:extLst>
          </p:cNvPr>
          <p:cNvSpPr/>
          <p:nvPr/>
        </p:nvSpPr>
        <p:spPr>
          <a:xfrm>
            <a:off x="339636" y="2145355"/>
            <a:ext cx="11364684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8EFE870F-E18B-7996-C743-FF628DBEE65B}"/>
              </a:ext>
            </a:extLst>
          </p:cNvPr>
          <p:cNvSpPr txBox="1"/>
          <p:nvPr/>
        </p:nvSpPr>
        <p:spPr>
          <a:xfrm>
            <a:off x="412788" y="2200219"/>
            <a:ext cx="23183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Window</a:t>
            </a:r>
          </a:p>
        </p:txBody>
      </p:sp>
      <p:sp>
        <p:nvSpPr>
          <p:cNvPr id="38" name="TextBox 12">
            <a:extLst>
              <a:ext uri="{FF2B5EF4-FFF2-40B4-BE49-F238E27FC236}">
                <a16:creationId xmlns:a16="http://schemas.microsoft.com/office/drawing/2014/main" id="{7983EA0D-A5FD-6F78-F416-BF9CB9C2563E}"/>
              </a:ext>
            </a:extLst>
          </p:cNvPr>
          <p:cNvSpPr txBox="1"/>
          <p:nvPr/>
        </p:nvSpPr>
        <p:spPr>
          <a:xfrm>
            <a:off x="2973108" y="2200219"/>
            <a:ext cx="19547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300" b="1" i="0" dirty="0">
                <a:solidFill>
                  <a:srgbClr val="FFFFFF"/>
                </a:solidFill>
              </a:rPr>
              <a:t>Company</a:t>
            </a:r>
            <a:r>
              <a:rPr lang="zh-CN" altLang="en-US" sz="1300" b="1" i="0" dirty="0">
                <a:solidFill>
                  <a:srgbClr val="FFFFFF"/>
                </a:solidFill>
              </a:rPr>
              <a:t> </a:t>
            </a:r>
            <a:r>
              <a:rPr lang="en-US" altLang="zh-CN" sz="1300" b="1" dirty="0">
                <a:solidFill>
                  <a:srgbClr val="FFFFFF"/>
                </a:solidFill>
              </a:rPr>
              <a:t>Coverage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E40A2322-3515-8C1E-2379-403E08AC31DD}"/>
              </a:ext>
            </a:extLst>
          </p:cNvPr>
          <p:cNvSpPr txBox="1"/>
          <p:nvPr/>
        </p:nvSpPr>
        <p:spPr>
          <a:xfrm>
            <a:off x="5796862" y="2200219"/>
            <a:ext cx="168197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300" b="1" i="0" dirty="0">
                <a:solidFill>
                  <a:srgbClr val="FFFFFF"/>
                </a:solidFill>
              </a:rPr>
              <a:t>Date Coverage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C594CCE8-BFB0-006E-71A7-11C737CA0AB1}"/>
              </a:ext>
            </a:extLst>
          </p:cNvPr>
          <p:cNvSpPr/>
          <p:nvPr/>
        </p:nvSpPr>
        <p:spPr>
          <a:xfrm>
            <a:off x="339636" y="2511115"/>
            <a:ext cx="11364684" cy="365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BB063E73-2D33-BD1C-3E47-61290504289A}"/>
              </a:ext>
            </a:extLst>
          </p:cNvPr>
          <p:cNvSpPr txBox="1"/>
          <p:nvPr/>
        </p:nvSpPr>
        <p:spPr>
          <a:xfrm>
            <a:off x="412788" y="2575123"/>
            <a:ext cx="2318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Pre-M&amp;A (label=1)</a:t>
            </a:r>
          </a:p>
        </p:txBody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D8ACDF1B-9D54-83A8-3A6B-5FB657DE4430}"/>
              </a:ext>
            </a:extLst>
          </p:cNvPr>
          <p:cNvSpPr txBox="1"/>
          <p:nvPr/>
        </p:nvSpPr>
        <p:spPr>
          <a:xfrm>
            <a:off x="2973108" y="2575123"/>
            <a:ext cx="2318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1A3A5C"/>
                </a:solidFill>
              </a:rPr>
              <a:t>MA Event related companies</a:t>
            </a:r>
            <a:endParaRPr sz="1400" b="0" i="0" dirty="0">
              <a:solidFill>
                <a:srgbClr val="1A3A5C"/>
              </a:solidFill>
            </a:endParaRP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D8C18679-B29A-B02E-CFCB-82DF4E01D857}"/>
              </a:ext>
            </a:extLst>
          </p:cNvPr>
          <p:cNvSpPr txBox="1"/>
          <p:nvPr/>
        </p:nvSpPr>
        <p:spPr>
          <a:xfrm>
            <a:off x="5796862" y="2575123"/>
            <a:ext cx="5067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1A3A5C"/>
                </a:solidFill>
              </a:rPr>
              <a:t>90 days to 7 days before announcement date</a:t>
            </a:r>
            <a:endParaRPr sz="1400" b="0" i="0" dirty="0">
              <a:solidFill>
                <a:srgbClr val="1A3A5C"/>
              </a:solidFill>
            </a:endParaRPr>
          </a:p>
        </p:txBody>
      </p:sp>
      <p:sp>
        <p:nvSpPr>
          <p:cNvPr id="48" name="Rectangle 22">
            <a:extLst>
              <a:ext uri="{FF2B5EF4-FFF2-40B4-BE49-F238E27FC236}">
                <a16:creationId xmlns:a16="http://schemas.microsoft.com/office/drawing/2014/main" id="{A1B7D47E-BA79-91B0-256B-4C7EEB25EE61}"/>
              </a:ext>
            </a:extLst>
          </p:cNvPr>
          <p:cNvSpPr/>
          <p:nvPr/>
        </p:nvSpPr>
        <p:spPr>
          <a:xfrm>
            <a:off x="339636" y="2895163"/>
            <a:ext cx="11364684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0B012E26-2AB3-6288-C847-FB02FA5321DC}"/>
              </a:ext>
            </a:extLst>
          </p:cNvPr>
          <p:cNvSpPr txBox="1"/>
          <p:nvPr/>
        </p:nvSpPr>
        <p:spPr>
          <a:xfrm>
            <a:off x="412788" y="2959171"/>
            <a:ext cx="2318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</a:rPr>
              <a:t>Baseline (label=0)</a:t>
            </a:r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4256842B-EED5-547F-BD58-E8FFE29AC051}"/>
              </a:ext>
            </a:extLst>
          </p:cNvPr>
          <p:cNvSpPr txBox="1"/>
          <p:nvPr/>
        </p:nvSpPr>
        <p:spPr>
          <a:xfrm>
            <a:off x="2973108" y="2959171"/>
            <a:ext cx="1954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1A3A5C"/>
                </a:solidFill>
              </a:rPr>
              <a:t>Same </a:t>
            </a:r>
            <a:endParaRPr sz="1400" b="0" i="0" dirty="0">
              <a:solidFill>
                <a:srgbClr val="1A3A5C"/>
              </a:solidFill>
            </a:endParaRP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BF8292D6-55B9-9935-0100-B7E605103E59}"/>
              </a:ext>
            </a:extLst>
          </p:cNvPr>
          <p:cNvSpPr txBox="1"/>
          <p:nvPr/>
        </p:nvSpPr>
        <p:spPr>
          <a:xfrm>
            <a:off x="5796862" y="2959171"/>
            <a:ext cx="4196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b="0" i="0" dirty="0">
                <a:solidFill>
                  <a:srgbClr val="1A3A5C"/>
                </a:solidFill>
              </a:rPr>
              <a:t>180</a:t>
            </a:r>
            <a:r>
              <a:rPr lang="zh-CN" altLang="en-US" sz="1400" b="0" i="0" dirty="0">
                <a:solidFill>
                  <a:srgbClr val="1A3A5C"/>
                </a:solidFill>
              </a:rPr>
              <a:t> </a:t>
            </a:r>
            <a:r>
              <a:rPr lang="en-US" altLang="zh-CN" sz="1400" b="0" i="0" dirty="0">
                <a:solidFill>
                  <a:srgbClr val="1A3A5C"/>
                </a:solidFill>
              </a:rPr>
              <a:t>days</a:t>
            </a:r>
            <a:r>
              <a:rPr lang="zh-CN" altLang="en-US" sz="1400" b="0" i="0" dirty="0">
                <a:solidFill>
                  <a:srgbClr val="1A3A5C"/>
                </a:solidFill>
              </a:rPr>
              <a:t> </a:t>
            </a:r>
            <a:r>
              <a:rPr lang="en-US" altLang="zh-CN" sz="1400" b="0" i="0" dirty="0">
                <a:solidFill>
                  <a:srgbClr val="1A3A5C"/>
                </a:solidFill>
              </a:rPr>
              <a:t>to 90 days before announcement date</a:t>
            </a:r>
            <a:endParaRPr sz="1400" b="0" i="0" dirty="0">
              <a:solidFill>
                <a:srgbClr val="1A3A5C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CF096A0-676E-C67B-6EAD-013C3CC92FFA}"/>
              </a:ext>
            </a:extLst>
          </p:cNvPr>
          <p:cNvSpPr txBox="1"/>
          <p:nvPr/>
        </p:nvSpPr>
        <p:spPr>
          <a:xfrm>
            <a:off x="322216" y="3362073"/>
            <a:ext cx="84516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dirty="0">
                <a:solidFill>
                  <a:srgbClr val="1A3A5C"/>
                </a:solidFill>
              </a:rPr>
              <a:t>✦  7-day blackout before announcement — avoids leakage from deal rumor news</a:t>
            </a:r>
          </a:p>
          <a:p>
            <a:pPr algn="l"/>
            <a:r>
              <a:rPr lang="en-US" altLang="zh-CN" sz="1400" dirty="0">
                <a:solidFill>
                  <a:srgbClr val="1A3A5C"/>
                </a:solidFill>
              </a:rPr>
              <a:t>✦  180-day shift for negative — creates true 'quiet period' baseline for same company</a:t>
            </a:r>
          </a:p>
          <a:p>
            <a:pPr algn="l"/>
            <a:r>
              <a:rPr lang="en-US" altLang="zh-CN" sz="1400" dirty="0">
                <a:solidFill>
                  <a:srgbClr val="1A3A5C"/>
                </a:solidFill>
              </a:rPr>
              <a:t>✦  Same company as control — eliminates company-size and industry confounders</a:t>
            </a: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E7A28AE7-381D-6806-7A8C-B89DE7101386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9 News-Derived Features per Event-Window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4300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14366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09130"/>
            <a:ext cx="481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3259" y="1227419"/>
            <a:ext cx="5166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Economic 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81912"/>
            <a:ext cx="11430000" cy="4663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news_count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669946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Total articles in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3260" y="1664208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Volume signal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66543"/>
            <a:ext cx="114300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457200" y="2148839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avg_sentiment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154577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Mean VADER compound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3260" y="2148839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Overall tone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51176"/>
            <a:ext cx="11430000" cy="4663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457200" y="2633472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std_sentiment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639210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Sentiment volatility (std dev)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3260" y="2633472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Uncertainty / activist attention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35808"/>
            <a:ext cx="114300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57200" y="3118104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pos_ratio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123842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Fraction of articles with compound &gt; 0.05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3260" y="3118104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Proportion of bullish 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20440"/>
            <a:ext cx="11430000" cy="4663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457200" y="3602736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neg_ratio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608474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Fraction of articles with compound &lt; −0.05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3260" y="3602736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Proportion of negative coverage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05072"/>
            <a:ext cx="114300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457200" y="4087368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ma_keyword_count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126193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# articles mentioning: merger, acquire, bid, offer…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3260" y="4087368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Raw M&amp;A keyword frequency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89704"/>
            <a:ext cx="11430000" cy="4663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457200" y="4572000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ma_keyword_ratio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577738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Fraction of articles with M&amp;A keywords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3260" y="4572000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Proportional keyword signal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974336"/>
            <a:ext cx="114300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457200" y="5056631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max_sentiment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062369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Peak positive sentiment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3260" y="5056631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Best headline tone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458968"/>
            <a:ext cx="11430000" cy="4663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457200" y="5541264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E6DB4"/>
                </a:solidFill>
              </a:rPr>
              <a:t>min_sentiment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5547002"/>
            <a:ext cx="481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A5C"/>
                </a:solidFill>
              </a:rPr>
              <a:t>Peak negative sentiment 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3260" y="5541264"/>
            <a:ext cx="5166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Worst headline tone</a:t>
            </a:r>
          </a:p>
        </p:txBody>
      </p:sp>
      <p:sp>
        <p:nvSpPr>
          <p:cNvPr id="48" name="TextBox 6">
            <a:extLst>
              <a:ext uri="{FF2B5EF4-FFF2-40B4-BE49-F238E27FC236}">
                <a16:creationId xmlns:a16="http://schemas.microsoft.com/office/drawing/2014/main" id="{C1B403D9-6E50-5E43-FB6E-24955C94DA9E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Pre-M&amp;A vs Baseline — Mean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Feature Means by Class (all 100 rows including zero-coverage events)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11430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38912" y="1767972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5438" y="1767972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Baseline</a:t>
            </a:r>
            <a:r>
              <a:rPr lang="en-US" sz="1600" b="1" i="0" dirty="0">
                <a:solidFill>
                  <a:srgbClr val="FFFFFF"/>
                </a:solidFill>
              </a:rPr>
              <a:t> </a:t>
            </a:r>
            <a:r>
              <a:rPr sz="1600" b="1" i="0" dirty="0">
                <a:solidFill>
                  <a:srgbClr val="FFFFFF"/>
                </a:solidFill>
              </a:rPr>
              <a:t>(label=0)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4238" y="1767972"/>
            <a:ext cx="23612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Pre-M&amp;A</a:t>
            </a:r>
            <a:r>
              <a:rPr lang="en-US" sz="1600" b="1" i="0" dirty="0">
                <a:solidFill>
                  <a:srgbClr val="FFFFFF"/>
                </a:solidFill>
              </a:rPr>
              <a:t> </a:t>
            </a:r>
            <a:r>
              <a:rPr sz="1600" b="1" i="0" dirty="0">
                <a:solidFill>
                  <a:srgbClr val="FFFFFF"/>
                </a:solidFill>
              </a:rPr>
              <a:t>(label=1)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7358" y="1767972"/>
            <a:ext cx="1444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3278" y="1767972"/>
            <a:ext cx="1170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1437" y="1767971"/>
            <a:ext cx="3823508" cy="35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114300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38912" y="2286000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news_count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5438" y="2286000"/>
            <a:ext cx="1901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7.18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8558" y="2286000"/>
            <a:ext cx="1627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6.86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7358" y="2286000"/>
            <a:ext cx="1444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−0.32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3278" y="2286000"/>
            <a:ext cx="117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↓ pre-M&amp;A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1437" y="2286000"/>
            <a:ext cx="3823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Less coverage before deal?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70048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38912" y="2761488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avg_sentiment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5438" y="2761488"/>
            <a:ext cx="1901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8558" y="2761488"/>
            <a:ext cx="1627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7358" y="2761488"/>
            <a:ext cx="1444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7A4A"/>
                </a:solidFill>
              </a:rPr>
              <a:t>+0.006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3278" y="2761488"/>
            <a:ext cx="117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↑ pre-M&amp;A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1437" y="2761488"/>
            <a:ext cx="3823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Slightly more positive before deal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45536"/>
            <a:ext cx="114300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438912" y="3236976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std_sentiment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85438" y="3236976"/>
            <a:ext cx="1901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8558" y="3236976"/>
            <a:ext cx="1627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7358" y="3236976"/>
            <a:ext cx="1444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7A4A"/>
                </a:solidFill>
              </a:rPr>
              <a:t>+0.008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3278" y="3236976"/>
            <a:ext cx="117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↑ pre-M&amp;A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1437" y="3236975"/>
            <a:ext cx="3823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3A5C"/>
                </a:solidFill>
              </a:rPr>
              <a:t>More volatile sentiment before deal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621024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438912" y="3712464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pos_ratio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5438" y="3712464"/>
            <a:ext cx="1901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0.125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8558" y="3712464"/>
            <a:ext cx="1627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0.121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17358" y="3712464"/>
            <a:ext cx="1444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−0.004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3278" y="3712464"/>
            <a:ext cx="117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↓ pre-M&amp;A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1437" y="3712464"/>
            <a:ext cx="3823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Slightly less positive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096512"/>
            <a:ext cx="114300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438912" y="4187952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neg_ratio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85438" y="4187952"/>
            <a:ext cx="1901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0.033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88558" y="4187952"/>
            <a:ext cx="1627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7358" y="4187952"/>
            <a:ext cx="1444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7A4A"/>
                </a:solidFill>
              </a:rPr>
              <a:t>+0.003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3278" y="4187952"/>
            <a:ext cx="117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↑ pre-M&amp;A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1437" y="4187952"/>
            <a:ext cx="3823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Marginally more negative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438912" y="4663440"/>
            <a:ext cx="1901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DB4"/>
                </a:solidFill>
              </a:rPr>
              <a:t>ma_keyword_ratio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85438" y="4663440"/>
            <a:ext cx="1901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8558" y="4663440"/>
            <a:ext cx="1627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0.003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17358" y="4663440"/>
            <a:ext cx="1444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−0.004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3278" y="4663440"/>
            <a:ext cx="117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↓ pre-M&amp;A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1437" y="4663439"/>
            <a:ext cx="3823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3A5C"/>
                </a:solidFill>
              </a:rPr>
              <a:t>Counter-intuitive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020056"/>
            <a:ext cx="11430000" cy="7315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134952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855000"/>
                </a:solidFill>
              </a:rPr>
              <a:t>Key Observation: Differences are very small </a:t>
            </a:r>
            <a:r>
              <a:rPr lang="en-US" sz="1400" b="0" i="0" dirty="0">
                <a:solidFill>
                  <a:srgbClr val="855000"/>
                </a:solidFill>
              </a:rPr>
              <a:t>between pre-M&amp;A and baseline windows </a:t>
            </a:r>
            <a:r>
              <a:rPr sz="1400" b="0" i="0" dirty="0">
                <a:solidFill>
                  <a:srgbClr val="855000"/>
                </a:solidFill>
              </a:rPr>
              <a:t>and no feature reaches statistical significance (all p &gt; 0.40).
</a:t>
            </a:r>
            <a:r>
              <a:rPr lang="en-US" sz="1400" b="0" i="0" dirty="0">
                <a:solidFill>
                  <a:srgbClr val="855000"/>
                </a:solidFill>
              </a:rPr>
              <a:t> With only 50 events and 54% zero-coverage rate, signal-to-noise is </a:t>
            </a:r>
            <a:r>
              <a:rPr lang="en-US" altLang="zh-CN" sz="1400" dirty="0">
                <a:solidFill>
                  <a:srgbClr val="855000"/>
                </a:solidFill>
              </a:rPr>
              <a:t>too low for significance.</a:t>
            </a:r>
          </a:p>
        </p:txBody>
      </p:sp>
      <p:sp>
        <p:nvSpPr>
          <p:cNvPr id="60" name="TextBox 6">
            <a:extLst>
              <a:ext uri="{FF2B5EF4-FFF2-40B4-BE49-F238E27FC236}">
                <a16:creationId xmlns:a16="http://schemas.microsoft.com/office/drawing/2014/main" id="{9505F4C9-EB02-C4FC-D5E6-E1FABCD68499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8860B"/>
                </a:solidFill>
              </a:rPr>
              <a:t>Binary Classification — Plan A (Covered Events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Training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749039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Dataset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3749039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176272"/>
            <a:ext cx="35295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Covered events only (≥1 article in either window)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23 events → 46 rows (23 pos / 23 neg)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Zero-news events excluded — no discriminative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749039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Train / Test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21408"/>
            <a:ext cx="3749039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8" y="2176272"/>
            <a:ext cx="35295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Time-based split (realistic deployment simulation)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80% train: ≤ Dec 2025  →  38 rows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20% test:  &gt; Dec 2025  →  8 rows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50% positive class in both splits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3749039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7830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Cross-Validation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21408"/>
            <a:ext cx="3749039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7" y="2176272"/>
            <a:ext cx="35295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5-fold Stratified </a:t>
            </a:r>
            <a:r>
              <a:rPr sz="1400" dirty="0" err="1">
                <a:solidFill>
                  <a:srgbClr val="1A3A5C"/>
                </a:solidFill>
              </a:rPr>
              <a:t>KFold</a:t>
            </a:r>
            <a:r>
              <a:rPr sz="1400" dirty="0">
                <a:solidFill>
                  <a:srgbClr val="1A3A5C"/>
                </a:solidFill>
              </a:rPr>
              <a:t> on training set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Maintains class balance across folds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Primary metric: 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859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Models Evaluated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88820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345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868"/>
            <a:ext cx="3749039" cy="14447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4627732"/>
            <a:ext cx="35295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C=0.5 (light regularization)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Features standardized (</a:t>
            </a:r>
            <a:r>
              <a:rPr sz="1400" dirty="0" err="1">
                <a:solidFill>
                  <a:srgbClr val="1A3A5C"/>
                </a:solidFill>
              </a:rPr>
              <a:t>StandardScaler</a:t>
            </a:r>
            <a:r>
              <a:rPr sz="1400" dirty="0">
                <a:solidFill>
                  <a:srgbClr val="1A3A5C"/>
                </a:solidFill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Provides interpretable coefficients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Linear decision boundary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188820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42345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572868"/>
            <a:ext cx="3749039" cy="14447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07408" y="4627732"/>
            <a:ext cx="35295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300 trees, </a:t>
            </a:r>
            <a:r>
              <a:rPr sz="1400" dirty="0" err="1">
                <a:solidFill>
                  <a:srgbClr val="1A3A5C"/>
                </a:solidFill>
              </a:rPr>
              <a:t>max_depth</a:t>
            </a:r>
            <a:r>
              <a:rPr sz="1400" dirty="0">
                <a:solidFill>
                  <a:srgbClr val="1A3A5C"/>
                </a:solidFill>
              </a:rPr>
              <a:t>=5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3A5C"/>
                </a:solidFill>
              </a:rPr>
              <a:t>min_samples_leaf</a:t>
            </a:r>
            <a:r>
              <a:rPr sz="1400" dirty="0">
                <a:solidFill>
                  <a:srgbClr val="1A3A5C"/>
                </a:solidFill>
              </a:rPr>
              <a:t>=5 (regularized for small data)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3A5C"/>
                </a:solidFill>
              </a:rPr>
              <a:t>class_weight</a:t>
            </a:r>
            <a:r>
              <a:rPr sz="1400" dirty="0">
                <a:solidFill>
                  <a:srgbClr val="1A3A5C"/>
                </a:solidFill>
              </a:rPr>
              <a:t>='balanced'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Provides feature importance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188820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2345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Features Used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572868"/>
            <a:ext cx="3749039" cy="14447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39327" y="4627732"/>
            <a:ext cx="35295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A3A5C"/>
                </a:solidFill>
              </a:rPr>
              <a:t>9 sentiment features + industry encoding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1A3A5C"/>
                </a:solidFill>
              </a:rPr>
              <a:t>news_count</a:t>
            </a:r>
            <a:r>
              <a:rPr sz="1400" dirty="0">
                <a:solidFill>
                  <a:srgbClr val="1A3A5C"/>
                </a:solidFill>
              </a:rPr>
              <a:t>, </a:t>
            </a:r>
            <a:r>
              <a:rPr sz="1400" dirty="0" err="1">
                <a:solidFill>
                  <a:srgbClr val="1A3A5C"/>
                </a:solidFill>
              </a:rPr>
              <a:t>avg_sentiment</a:t>
            </a:r>
            <a:r>
              <a:rPr sz="1400" dirty="0">
                <a:solidFill>
                  <a:srgbClr val="1A3A5C"/>
                </a:solidFill>
              </a:rPr>
              <a:t>, </a:t>
            </a:r>
            <a:r>
              <a:rPr sz="1400" dirty="0" err="1">
                <a:solidFill>
                  <a:srgbClr val="1A3A5C"/>
                </a:solidFill>
              </a:rPr>
              <a:t>std_sentiment</a:t>
            </a:r>
            <a:r>
              <a:rPr lang="en-US" sz="1400" dirty="0">
                <a:solidFill>
                  <a:srgbClr val="1A3A5C"/>
                </a:solidFill>
              </a:rPr>
              <a:t>, </a:t>
            </a:r>
            <a:r>
              <a:rPr sz="1400" dirty="0">
                <a:solidFill>
                  <a:srgbClr val="1A3A5C"/>
                </a:solidFill>
              </a:rPr>
              <a:t>pos/neg ratio, MA keyword count/ratio</a:t>
            </a:r>
            <a:r>
              <a:rPr lang="en-US" sz="1400" dirty="0">
                <a:solidFill>
                  <a:srgbClr val="1A3A5C"/>
                </a:solidFill>
              </a:rPr>
              <a:t>, </a:t>
            </a:r>
            <a:r>
              <a:rPr sz="1400" dirty="0">
                <a:solidFill>
                  <a:srgbClr val="1A3A5C"/>
                </a:solidFill>
              </a:rPr>
              <a:t>max/min sentiment, </a:t>
            </a:r>
            <a:r>
              <a:rPr sz="1400" dirty="0" err="1">
                <a:solidFill>
                  <a:srgbClr val="1A3A5C"/>
                </a:solidFill>
              </a:rPr>
              <a:t>industry_enc</a:t>
            </a:r>
            <a:endParaRPr sz="1400" dirty="0">
              <a:solidFill>
                <a:srgbClr val="1A3A5C"/>
              </a:solidFill>
            </a:endParaRP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BE38DD87-453C-C0B8-BACC-FA81F6C8BFC6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Performance Metrics — Test Set (8 samples)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A3A5C"/>
                </a:solidFill>
              </a:rPr>
              <a:t>Performance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9670869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38912" y="1818855"/>
            <a:ext cx="2460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7202" y="1818855"/>
            <a:ext cx="252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5-Fold CV ROC-AUC</a:t>
            </a:r>
            <a:r>
              <a:rPr lang="en-US" sz="1400" b="1" i="0" dirty="0">
                <a:solidFill>
                  <a:srgbClr val="FFFFFF"/>
                </a:solidFill>
              </a:rPr>
              <a:t> </a:t>
            </a:r>
            <a:r>
              <a:rPr sz="1400" b="1" i="0" dirty="0">
                <a:solidFill>
                  <a:srgbClr val="FFFFFF"/>
                </a:solidFill>
              </a:rPr>
              <a:t>(Train)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1818855"/>
            <a:ext cx="1531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Test ROC-AUC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1820231"/>
            <a:ext cx="12997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 PR-AUC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21991"/>
            <a:ext cx="9670869" cy="43891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8913" y="2313432"/>
            <a:ext cx="2460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A3A5C"/>
                </a:solidFill>
              </a:rP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13432"/>
            <a:ext cx="1918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0.379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2313432"/>
            <a:ext cx="1531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0.250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313432"/>
            <a:ext cx="12997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0.433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79191"/>
            <a:ext cx="967086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3" y="2770632"/>
            <a:ext cx="2460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770632"/>
            <a:ext cx="1918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A5C"/>
                </a:solidFill>
              </a:rPr>
              <a:t>0.404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2770632"/>
            <a:ext cx="1531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0.063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2770632"/>
            <a:ext cx="12997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0.378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36391"/>
            <a:ext cx="9670869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3" y="3227832"/>
            <a:ext cx="24602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Random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227832"/>
            <a:ext cx="1918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A5C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3227832"/>
            <a:ext cx="153186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7A4A"/>
                </a:solidFill>
              </a:rPr>
              <a:t>0.500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3227832"/>
            <a:ext cx="129976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7A4A"/>
                </a:solidFill>
              </a:rPr>
              <a:t>0.500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00400"/>
            <a:ext cx="9670869" cy="9601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255264"/>
            <a:ext cx="93614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C0392B"/>
                </a:solidFill>
              </a:rPr>
              <a:t>Both models perform BELOW random chance on the test set (ROC-AUC &lt; 0.5).
Random Forest test AUC = 0.063 — effectively predicting the wrong class systematically.
This is a data limitation problem, not a modeling problem.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297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A3A5C"/>
                </a:solidFill>
              </a:rPr>
              <a:t>Root Cause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54880"/>
            <a:ext cx="95794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1A3A5C"/>
                </a:solidFill>
              </a:rPr>
              <a:t>1.  Tiny test set (8 samples) — any random variation dominates AUC calculations</a:t>
            </a:r>
          </a:p>
          <a:p>
            <a:pPr algn="l"/>
            <a:r>
              <a:rPr sz="1400" dirty="0">
                <a:solidFill>
                  <a:srgbClr val="1A3A5C"/>
                </a:solidFill>
              </a:rPr>
              <a:t>2.  54% zero-coverage — most events have identical feature vectors (all zeros)</a:t>
            </a:r>
          </a:p>
          <a:p>
            <a:pPr algn="l"/>
            <a:r>
              <a:rPr sz="1400" dirty="0">
                <a:solidFill>
                  <a:srgbClr val="1A3A5C"/>
                </a:solidFill>
              </a:rPr>
              <a:t>3.  No real signal detected — Mann-Whitney U confirmed no significant feature differences</a:t>
            </a:r>
          </a:p>
          <a:p>
            <a:pPr algn="l"/>
            <a:r>
              <a:rPr sz="1400" dirty="0">
                <a:solidFill>
                  <a:srgbClr val="1A3A5C"/>
                </a:solidFill>
              </a:rPr>
              <a:t>4.  Time-based split in 50-event sample is statistically fragile — test set too small for reliable AUC</a:t>
            </a:r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9A98E726-812D-54AE-2BDE-D559CDB93955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What the Models Actually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8051C457-2948-9B8E-DCD7-505152DB3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3599"/>
            <a:ext cx="7772400" cy="4971387"/>
          </a:xfrm>
          <a:prstGeom prst="rect">
            <a:avLst/>
          </a:prstGeom>
        </p:spPr>
      </p:pic>
      <p:sp>
        <p:nvSpPr>
          <p:cNvPr id="79" name="TextBox 6">
            <a:extLst>
              <a:ext uri="{FF2B5EF4-FFF2-40B4-BE49-F238E27FC236}">
                <a16:creationId xmlns:a16="http://schemas.microsoft.com/office/drawing/2014/main" id="{C363216B-248C-7953-E99C-8BD5108C6C3A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60B"/>
                </a:solidFill>
              </a:rPr>
              <a:t>Why Results Are Not Yet Meaningful — And How to Fix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  Sample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749039" cy="7772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50 events → 23 covered → 8 test samples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3749039" cy="9875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57200" y="2569464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7A4A"/>
                </a:solidFill>
              </a:rPr>
              <a:t>Fix: Need 500–2,000+ covered events for stable AUC
Scale overnight scrape to full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389120" y="1307592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Coverage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749039" cy="7772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54% of events return 0 news articles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514600"/>
            <a:ext cx="3749039" cy="9875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389120" y="2569464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7A4A"/>
                </a:solidFill>
              </a:rPr>
              <a:t>Fix: Apply Plan B filter: ticker OR deal_value≥$10M
Expected coverage: 60–80% on larger deals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8321040" y="1307592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Shallow NLP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749039" cy="7772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8321040" y="178308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VADER is bag-of-words, misses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514600"/>
            <a:ext cx="3749039" cy="9875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8321040" y="2569464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7A4A"/>
                </a:solidFill>
              </a:rPr>
              <a:t>Fix: Replace with </a:t>
            </a:r>
            <a:r>
              <a:rPr sz="1200" b="0" i="0" dirty="0" err="1">
                <a:solidFill>
                  <a:srgbClr val="1A7A4A"/>
                </a:solidFill>
              </a:rPr>
              <a:t>FinBERT</a:t>
            </a:r>
            <a:r>
              <a:rPr sz="1200" b="0" i="0" dirty="0">
                <a:solidFill>
                  <a:srgbClr val="1A7A4A"/>
                </a:solidFill>
              </a:rPr>
              <a:t> (financial BERT)
Captures 'rejected bid' vs 'accepted offer’</a:t>
            </a:r>
            <a:endParaRPr lang="en-US" sz="1200" b="0" i="0" dirty="0">
              <a:solidFill>
                <a:srgbClr val="1A7A4A"/>
              </a:solidFill>
            </a:endParaRPr>
          </a:p>
          <a:p>
            <a:pPr algn="l"/>
            <a:r>
              <a:rPr lang="en-US" sz="1200" b="1" i="0" dirty="0">
                <a:solidFill>
                  <a:srgbClr val="1A7A4A"/>
                </a:solidFill>
              </a:rPr>
              <a:t>Build the LLM Agent Models</a:t>
            </a:r>
            <a:endParaRPr sz="1200" b="1" i="0" dirty="0">
              <a:solidFill>
                <a:srgbClr val="1A7A4A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457200" y="3913632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7-Day Blackout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43400"/>
            <a:ext cx="3749039" cy="7772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May still leak deal rumor news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3749039" cy="9875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457200" y="5175504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7A4A"/>
                </a:solidFill>
              </a:rPr>
              <a:t>Fix: Test 14-day and 30-day blackout windows
Compare AUC to validate leakage control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84048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4389120" y="3913632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No Macro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343400"/>
            <a:ext cx="3749039" cy="7772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4389120" y="438912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M&amp;A activity is cyclical (rates, credit)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5120640"/>
            <a:ext cx="3749039" cy="9875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4389120" y="5175504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7A4A"/>
                </a:solidFill>
              </a:rPr>
              <a:t>Fix: Add sector M&amp;A wave indicator, Fed rate
Interest rate environment strongly affects M&amp;A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840480"/>
            <a:ext cx="3749039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8321040" y="3913632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Data Recency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343400"/>
            <a:ext cx="3749039" cy="7772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8321040" y="438912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Dataset covers 2025–2026 (future dates)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120640"/>
            <a:ext cx="3749039" cy="98755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8321040" y="5175504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7A4A"/>
                </a:solidFill>
              </a:rPr>
              <a:t>Fix: Verify data integrity, rerun on </a:t>
            </a:r>
            <a:r>
              <a:rPr lang="en-US" sz="1200" b="0" i="0" dirty="0">
                <a:solidFill>
                  <a:srgbClr val="1A7A4A"/>
                </a:solidFill>
              </a:rPr>
              <a:t>5-year basis</a:t>
            </a:r>
            <a:r>
              <a:rPr sz="1200" b="0" i="0" dirty="0">
                <a:solidFill>
                  <a:srgbClr val="1A7A4A"/>
                </a:solidFill>
              </a:rPr>
              <a:t>
Check for look-ahead bias in features</a:t>
            </a: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7E0F292F-2278-25BA-8137-A351F9EB1AC6}"/>
              </a:ext>
            </a:extLst>
          </p:cNvPr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BBBBB"/>
                </a:solidFill>
              </a:rPr>
              <a:t>M&amp;A Prediction   |  JPMorgan Industry Project  |  June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88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i="0" dirty="0">
                <a:solidFill>
                  <a:srgbClr val="FFFFFF"/>
                </a:solidFill>
              </a:rPr>
              <a:t>Thanks</a:t>
            </a:r>
            <a:endParaRPr sz="80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88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888888"/>
                </a:solidFill>
              </a:rPr>
              <a:t>JPMorgan Industry Project  |  June 2026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1586</Words>
  <Application>Microsoft Macintosh PowerPoint</Application>
  <PresentationFormat>自定义</PresentationFormat>
  <Paragraphs>290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Dexin Fu</cp:lastModifiedBy>
  <cp:revision>4</cp:revision>
  <dcterms:created xsi:type="dcterms:W3CDTF">2013-01-27T09:14:16Z</dcterms:created>
  <dcterms:modified xsi:type="dcterms:W3CDTF">2026-06-24T18:08:18Z</dcterms:modified>
  <cp:category/>
</cp:coreProperties>
</file>