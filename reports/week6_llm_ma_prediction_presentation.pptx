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02920"/>
            <a:ext cx="12191695" cy="4572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148840"/>
            <a:ext cx="10698480" cy="1737360"/>
          </a:xfrm>
          <a:prstGeom prst="rect">
            <a:avLst/>
          </a:prstGeom>
          <a:noFill/>
        </p:spPr>
        <p:txBody>
          <a:bodyPr wrap="square" anchor="t" lIns="45720" rIns="45720" tIns="22860" bIns="22860">
            <a:spAutoFit/>
          </a:bodyPr>
          <a:lstStyle/>
          <a:p>
            <a:pPr algn="l">
              <a:lnSpc>
                <a:spcPct val="100000"/>
              </a:lnSpc>
            </a:pPr>
            <a:r>
              <a:rPr sz="4200" b="1">
                <a:solidFill>
                  <a:srgbClr val="FFFFFF"/>
                </a:solidFill>
                <a:latin typeface="Calibri"/>
              </a:rPr>
              <a:t>Can an LLM Read M&amp;A Intent</a:t>
            </a:r>
          </a:p>
          <a:p>
            <a:pPr algn="l">
              <a:lnSpc>
                <a:spcPct val="100000"/>
              </a:lnSpc>
            </a:pPr>
            <a:r>
              <a:rPr sz="4200" b="1">
                <a:solidFill>
                  <a:srgbClr val="FFFFFF"/>
                </a:solidFill>
                <a:latin typeface="Calibri"/>
              </a:rPr>
              <a:t>from Free News?</a:t>
            </a:r>
          </a:p>
        </p:txBody>
      </p:sp>
      <p:sp>
        <p:nvSpPr>
          <p:cNvPr id="6" name="TextBox 5"/>
          <p:cNvSpPr txBox="1"/>
          <p:nvPr/>
        </p:nvSpPr>
        <p:spPr>
          <a:xfrm>
            <a:off x="731520" y="3977639"/>
            <a:ext cx="10698480" cy="457200"/>
          </a:xfrm>
          <a:prstGeom prst="rect">
            <a:avLst/>
          </a:prstGeom>
          <a:noFill/>
        </p:spPr>
        <p:txBody>
          <a:bodyPr wrap="square" anchor="t" lIns="45720" rIns="45720" tIns="22860" bIns="22860">
            <a:spAutoFit/>
          </a:bodyPr>
          <a:lstStyle/>
          <a:p>
            <a:pPr algn="l">
              <a:lnSpc>
                <a:spcPct val="100000"/>
              </a:lnSpc>
            </a:pPr>
            <a:r>
              <a:rPr sz="2000" b="0">
                <a:solidFill>
                  <a:srgbClr val="B8860B"/>
                </a:solidFill>
                <a:latin typeface="Calibri"/>
              </a:rPr>
              <a:t>J.P.Morgan Industry Project | Week 6 Results - GenAI Feature Extraction | July 2026</a:t>
            </a:r>
          </a:p>
        </p:txBody>
      </p:sp>
      <p:sp>
        <p:nvSpPr>
          <p:cNvPr id="7" name="TextBox 6"/>
          <p:cNvSpPr txBox="1"/>
          <p:nvPr/>
        </p:nvSpPr>
        <p:spPr>
          <a:xfrm>
            <a:off x="731520" y="4526280"/>
            <a:ext cx="10698480" cy="365760"/>
          </a:xfrm>
          <a:prstGeom prst="rect">
            <a:avLst/>
          </a:prstGeom>
          <a:noFill/>
        </p:spPr>
        <p:txBody>
          <a:bodyPr wrap="square" anchor="t" lIns="45720" rIns="45720" tIns="22860" bIns="22860">
            <a:spAutoFit/>
          </a:bodyPr>
          <a:lstStyle/>
          <a:p>
            <a:pPr algn="l">
              <a:lnSpc>
                <a:spcPct val="100000"/>
              </a:lnSpc>
            </a:pPr>
            <a:r>
              <a:rPr sz="1600" b="0">
                <a:solidFill>
                  <a:srgbClr val="D6E8F7"/>
                </a:solidFill>
                <a:latin typeface="Calibri"/>
              </a:rPr>
              <a:t>Dexin Fu, Ronald Liu</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521440" cy="566928"/>
          </a:xfrm>
          <a:prstGeom prst="rect">
            <a:avLst/>
          </a:prstGeom>
          <a:noFill/>
        </p:spPr>
        <p:txBody>
          <a:bodyPr wrap="square" anchor="t" lIns="45720" rIns="45720" tIns="22860" bIns="22860">
            <a:spAutoFit/>
          </a:bodyPr>
          <a:lstStyle/>
          <a:p>
            <a:pPr algn="l">
              <a:lnSpc>
                <a:spcPct val="100000"/>
              </a:lnSpc>
            </a:pPr>
            <a:r>
              <a:rPr sz="2800" b="1">
                <a:solidFill>
                  <a:srgbClr val="FFFFFF"/>
                </a:solidFill>
                <a:latin typeface="Calibri"/>
              </a:rPr>
              <a:t>Executive Summary</a:t>
            </a:r>
          </a:p>
        </p:txBody>
      </p:sp>
      <p:sp>
        <p:nvSpPr>
          <p:cNvPr id="4" name="TextBox 3"/>
          <p:cNvSpPr txBox="1"/>
          <p:nvPr/>
        </p:nvSpPr>
        <p:spPr>
          <a:xfrm>
            <a:off x="274320" y="640080"/>
            <a:ext cx="11521440" cy="365760"/>
          </a:xfrm>
          <a:prstGeom prst="rect">
            <a:avLst/>
          </a:prstGeom>
          <a:noFill/>
        </p:spPr>
        <p:txBody>
          <a:bodyPr wrap="square" anchor="t" lIns="45720" rIns="45720" tIns="22860" bIns="22860">
            <a:spAutoFit/>
          </a:bodyPr>
          <a:lstStyle/>
          <a:p>
            <a:pPr algn="l">
              <a:lnSpc>
                <a:spcPct val="100000"/>
              </a:lnSpc>
            </a:pPr>
            <a:r>
              <a:rPr sz="1400" b="0">
                <a:solidFill>
                  <a:srgbClr val="B8860B"/>
                </a:solidFill>
                <a:latin typeface="Calibri"/>
              </a:rPr>
              <a:t>One structured LLM call per event-window - scored, stress-tested, priced</a:t>
            </a:r>
          </a:p>
        </p:txBody>
      </p:sp>
      <p:sp>
        <p:nvSpPr>
          <p:cNvPr id="5" name="Rectangle 4"/>
          <p:cNvSpPr/>
          <p:nvPr/>
        </p:nvSpPr>
        <p:spPr>
          <a:xfrm>
            <a:off x="0" y="1051560"/>
            <a:ext cx="12191695" cy="36576"/>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325880"/>
            <a:ext cx="2697480" cy="118872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380744"/>
            <a:ext cx="2697480" cy="640080"/>
          </a:xfrm>
          <a:prstGeom prst="rect">
            <a:avLst/>
          </a:prstGeom>
          <a:noFill/>
        </p:spPr>
        <p:txBody>
          <a:bodyPr wrap="square" anchor="t" lIns="45720" rIns="45720" tIns="22860" bIns="22860">
            <a:spAutoFit/>
          </a:bodyPr>
          <a:lstStyle/>
          <a:p>
            <a:pPr algn="ctr">
              <a:lnSpc>
                <a:spcPct val="100000"/>
              </a:lnSpc>
            </a:pPr>
            <a:r>
              <a:rPr sz="2800" b="1">
                <a:solidFill>
                  <a:srgbClr val="FFFFFF"/>
                </a:solidFill>
                <a:latin typeface="Calibri"/>
              </a:rPr>
              <a:t>250</a:t>
            </a:r>
          </a:p>
        </p:txBody>
      </p:sp>
      <p:sp>
        <p:nvSpPr>
          <p:cNvPr id="8" name="TextBox 7"/>
          <p:cNvSpPr txBox="1"/>
          <p:nvPr/>
        </p:nvSpPr>
        <p:spPr>
          <a:xfrm>
            <a:off x="365760" y="2039112"/>
            <a:ext cx="2697480" cy="457200"/>
          </a:xfrm>
          <a:prstGeom prst="rect">
            <a:avLst/>
          </a:prstGeom>
          <a:noFill/>
        </p:spPr>
        <p:txBody>
          <a:bodyPr wrap="square" anchor="t" lIns="45720" rIns="45720" tIns="22860" bIns="22860">
            <a:spAutoFit/>
          </a:bodyPr>
          <a:lstStyle/>
          <a:p>
            <a:pPr algn="ctr">
              <a:lnSpc>
                <a:spcPct val="100000"/>
              </a:lnSpc>
            </a:pPr>
            <a:r>
              <a:rPr sz="1150" b="0">
                <a:solidFill>
                  <a:srgbClr val="D6E8F7"/>
                </a:solidFill>
                <a:latin typeface="Calibri"/>
              </a:rPr>
              <a:t>LLM calls scored OK</a:t>
            </a:r>
          </a:p>
        </p:txBody>
      </p:sp>
      <p:sp>
        <p:nvSpPr>
          <p:cNvPr id="9" name="Rectangle 8"/>
          <p:cNvSpPr/>
          <p:nvPr/>
        </p:nvSpPr>
        <p:spPr>
          <a:xfrm>
            <a:off x="3273552" y="1325880"/>
            <a:ext cx="2697480" cy="118872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73552" y="1380744"/>
            <a:ext cx="2697480" cy="640080"/>
          </a:xfrm>
          <a:prstGeom prst="rect">
            <a:avLst/>
          </a:prstGeom>
          <a:noFill/>
        </p:spPr>
        <p:txBody>
          <a:bodyPr wrap="square" anchor="t" lIns="45720" rIns="45720" tIns="22860" bIns="22860">
            <a:spAutoFit/>
          </a:bodyPr>
          <a:lstStyle/>
          <a:p>
            <a:pPr algn="ctr">
              <a:lnSpc>
                <a:spcPct val="100000"/>
              </a:lnSpc>
            </a:pPr>
            <a:r>
              <a:rPr sz="2800" b="1">
                <a:solidFill>
                  <a:srgbClr val="FFC000"/>
                </a:solidFill>
                <a:latin typeface="Calibri"/>
              </a:rPr>
              <a:t>$0.36</a:t>
            </a:r>
          </a:p>
        </p:txBody>
      </p:sp>
      <p:sp>
        <p:nvSpPr>
          <p:cNvPr id="11" name="TextBox 10"/>
          <p:cNvSpPr txBox="1"/>
          <p:nvPr/>
        </p:nvSpPr>
        <p:spPr>
          <a:xfrm>
            <a:off x="3273552" y="2039112"/>
            <a:ext cx="2697480" cy="457200"/>
          </a:xfrm>
          <a:prstGeom prst="rect">
            <a:avLst/>
          </a:prstGeom>
          <a:noFill/>
        </p:spPr>
        <p:txBody>
          <a:bodyPr wrap="square" anchor="t" lIns="45720" rIns="45720" tIns="22860" bIns="22860">
            <a:spAutoFit/>
          </a:bodyPr>
          <a:lstStyle/>
          <a:p>
            <a:pPr algn="ctr">
              <a:lnSpc>
                <a:spcPct val="100000"/>
              </a:lnSpc>
            </a:pPr>
            <a:r>
              <a:rPr sz="1150" b="0">
                <a:solidFill>
                  <a:srgbClr val="D6E8F7"/>
                </a:solidFill>
                <a:latin typeface="Calibri"/>
              </a:rPr>
              <a:t>total API spend (budget $100)</a:t>
            </a:r>
          </a:p>
        </p:txBody>
      </p:sp>
      <p:sp>
        <p:nvSpPr>
          <p:cNvPr id="12" name="Rectangle 11"/>
          <p:cNvSpPr/>
          <p:nvPr/>
        </p:nvSpPr>
        <p:spPr>
          <a:xfrm>
            <a:off x="6181344" y="1325880"/>
            <a:ext cx="2697480" cy="118872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1344" y="1380744"/>
            <a:ext cx="2697480" cy="640080"/>
          </a:xfrm>
          <a:prstGeom prst="rect">
            <a:avLst/>
          </a:prstGeom>
          <a:noFill/>
        </p:spPr>
        <p:txBody>
          <a:bodyPr wrap="square" anchor="t" lIns="45720" rIns="45720" tIns="22860" bIns="22860">
            <a:spAutoFit/>
          </a:bodyPr>
          <a:lstStyle/>
          <a:p>
            <a:pPr algn="ctr">
              <a:lnSpc>
                <a:spcPct val="100000"/>
              </a:lnSpc>
            </a:pPr>
            <a:r>
              <a:rPr sz="2800" b="1">
                <a:solidFill>
                  <a:srgbClr val="FFC000"/>
                </a:solidFill>
                <a:latin typeface="Calibri"/>
              </a:rPr>
              <a:t>0.45 vs 0.44</a:t>
            </a:r>
          </a:p>
        </p:txBody>
      </p:sp>
      <p:sp>
        <p:nvSpPr>
          <p:cNvPr id="14" name="TextBox 13"/>
          <p:cNvSpPr txBox="1"/>
          <p:nvPr/>
        </p:nvSpPr>
        <p:spPr>
          <a:xfrm>
            <a:off x="6181344" y="2039112"/>
            <a:ext cx="2697480" cy="457200"/>
          </a:xfrm>
          <a:prstGeom prst="rect">
            <a:avLst/>
          </a:prstGeom>
          <a:noFill/>
        </p:spPr>
        <p:txBody>
          <a:bodyPr wrap="square" anchor="t" lIns="45720" rIns="45720" tIns="22860" bIns="22860">
            <a:spAutoFit/>
          </a:bodyPr>
          <a:lstStyle/>
          <a:p>
            <a:pPr algn="ctr">
              <a:lnSpc>
                <a:spcPct val="100000"/>
              </a:lnSpc>
            </a:pPr>
            <a:r>
              <a:rPr sz="1150" b="0">
                <a:solidFill>
                  <a:srgbClr val="D6E8F7"/>
                </a:solidFill>
                <a:latin typeface="Calibri"/>
              </a:rPr>
              <a:t>test AUC: LLM-combined vs classic</a:t>
            </a:r>
          </a:p>
        </p:txBody>
      </p:sp>
      <p:sp>
        <p:nvSpPr>
          <p:cNvPr id="15" name="Rectangle 14"/>
          <p:cNvSpPr/>
          <p:nvPr/>
        </p:nvSpPr>
        <p:spPr>
          <a:xfrm>
            <a:off x="9089136" y="1325880"/>
            <a:ext cx="2697480" cy="1188720"/>
          </a:xfrm>
          <a:prstGeom prst="rect">
            <a:avLst/>
          </a:prstGeom>
          <a:solidFill>
            <a:srgbClr val="1A7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89136" y="1380744"/>
            <a:ext cx="2697480" cy="640080"/>
          </a:xfrm>
          <a:prstGeom prst="rect">
            <a:avLst/>
          </a:prstGeom>
          <a:noFill/>
        </p:spPr>
        <p:txBody>
          <a:bodyPr wrap="square" anchor="t" lIns="45720" rIns="45720" tIns="22860" bIns="22860">
            <a:spAutoFit/>
          </a:bodyPr>
          <a:lstStyle/>
          <a:p>
            <a:pPr algn="ctr">
              <a:lnSpc>
                <a:spcPct val="100000"/>
              </a:lnSpc>
            </a:pPr>
            <a:r>
              <a:rPr sz="2800" b="1">
                <a:solidFill>
                  <a:srgbClr val="FFFFFF"/>
                </a:solidFill>
                <a:latin typeface="Calibri"/>
              </a:rPr>
              <a:t>52%</a:t>
            </a:r>
          </a:p>
        </p:txBody>
      </p:sp>
      <p:sp>
        <p:nvSpPr>
          <p:cNvPr id="17" name="TextBox 16"/>
          <p:cNvSpPr txBox="1"/>
          <p:nvPr/>
        </p:nvSpPr>
        <p:spPr>
          <a:xfrm>
            <a:off x="9089136" y="2039112"/>
            <a:ext cx="2697480" cy="457200"/>
          </a:xfrm>
          <a:prstGeom prst="rect">
            <a:avLst/>
          </a:prstGeom>
          <a:noFill/>
        </p:spPr>
        <p:txBody>
          <a:bodyPr wrap="square" anchor="t" lIns="45720" rIns="45720" tIns="22860" bIns="22860">
            <a:spAutoFit/>
          </a:bodyPr>
          <a:lstStyle/>
          <a:p>
            <a:pPr algn="ctr">
              <a:lnSpc>
                <a:spcPct val="100000"/>
              </a:lnSpc>
            </a:pPr>
            <a:r>
              <a:rPr sz="1150" b="0">
                <a:solidFill>
                  <a:srgbClr val="D6E8F7"/>
                </a:solidFill>
                <a:latin typeface="Calibri"/>
              </a:rPr>
              <a:t>memorization-probe accuracy (chance 50%)</a:t>
            </a:r>
          </a:p>
        </p:txBody>
      </p:sp>
      <p:sp>
        <p:nvSpPr>
          <p:cNvPr id="18" name="Rectangle 17"/>
          <p:cNvSpPr/>
          <p:nvPr/>
        </p:nvSpPr>
        <p:spPr>
          <a:xfrm>
            <a:off x="365760" y="2505456"/>
            <a:ext cx="11091672" cy="438912"/>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2505456"/>
            <a:ext cx="10972800" cy="438912"/>
          </a:xfrm>
          <a:prstGeom prst="rect">
            <a:avLst/>
          </a:prstGeom>
          <a:noFill/>
        </p:spPr>
        <p:txBody>
          <a:bodyPr wrap="square" anchor="ctr" lIns="45720" rIns="45720" tIns="22860" bIns="22860">
            <a:spAutoFit/>
          </a:bodyPr>
          <a:lstStyle/>
          <a:p>
            <a:pPr algn="l">
              <a:lnSpc>
                <a:spcPct val="105000"/>
              </a:lnSpc>
            </a:pPr>
            <a:r>
              <a:rPr sz="1050" b="1">
                <a:solidFill>
                  <a:srgbClr val="1A3A5C"/>
                </a:solidFill>
                <a:latin typeface="Calibri"/>
              </a:rPr>
              <a:t>Honest scope: 65 windows from 37 LLM-scored events (13 in test). Small sample - read every AUC as DIRECTIONAL (bootstrap 95% CIs), not settled.</a:t>
            </a:r>
          </a:p>
          <a:p>
            <a:pPr algn="l">
              <a:lnSpc>
                <a:spcPct val="105000"/>
              </a:lnSpc>
            </a:pPr>
            <a:r>
              <a:rPr sz="1050" b="1">
                <a:solidFill>
                  <a:srgbClr val="1A3A5C"/>
                </a:solidFill>
                <a:latin typeface="Calibri"/>
              </a:rPr>
              <a:t>⚠  LLM scaling currently paused on an OpenAI API credit issue we're resolving - the pipeline is built and runs; only the paid LLM step is gated (~$0.39 spent, 37 of 126 scraped events scored).</a:t>
            </a:r>
          </a:p>
        </p:txBody>
      </p:sp>
      <p:sp>
        <p:nvSpPr>
          <p:cNvPr id="20" name="Rectangle 19"/>
          <p:cNvSpPr/>
          <p:nvPr/>
        </p:nvSpPr>
        <p:spPr>
          <a:xfrm>
            <a:off x="365760" y="2999232"/>
            <a:ext cx="3703320" cy="384048"/>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3008376"/>
            <a:ext cx="3703320" cy="365760"/>
          </a:xfrm>
          <a:prstGeom prst="rect">
            <a:avLst/>
          </a:prstGeom>
          <a:noFill/>
        </p:spPr>
        <p:txBody>
          <a:bodyPr wrap="square" anchor="t" lIns="45720" rIns="45720" tIns="22860" bIns="22860">
            <a:spAutoFit/>
          </a:bodyPr>
          <a:lstStyle/>
          <a:p>
            <a:pPr algn="ctr">
              <a:lnSpc>
                <a:spcPct val="100000"/>
              </a:lnSpc>
            </a:pPr>
            <a:r>
              <a:rPr sz="1500" b="1">
                <a:solidFill>
                  <a:srgbClr val="FFFFFF"/>
                </a:solidFill>
                <a:latin typeface="Calibri"/>
              </a:rPr>
              <a:t>1 · Built</a:t>
            </a:r>
          </a:p>
        </p:txBody>
      </p:sp>
      <p:sp>
        <p:nvSpPr>
          <p:cNvPr id="22" name="Rectangle 21"/>
          <p:cNvSpPr/>
          <p:nvPr/>
        </p:nvSpPr>
        <p:spPr>
          <a:xfrm>
            <a:off x="365760" y="3383280"/>
            <a:ext cx="3703320" cy="224028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8912" y="3474720"/>
            <a:ext cx="3557016" cy="2057400"/>
          </a:xfrm>
          <a:prstGeom prst="rect">
            <a:avLst/>
          </a:prstGeom>
          <a:noFill/>
        </p:spPr>
        <p:txBody>
          <a:bodyPr wrap="square" anchor="t" lIns="45720" rIns="45720" tIns="22860" bIns="22860">
            <a:spAutoFit/>
          </a:bodyPr>
          <a:lstStyle/>
          <a:p>
            <a:pPr algn="l">
              <a:lnSpc>
                <a:spcPct val="100000"/>
              </a:lnSpc>
            </a:pPr>
            <a:r>
              <a:rPr sz="1250" b="0">
                <a:solidFill>
                  <a:srgbClr val="1A3A5C"/>
                </a:solidFill>
                <a:latin typeface="Calibri"/>
              </a:rPr>
              <a:t>• extract_llm_features.py - parallel,</a:t>
            </a:r>
          </a:p>
          <a:p>
            <a:pPr algn="l">
              <a:lnSpc>
                <a:spcPct val="100000"/>
              </a:lnSpc>
            </a:pPr>
            <a:r>
              <a:rPr sz="1250" b="0">
                <a:solidFill>
                  <a:srgbClr val="1A3A5C"/>
                </a:solidFill>
                <a:latin typeface="Calibri"/>
              </a:rPr>
              <a:t>  resumable, $-capped scorer</a:t>
            </a:r>
          </a:p>
          <a:p>
            <a:pPr algn="l">
              <a:lnSpc>
                <a:spcPct val="100000"/>
              </a:lnSpc>
            </a:pPr>
            <a:r>
              <a:rPr sz="1250" b="0">
                <a:solidFill>
                  <a:srgbClr val="1A3A5C"/>
                </a:solidFill>
                <a:latin typeface="Calibri"/>
              </a:rPr>
              <a:t>• 17 strict-JSON fields per window</a:t>
            </a:r>
          </a:p>
          <a:p>
            <a:pPr algn="l">
              <a:lnSpc>
                <a:spcPct val="100000"/>
              </a:lnSpc>
            </a:pPr>
            <a:r>
              <a:rPr sz="1250" b="0">
                <a:solidFill>
                  <a:srgbClr val="1A3A5C"/>
                </a:solidFill>
                <a:latin typeface="Calibri"/>
              </a:rPr>
              <a:t>  (rumor, strategic review, activist,</a:t>
            </a:r>
          </a:p>
          <a:p>
            <a:pPr algn="l">
              <a:lnSpc>
                <a:spcPct val="100000"/>
              </a:lnSpc>
            </a:pPr>
            <a:r>
              <a:rPr sz="1250" b="0">
                <a:solidFill>
                  <a:srgbClr val="1A3A5C"/>
                </a:solidFill>
                <a:latin typeface="Calibri"/>
              </a:rPr>
              <a:t>  distress, likelihood 0-100, …)</a:t>
            </a:r>
          </a:p>
          <a:p>
            <a:pPr algn="l">
              <a:lnSpc>
                <a:spcPct val="100000"/>
              </a:lnSpc>
            </a:pPr>
            <a:r>
              <a:rPr sz="1250" b="0">
                <a:solidFill>
                  <a:srgbClr val="1A3A5C"/>
                </a:solidFill>
                <a:latin typeface="Calibri"/>
              </a:rPr>
              <a:t>• gpt-5-mini everywhere + gpt-5 subset</a:t>
            </a:r>
          </a:p>
        </p:txBody>
      </p:sp>
      <p:sp>
        <p:nvSpPr>
          <p:cNvPr id="24" name="Rectangle 23"/>
          <p:cNvSpPr/>
          <p:nvPr/>
        </p:nvSpPr>
        <p:spPr>
          <a:xfrm>
            <a:off x="4242816" y="2999232"/>
            <a:ext cx="3703320" cy="384048"/>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242816" y="3008376"/>
            <a:ext cx="3703320" cy="365760"/>
          </a:xfrm>
          <a:prstGeom prst="rect">
            <a:avLst/>
          </a:prstGeom>
          <a:noFill/>
        </p:spPr>
        <p:txBody>
          <a:bodyPr wrap="square" anchor="t" lIns="45720" rIns="45720" tIns="22860" bIns="22860">
            <a:spAutoFit/>
          </a:bodyPr>
          <a:lstStyle/>
          <a:p>
            <a:pPr algn="ctr">
              <a:lnSpc>
                <a:spcPct val="100000"/>
              </a:lnSpc>
            </a:pPr>
            <a:r>
              <a:rPr sz="1500" b="1">
                <a:solidFill>
                  <a:srgbClr val="FFFFFF"/>
                </a:solidFill>
                <a:latin typeface="Calibri"/>
              </a:rPr>
              <a:t>2 · Measured</a:t>
            </a:r>
          </a:p>
        </p:txBody>
      </p:sp>
      <p:sp>
        <p:nvSpPr>
          <p:cNvPr id="26" name="Rectangle 25"/>
          <p:cNvSpPr/>
          <p:nvPr/>
        </p:nvSpPr>
        <p:spPr>
          <a:xfrm>
            <a:off x="4242816" y="3383280"/>
            <a:ext cx="3703320" cy="224028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15968" y="3474720"/>
            <a:ext cx="3557016" cy="2057400"/>
          </a:xfrm>
          <a:prstGeom prst="rect">
            <a:avLst/>
          </a:prstGeom>
          <a:noFill/>
        </p:spPr>
        <p:txBody>
          <a:bodyPr wrap="square" anchor="t" lIns="45720" rIns="45720" tIns="22860" bIns="22860">
            <a:spAutoFit/>
          </a:bodyPr>
          <a:lstStyle/>
          <a:p>
            <a:pPr algn="l">
              <a:lnSpc>
                <a:spcPct val="100000"/>
              </a:lnSpc>
            </a:pPr>
            <a:r>
              <a:rPr sz="1250" b="0">
                <a:solidFill>
                  <a:srgbClr val="1A3A5C"/>
                </a:solidFill>
                <a:latin typeface="Calibri"/>
              </a:rPr>
              <a:t>• A (classic NLP) vs B (LLM) vs C (both)</a:t>
            </a:r>
          </a:p>
          <a:p>
            <a:pPr algn="l">
              <a:lnSpc>
                <a:spcPct val="100000"/>
              </a:lnSpc>
            </a:pPr>
            <a:r>
              <a:rPr sz="1250" b="0">
                <a:solidFill>
                  <a:srgbClr val="1A3A5C"/>
                </a:solidFill>
                <a:latin typeface="Calibri"/>
              </a:rPr>
              <a:t>  on identical rows, split &amp; models</a:t>
            </a:r>
          </a:p>
          <a:p>
            <a:pPr algn="l">
              <a:lnSpc>
                <a:spcPct val="100000"/>
              </a:lnSpc>
            </a:pPr>
            <a:r>
              <a:rPr sz="1250" b="0">
                <a:solidFill>
                  <a:srgbClr val="1A3A5C"/>
                </a:solidFill>
                <a:latin typeface="Calibri"/>
              </a:rPr>
              <a:t>• Bootstrap 95% CI on every AUC</a:t>
            </a:r>
          </a:p>
          <a:p>
            <a:pPr algn="l">
              <a:lnSpc>
                <a:spcPct val="100000"/>
              </a:lnSpc>
            </a:pPr>
            <a:r>
              <a:rPr sz="1250" b="0">
                <a:solidFill>
                  <a:srgbClr val="1A3A5C"/>
                </a:solidFill>
                <a:latin typeface="Calibri"/>
              </a:rPr>
              <a:t>• Per-company pre-vs-baseline check</a:t>
            </a:r>
          </a:p>
          <a:p>
            <a:pPr algn="l">
              <a:lnSpc>
                <a:spcPct val="100000"/>
              </a:lnSpc>
            </a:pPr>
            <a:r>
              <a:rPr sz="1250" b="0">
                <a:solidFill>
                  <a:srgbClr val="1A3A5C"/>
                </a:solidFill>
                <a:latin typeface="Calibri"/>
              </a:rPr>
              <a:t>  on each field</a:t>
            </a:r>
          </a:p>
          <a:p>
            <a:pPr algn="l">
              <a:lnSpc>
                <a:spcPct val="100000"/>
              </a:lnSpc>
            </a:pPr>
            <a:r>
              <a:rPr sz="1250" b="0">
                <a:solidFill>
                  <a:srgbClr val="1A3A5C"/>
                </a:solidFill>
                <a:latin typeface="Calibri"/>
              </a:rPr>
              <a:t>• Detection (day-0) replication</a:t>
            </a:r>
          </a:p>
        </p:txBody>
      </p:sp>
      <p:sp>
        <p:nvSpPr>
          <p:cNvPr id="28" name="Rectangle 27"/>
          <p:cNvSpPr/>
          <p:nvPr/>
        </p:nvSpPr>
        <p:spPr>
          <a:xfrm>
            <a:off x="8119872" y="2999232"/>
            <a:ext cx="3703320" cy="384048"/>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119872" y="3008376"/>
            <a:ext cx="3703320" cy="365760"/>
          </a:xfrm>
          <a:prstGeom prst="rect">
            <a:avLst/>
          </a:prstGeom>
          <a:noFill/>
        </p:spPr>
        <p:txBody>
          <a:bodyPr wrap="square" anchor="t" lIns="45720" rIns="45720" tIns="22860" bIns="22860">
            <a:spAutoFit/>
          </a:bodyPr>
          <a:lstStyle/>
          <a:p>
            <a:pPr algn="ctr">
              <a:lnSpc>
                <a:spcPct val="100000"/>
              </a:lnSpc>
            </a:pPr>
            <a:r>
              <a:rPr sz="1500" b="1">
                <a:solidFill>
                  <a:srgbClr val="FFFFFF"/>
                </a:solidFill>
                <a:latin typeface="Calibri"/>
              </a:rPr>
              <a:t>3 · Stress-tested</a:t>
            </a:r>
          </a:p>
        </p:txBody>
      </p:sp>
      <p:sp>
        <p:nvSpPr>
          <p:cNvPr id="30" name="Rectangle 29"/>
          <p:cNvSpPr/>
          <p:nvPr/>
        </p:nvSpPr>
        <p:spPr>
          <a:xfrm>
            <a:off x="8119872" y="3383280"/>
            <a:ext cx="3703320" cy="224028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93024" y="3474720"/>
            <a:ext cx="3557016" cy="2057400"/>
          </a:xfrm>
          <a:prstGeom prst="rect">
            <a:avLst/>
          </a:prstGeom>
          <a:noFill/>
        </p:spPr>
        <p:txBody>
          <a:bodyPr wrap="square" anchor="t" lIns="45720" rIns="45720" tIns="22860" bIns="22860">
            <a:spAutoFit/>
          </a:bodyPr>
          <a:lstStyle/>
          <a:p>
            <a:pPr algn="l">
              <a:lnSpc>
                <a:spcPct val="100000"/>
              </a:lnSpc>
            </a:pPr>
            <a:r>
              <a:rPr sz="1250" b="0">
                <a:solidFill>
                  <a:srgbClr val="1A3A5C"/>
                </a:solidFill>
                <a:latin typeface="Calibri"/>
              </a:rPr>
              <a:t>• Memorization probe (no news shown)</a:t>
            </a:r>
          </a:p>
          <a:p>
            <a:pPr algn="l">
              <a:lnSpc>
                <a:spcPct val="100000"/>
              </a:lnSpc>
            </a:pPr>
            <a:r>
              <a:rPr sz="1250" b="0">
                <a:solidFill>
                  <a:srgbClr val="1A3A5C"/>
                </a:solidFill>
                <a:latin typeface="Calibri"/>
              </a:rPr>
              <a:t>• Company-name masking A/B</a:t>
            </a:r>
          </a:p>
          <a:p>
            <a:pPr algn="l">
              <a:lnSpc>
                <a:spcPct val="100000"/>
              </a:lnSpc>
            </a:pPr>
            <a:r>
              <a:rPr sz="1250" b="0">
                <a:solidFill>
                  <a:srgbClr val="1A3A5C"/>
                </a:solidFill>
                <a:latin typeface="Calibri"/>
              </a:rPr>
              <a:t>• Re-run consistency (are scores stable?)</a:t>
            </a:r>
          </a:p>
          <a:p>
            <a:pPr algn="l">
              <a:lnSpc>
                <a:spcPct val="100000"/>
              </a:lnSpc>
            </a:pPr>
            <a:r>
              <a:rPr sz="1250" b="0">
                <a:solidFill>
                  <a:srgbClr val="1A3A5C"/>
                </a:solidFill>
                <a:latin typeface="Calibri"/>
              </a:rPr>
              <a:t>• Post-training-cutoff holdout</a:t>
            </a:r>
          </a:p>
          <a:p>
            <a:pPr algn="l">
              <a:lnSpc>
                <a:spcPct val="100000"/>
              </a:lnSpc>
            </a:pPr>
            <a:r>
              <a:rPr sz="1250" b="0">
                <a:solidFill>
                  <a:srgbClr val="1A3A5C"/>
                </a:solidFill>
                <a:latin typeface="Calibri"/>
              </a:rPr>
              <a:t>  (2025-26 deals the model can't know)</a:t>
            </a:r>
          </a:p>
        </p:txBody>
      </p:sp>
      <p:sp>
        <p:nvSpPr>
          <p:cNvPr id="32" name="Rectangle 31"/>
          <p:cNvSpPr/>
          <p:nvPr/>
        </p:nvSpPr>
        <p:spPr>
          <a:xfrm>
            <a:off x="365760" y="5806440"/>
            <a:ext cx="11457432" cy="6858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8640" y="5843016"/>
            <a:ext cx="11064240" cy="612648"/>
          </a:xfrm>
          <a:prstGeom prst="rect">
            <a:avLst/>
          </a:prstGeom>
          <a:noFill/>
        </p:spPr>
        <p:txBody>
          <a:bodyPr wrap="square" anchor="ctr" lIns="45720" rIns="45720" tIns="22860" bIns="22860">
            <a:spAutoFit/>
          </a:bodyPr>
          <a:lstStyle/>
          <a:p>
            <a:pPr algn="l">
              <a:lnSpc>
                <a:spcPct val="100000"/>
              </a:lnSpc>
            </a:pPr>
            <a:r>
              <a:rPr sz="1400" b="1">
                <a:solidFill>
                  <a:srgbClr val="1A3A5C"/>
                </a:solidFill>
                <a:latin typeface="Calibri"/>
              </a:rPr>
              <a:t>NULL RESULT, CONSISTENT WITH WEEK 4: even a generative LLM reading the same free-news corpus cannot separate pre-announcement windows from quiet periods. This strengthens the week-4 conclusion - the information is absent</a:t>
            </a:r>
          </a:p>
        </p:txBody>
      </p:sp>
      <p:sp>
        <p:nvSpPr>
          <p:cNvPr id="34" name="Rectangle 33"/>
          <p:cNvSpPr/>
          <p:nvPr/>
        </p:nvSpPr>
        <p:spPr>
          <a:xfrm>
            <a:off x="0" y="6583680"/>
            <a:ext cx="12191695" cy="27432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74320" y="6574536"/>
            <a:ext cx="8229600" cy="256032"/>
          </a:xfrm>
          <a:prstGeom prst="rect">
            <a:avLst/>
          </a:prstGeom>
          <a:noFill/>
        </p:spPr>
        <p:txBody>
          <a:bodyPr wrap="square" anchor="t" lIns="45720" rIns="45720" tIns="22860" bIns="22860">
            <a:spAutoFit/>
          </a:bodyPr>
          <a:lstStyle/>
          <a:p>
            <a:pPr algn="l">
              <a:lnSpc>
                <a:spcPct val="100000"/>
              </a:lnSpc>
            </a:pPr>
            <a:r>
              <a:rPr sz="900" b="0">
                <a:solidFill>
                  <a:srgbClr val="BBBBBB"/>
                </a:solidFill>
                <a:latin typeface="Calibri"/>
              </a:rPr>
              <a:t>M&amp;A Prediction | JPMorgan Industry Project | July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521440" cy="566928"/>
          </a:xfrm>
          <a:prstGeom prst="rect">
            <a:avLst/>
          </a:prstGeom>
          <a:noFill/>
        </p:spPr>
        <p:txBody>
          <a:bodyPr wrap="square" anchor="t" lIns="45720" rIns="45720" tIns="22860" bIns="22860">
            <a:spAutoFit/>
          </a:bodyPr>
          <a:lstStyle/>
          <a:p>
            <a:pPr algn="l">
              <a:lnSpc>
                <a:spcPct val="100000"/>
              </a:lnSpc>
            </a:pPr>
            <a:r>
              <a:rPr sz="2800" b="1">
                <a:solidFill>
                  <a:srgbClr val="FFFFFF"/>
                </a:solidFill>
                <a:latin typeface="Calibri"/>
              </a:rPr>
              <a:t>Approach: One Structured Call per Event-Window</a:t>
            </a:r>
          </a:p>
        </p:txBody>
      </p:sp>
      <p:sp>
        <p:nvSpPr>
          <p:cNvPr id="4" name="TextBox 3"/>
          <p:cNvSpPr txBox="1"/>
          <p:nvPr/>
        </p:nvSpPr>
        <p:spPr>
          <a:xfrm>
            <a:off x="274320" y="640080"/>
            <a:ext cx="11521440" cy="365760"/>
          </a:xfrm>
          <a:prstGeom prst="rect">
            <a:avLst/>
          </a:prstGeom>
          <a:noFill/>
        </p:spPr>
        <p:txBody>
          <a:bodyPr wrap="square" anchor="t" lIns="45720" rIns="45720" tIns="22860" bIns="22860">
            <a:spAutoFit/>
          </a:bodyPr>
          <a:lstStyle/>
          <a:p>
            <a:pPr algn="l">
              <a:lnSpc>
                <a:spcPct val="100000"/>
              </a:lnSpc>
            </a:pPr>
            <a:r>
              <a:rPr sz="1400" b="0">
                <a:solidFill>
                  <a:srgbClr val="B8860B"/>
                </a:solidFill>
                <a:latin typeface="Calibri"/>
              </a:rPr>
              <a:t>Same corpus, same windows, same models as week 3-4 - only the featurizer changes</a:t>
            </a:r>
          </a:p>
        </p:txBody>
      </p:sp>
      <p:sp>
        <p:nvSpPr>
          <p:cNvPr id="5" name="Rectangle 4"/>
          <p:cNvSpPr/>
          <p:nvPr/>
        </p:nvSpPr>
        <p:spPr>
          <a:xfrm>
            <a:off x="0" y="1051560"/>
            <a:ext cx="12191695" cy="36576"/>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371600"/>
            <a:ext cx="1755648" cy="86868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389888"/>
            <a:ext cx="1755648" cy="832104"/>
          </a:xfrm>
          <a:prstGeom prst="rect">
            <a:avLst/>
          </a:prstGeom>
          <a:noFill/>
        </p:spPr>
        <p:txBody>
          <a:bodyPr wrap="square" anchor="ctr" lIns="45720" rIns="45720" tIns="22860" bIns="22860">
            <a:spAutoFit/>
          </a:bodyPr>
          <a:lstStyle/>
          <a:p>
            <a:pPr algn="ctr">
              <a:lnSpc>
                <a:spcPct val="100000"/>
              </a:lnSpc>
            </a:pPr>
            <a:r>
              <a:rPr sz="1100" b="1">
                <a:solidFill>
                  <a:srgbClr val="FFFFFF"/>
                </a:solidFill>
                <a:latin typeface="Calibri"/>
              </a:rPr>
              <a:t>Cached headlines</a:t>
            </a:r>
          </a:p>
          <a:p>
            <a:pPr algn="ctr">
              <a:lnSpc>
                <a:spcPct val="100000"/>
              </a:lnSpc>
            </a:pPr>
            <a:r>
              <a:rPr sz="1100" b="1">
                <a:solidFill>
                  <a:srgbClr val="FFFFFF"/>
                </a:solidFill>
                <a:latin typeface="Calibri"/>
              </a:rPr>
              <a:t>(GDELT + EDGAR)</a:t>
            </a:r>
          </a:p>
        </p:txBody>
      </p:sp>
      <p:sp>
        <p:nvSpPr>
          <p:cNvPr id="8" name="TextBox 7"/>
          <p:cNvSpPr txBox="1"/>
          <p:nvPr/>
        </p:nvSpPr>
        <p:spPr>
          <a:xfrm>
            <a:off x="2093976" y="1481328"/>
            <a:ext cx="219456" cy="457200"/>
          </a:xfrm>
          <a:prstGeom prst="rect">
            <a:avLst/>
          </a:prstGeom>
          <a:noFill/>
        </p:spPr>
        <p:txBody>
          <a:bodyPr wrap="square" anchor="t" lIns="45720" rIns="45720" tIns="22860" bIns="22860">
            <a:spAutoFit/>
          </a:bodyPr>
          <a:lstStyle/>
          <a:p>
            <a:pPr algn="l">
              <a:lnSpc>
                <a:spcPct val="100000"/>
              </a:lnSpc>
            </a:pPr>
            <a:r>
              <a:rPr sz="2000" b="1">
                <a:solidFill>
                  <a:srgbClr val="B8860B"/>
                </a:solidFill>
                <a:latin typeface="Calibri"/>
              </a:rPr>
              <a:t>→</a:t>
            </a:r>
          </a:p>
        </p:txBody>
      </p:sp>
      <p:sp>
        <p:nvSpPr>
          <p:cNvPr id="9" name="Rectangle 8"/>
          <p:cNvSpPr/>
          <p:nvPr/>
        </p:nvSpPr>
        <p:spPr>
          <a:xfrm>
            <a:off x="2249424" y="1371600"/>
            <a:ext cx="1755648" cy="86868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49424" y="1389888"/>
            <a:ext cx="1755648" cy="832104"/>
          </a:xfrm>
          <a:prstGeom prst="rect">
            <a:avLst/>
          </a:prstGeom>
          <a:noFill/>
        </p:spPr>
        <p:txBody>
          <a:bodyPr wrap="square" anchor="ctr" lIns="45720" rIns="45720" tIns="22860" bIns="22860">
            <a:spAutoFit/>
          </a:bodyPr>
          <a:lstStyle/>
          <a:p>
            <a:pPr algn="ctr">
              <a:lnSpc>
                <a:spcPct val="100000"/>
              </a:lnSpc>
            </a:pPr>
            <a:r>
              <a:rPr sz="1100" b="1">
                <a:solidFill>
                  <a:srgbClr val="FFFFFF"/>
                </a:solidFill>
                <a:latin typeface="Calibri"/>
              </a:rPr>
              <a:t>Spam filter</a:t>
            </a:r>
          </a:p>
          <a:p>
            <a:pPr algn="ctr">
              <a:lnSpc>
                <a:spcPct val="100000"/>
              </a:lnSpc>
            </a:pPr>
            <a:r>
              <a:rPr sz="1100" b="1">
                <a:solidFill>
                  <a:srgbClr val="FFFFFF"/>
                </a:solidFill>
                <a:latin typeface="Calibri"/>
              </a:rPr>
              <a:t>(same as week4)</a:t>
            </a:r>
          </a:p>
        </p:txBody>
      </p:sp>
      <p:sp>
        <p:nvSpPr>
          <p:cNvPr id="11" name="TextBox 10"/>
          <p:cNvSpPr txBox="1"/>
          <p:nvPr/>
        </p:nvSpPr>
        <p:spPr>
          <a:xfrm>
            <a:off x="3977640" y="1481328"/>
            <a:ext cx="219456" cy="457200"/>
          </a:xfrm>
          <a:prstGeom prst="rect">
            <a:avLst/>
          </a:prstGeom>
          <a:noFill/>
        </p:spPr>
        <p:txBody>
          <a:bodyPr wrap="square" anchor="t" lIns="45720" rIns="45720" tIns="22860" bIns="22860">
            <a:spAutoFit/>
          </a:bodyPr>
          <a:lstStyle/>
          <a:p>
            <a:pPr algn="l">
              <a:lnSpc>
                <a:spcPct val="100000"/>
              </a:lnSpc>
            </a:pPr>
            <a:r>
              <a:rPr sz="2000" b="1">
                <a:solidFill>
                  <a:srgbClr val="B8860B"/>
                </a:solidFill>
                <a:latin typeface="Calibri"/>
              </a:rPr>
              <a:t>→</a:t>
            </a:r>
          </a:p>
        </p:txBody>
      </p:sp>
      <p:sp>
        <p:nvSpPr>
          <p:cNvPr id="12" name="Rectangle 11"/>
          <p:cNvSpPr/>
          <p:nvPr/>
        </p:nvSpPr>
        <p:spPr>
          <a:xfrm>
            <a:off x="4133088" y="1371600"/>
            <a:ext cx="1755648" cy="86868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33088" y="1389888"/>
            <a:ext cx="1755648" cy="832104"/>
          </a:xfrm>
          <a:prstGeom prst="rect">
            <a:avLst/>
          </a:prstGeom>
          <a:noFill/>
        </p:spPr>
        <p:txBody>
          <a:bodyPr wrap="square" anchor="ctr" lIns="45720" rIns="45720" tIns="22860" bIns="22860">
            <a:spAutoFit/>
          </a:bodyPr>
          <a:lstStyle/>
          <a:p>
            <a:pPr algn="ctr">
              <a:lnSpc>
                <a:spcPct val="100000"/>
              </a:lnSpc>
            </a:pPr>
            <a:r>
              <a:rPr sz="1100" b="1">
                <a:solidFill>
                  <a:srgbClr val="FFFFFF"/>
                </a:solidFill>
                <a:latin typeface="Calibri"/>
              </a:rPr>
              <a:t>1 LLM call / window</a:t>
            </a:r>
          </a:p>
          <a:p>
            <a:pPr algn="ctr">
              <a:lnSpc>
                <a:spcPct val="100000"/>
              </a:lnSpc>
            </a:pPr>
            <a:r>
              <a:rPr sz="1100" b="1">
                <a:solidFill>
                  <a:srgbClr val="FFFFFF"/>
                </a:solidFill>
                <a:latin typeface="Calibri"/>
              </a:rPr>
              <a:t>strict JSON schema</a:t>
            </a:r>
          </a:p>
        </p:txBody>
      </p:sp>
      <p:sp>
        <p:nvSpPr>
          <p:cNvPr id="14" name="TextBox 13"/>
          <p:cNvSpPr txBox="1"/>
          <p:nvPr/>
        </p:nvSpPr>
        <p:spPr>
          <a:xfrm>
            <a:off x="5861304" y="1481328"/>
            <a:ext cx="219456" cy="457200"/>
          </a:xfrm>
          <a:prstGeom prst="rect">
            <a:avLst/>
          </a:prstGeom>
          <a:noFill/>
        </p:spPr>
        <p:txBody>
          <a:bodyPr wrap="square" anchor="t" lIns="45720" rIns="45720" tIns="22860" bIns="22860">
            <a:spAutoFit/>
          </a:bodyPr>
          <a:lstStyle/>
          <a:p>
            <a:pPr algn="l">
              <a:lnSpc>
                <a:spcPct val="100000"/>
              </a:lnSpc>
            </a:pPr>
            <a:r>
              <a:rPr sz="2000" b="1">
                <a:solidFill>
                  <a:srgbClr val="B8860B"/>
                </a:solidFill>
                <a:latin typeface="Calibri"/>
              </a:rPr>
              <a:t>→</a:t>
            </a:r>
          </a:p>
        </p:txBody>
      </p:sp>
      <p:sp>
        <p:nvSpPr>
          <p:cNvPr id="15" name="Rectangle 14"/>
          <p:cNvSpPr/>
          <p:nvPr/>
        </p:nvSpPr>
        <p:spPr>
          <a:xfrm>
            <a:off x="6016752" y="1371600"/>
            <a:ext cx="1755648" cy="86868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16752" y="1389888"/>
            <a:ext cx="1755648" cy="832104"/>
          </a:xfrm>
          <a:prstGeom prst="rect">
            <a:avLst/>
          </a:prstGeom>
          <a:noFill/>
        </p:spPr>
        <p:txBody>
          <a:bodyPr wrap="square" anchor="ctr" lIns="45720" rIns="45720" tIns="22860" bIns="22860">
            <a:spAutoFit/>
          </a:bodyPr>
          <a:lstStyle/>
          <a:p>
            <a:pPr algn="ctr">
              <a:lnSpc>
                <a:spcPct val="100000"/>
              </a:lnSpc>
            </a:pPr>
            <a:r>
              <a:rPr sz="1100" b="1">
                <a:solidFill>
                  <a:srgbClr val="FFFFFF"/>
                </a:solidFill>
                <a:latin typeface="Calibri"/>
              </a:rPr>
              <a:t>17 fields parsed</a:t>
            </a:r>
          </a:p>
          <a:p>
            <a:pPr algn="ctr">
              <a:lnSpc>
                <a:spcPct val="100000"/>
              </a:lnSpc>
            </a:pPr>
            <a:r>
              <a:rPr sz="1100" b="1">
                <a:solidFill>
                  <a:srgbClr val="FFFFFF"/>
                </a:solidFill>
                <a:latin typeface="Calibri"/>
              </a:rPr>
              <a:t>+ clamped</a:t>
            </a:r>
          </a:p>
        </p:txBody>
      </p:sp>
      <p:sp>
        <p:nvSpPr>
          <p:cNvPr id="17" name="TextBox 16"/>
          <p:cNvSpPr txBox="1"/>
          <p:nvPr/>
        </p:nvSpPr>
        <p:spPr>
          <a:xfrm>
            <a:off x="7744968" y="1481328"/>
            <a:ext cx="219456" cy="457200"/>
          </a:xfrm>
          <a:prstGeom prst="rect">
            <a:avLst/>
          </a:prstGeom>
          <a:noFill/>
        </p:spPr>
        <p:txBody>
          <a:bodyPr wrap="square" anchor="t" lIns="45720" rIns="45720" tIns="22860" bIns="22860">
            <a:spAutoFit/>
          </a:bodyPr>
          <a:lstStyle/>
          <a:p>
            <a:pPr algn="l">
              <a:lnSpc>
                <a:spcPct val="100000"/>
              </a:lnSpc>
            </a:pPr>
            <a:r>
              <a:rPr sz="2000" b="1">
                <a:solidFill>
                  <a:srgbClr val="B8860B"/>
                </a:solidFill>
                <a:latin typeface="Calibri"/>
              </a:rPr>
              <a:t>→</a:t>
            </a:r>
          </a:p>
        </p:txBody>
      </p:sp>
      <p:sp>
        <p:nvSpPr>
          <p:cNvPr id="18" name="Rectangle 17"/>
          <p:cNvSpPr/>
          <p:nvPr/>
        </p:nvSpPr>
        <p:spPr>
          <a:xfrm>
            <a:off x="7900416" y="1371600"/>
            <a:ext cx="1755648" cy="86868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0416" y="1389888"/>
            <a:ext cx="1755648" cy="832104"/>
          </a:xfrm>
          <a:prstGeom prst="rect">
            <a:avLst/>
          </a:prstGeom>
          <a:noFill/>
        </p:spPr>
        <p:txBody>
          <a:bodyPr wrap="square" anchor="ctr" lIns="45720" rIns="45720" tIns="22860" bIns="22860">
            <a:spAutoFit/>
          </a:bodyPr>
          <a:lstStyle/>
          <a:p>
            <a:pPr algn="ctr">
              <a:lnSpc>
                <a:spcPct val="100000"/>
              </a:lnSpc>
            </a:pPr>
            <a:r>
              <a:rPr sz="1100" b="1">
                <a:solidFill>
                  <a:srgbClr val="FFFFFF"/>
                </a:solidFill>
                <a:latin typeface="Calibri"/>
              </a:rPr>
              <a:t>Feature sets</a:t>
            </a:r>
          </a:p>
          <a:p>
            <a:pPr algn="ctr">
              <a:lnSpc>
                <a:spcPct val="100000"/>
              </a:lnSpc>
            </a:pPr>
            <a:r>
              <a:rPr sz="1100" b="1">
                <a:solidFill>
                  <a:srgbClr val="FFFFFF"/>
                </a:solidFill>
                <a:latin typeface="Calibri"/>
              </a:rPr>
              <a:t>A / B / C</a:t>
            </a:r>
          </a:p>
        </p:txBody>
      </p:sp>
      <p:sp>
        <p:nvSpPr>
          <p:cNvPr id="20" name="TextBox 19"/>
          <p:cNvSpPr txBox="1"/>
          <p:nvPr/>
        </p:nvSpPr>
        <p:spPr>
          <a:xfrm>
            <a:off x="9628632" y="1481328"/>
            <a:ext cx="219456" cy="457200"/>
          </a:xfrm>
          <a:prstGeom prst="rect">
            <a:avLst/>
          </a:prstGeom>
          <a:noFill/>
        </p:spPr>
        <p:txBody>
          <a:bodyPr wrap="square" anchor="t" lIns="45720" rIns="45720" tIns="22860" bIns="22860">
            <a:spAutoFit/>
          </a:bodyPr>
          <a:lstStyle/>
          <a:p>
            <a:pPr algn="l">
              <a:lnSpc>
                <a:spcPct val="100000"/>
              </a:lnSpc>
            </a:pPr>
            <a:r>
              <a:rPr sz="2000" b="1">
                <a:solidFill>
                  <a:srgbClr val="B8860B"/>
                </a:solidFill>
                <a:latin typeface="Calibri"/>
              </a:rPr>
              <a:t>→</a:t>
            </a:r>
          </a:p>
        </p:txBody>
      </p:sp>
      <p:sp>
        <p:nvSpPr>
          <p:cNvPr id="21" name="Rectangle 20"/>
          <p:cNvSpPr/>
          <p:nvPr/>
        </p:nvSpPr>
        <p:spPr>
          <a:xfrm>
            <a:off x="9784080" y="1371600"/>
            <a:ext cx="1755648" cy="86868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84080" y="1389888"/>
            <a:ext cx="1755648" cy="832104"/>
          </a:xfrm>
          <a:prstGeom prst="rect">
            <a:avLst/>
          </a:prstGeom>
          <a:noFill/>
        </p:spPr>
        <p:txBody>
          <a:bodyPr wrap="square" anchor="ctr" lIns="45720" rIns="45720" tIns="22860" bIns="22860">
            <a:spAutoFit/>
          </a:bodyPr>
          <a:lstStyle/>
          <a:p>
            <a:pPr algn="ctr">
              <a:lnSpc>
                <a:spcPct val="100000"/>
              </a:lnSpc>
            </a:pPr>
            <a:r>
              <a:rPr sz="1100" b="1">
                <a:solidFill>
                  <a:srgbClr val="FFFFFF"/>
                </a:solidFill>
                <a:latin typeface="Calibri"/>
              </a:rPr>
              <a:t>Same 3 models</a:t>
            </a:r>
          </a:p>
          <a:p>
            <a:pPr algn="ctr">
              <a:lnSpc>
                <a:spcPct val="100000"/>
              </a:lnSpc>
            </a:pPr>
            <a:r>
              <a:rPr sz="1100" b="1">
                <a:solidFill>
                  <a:srgbClr val="FFFFFF"/>
                </a:solidFill>
                <a:latin typeface="Calibri"/>
              </a:rPr>
              <a:t>+ bootstrap CIs</a:t>
            </a:r>
          </a:p>
        </p:txBody>
      </p:sp>
      <p:sp>
        <p:nvSpPr>
          <p:cNvPr id="23" name="Rectangle 22"/>
          <p:cNvSpPr/>
          <p:nvPr/>
        </p:nvSpPr>
        <p:spPr>
          <a:xfrm>
            <a:off x="365760" y="2606040"/>
            <a:ext cx="6309360" cy="347472"/>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80" y="2606040"/>
            <a:ext cx="6217920" cy="347472"/>
          </a:xfrm>
          <a:prstGeom prst="rect">
            <a:avLst/>
          </a:prstGeom>
          <a:noFill/>
        </p:spPr>
        <p:txBody>
          <a:bodyPr wrap="square" anchor="ctr" lIns="45720" rIns="45720" tIns="22860" bIns="22860">
            <a:spAutoFit/>
          </a:bodyPr>
          <a:lstStyle/>
          <a:p>
            <a:pPr algn="l">
              <a:lnSpc>
                <a:spcPct val="100000"/>
              </a:lnSpc>
            </a:pPr>
            <a:r>
              <a:rPr sz="1250" b="1">
                <a:solidFill>
                  <a:srgbClr val="FFFFFF"/>
                </a:solidFill>
                <a:latin typeface="Calibri"/>
              </a:rPr>
              <a:t>Signal fields (0-10 each)</a:t>
            </a:r>
          </a:p>
        </p:txBody>
      </p:sp>
      <p:sp>
        <p:nvSpPr>
          <p:cNvPr id="25" name="Rectangle 24"/>
          <p:cNvSpPr/>
          <p:nvPr/>
        </p:nvSpPr>
        <p:spPr>
          <a:xfrm>
            <a:off x="6675120" y="2606040"/>
            <a:ext cx="5120640" cy="347472"/>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20840" y="2606040"/>
            <a:ext cx="5029200" cy="347472"/>
          </a:xfrm>
          <a:prstGeom prst="rect">
            <a:avLst/>
          </a:prstGeom>
          <a:noFill/>
        </p:spPr>
        <p:txBody>
          <a:bodyPr wrap="square" anchor="ctr" lIns="45720" rIns="45720" tIns="22860" bIns="22860">
            <a:spAutoFit/>
          </a:bodyPr>
          <a:lstStyle/>
          <a:p>
            <a:pPr algn="l">
              <a:lnSpc>
                <a:spcPct val="100000"/>
              </a:lnSpc>
            </a:pPr>
            <a:r>
              <a:rPr sz="1250" b="1">
                <a:solidFill>
                  <a:srgbClr val="FFFFFF"/>
                </a:solidFill>
                <a:latin typeface="Calibri"/>
              </a:rPr>
              <a:t>Judgment fields</a:t>
            </a:r>
          </a:p>
        </p:txBody>
      </p:sp>
      <p:sp>
        <p:nvSpPr>
          <p:cNvPr id="27" name="Rectangle 26"/>
          <p:cNvSpPr/>
          <p:nvPr/>
        </p:nvSpPr>
        <p:spPr>
          <a:xfrm>
            <a:off x="365760" y="2953512"/>
            <a:ext cx="630936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11480" y="2953512"/>
            <a:ext cx="6217920" cy="347472"/>
          </a:xfrm>
          <a:prstGeom prst="rect">
            <a:avLst/>
          </a:prstGeom>
          <a:noFill/>
        </p:spPr>
        <p:txBody>
          <a:bodyPr wrap="square" anchor="ctr" lIns="45720" rIns="45720" tIns="22860" bIns="22860">
            <a:spAutoFit/>
          </a:bodyPr>
          <a:lstStyle/>
          <a:p>
            <a:pPr algn="l">
              <a:lnSpc>
                <a:spcPct val="100000"/>
              </a:lnSpc>
            </a:pPr>
            <a:r>
              <a:rPr sz="1250" b="0">
                <a:solidFill>
                  <a:srgbClr val="1A3A5C"/>
                </a:solidFill>
                <a:latin typeface="Calibri"/>
              </a:rPr>
              <a:t>ma_rumor_intensity · strategic_alternatives_review</a:t>
            </a:r>
          </a:p>
        </p:txBody>
      </p:sp>
      <p:sp>
        <p:nvSpPr>
          <p:cNvPr id="29" name="Rectangle 28"/>
          <p:cNvSpPr/>
          <p:nvPr/>
        </p:nvSpPr>
        <p:spPr>
          <a:xfrm>
            <a:off x="6675120" y="2953512"/>
            <a:ext cx="512064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20840" y="2953512"/>
            <a:ext cx="5029200" cy="347472"/>
          </a:xfrm>
          <a:prstGeom prst="rect">
            <a:avLst/>
          </a:prstGeom>
          <a:noFill/>
        </p:spPr>
        <p:txBody>
          <a:bodyPr wrap="square" anchor="ctr" lIns="45720" rIns="45720" tIns="22860" bIns="22860">
            <a:spAutoFit/>
          </a:bodyPr>
          <a:lstStyle/>
          <a:p>
            <a:pPr algn="l">
              <a:lnSpc>
                <a:spcPct val="100000"/>
              </a:lnSpc>
            </a:pPr>
            <a:r>
              <a:rPr sz="1250" b="0">
                <a:solidFill>
                  <a:srgbClr val="1A3A5C"/>
                </a:solidFill>
                <a:latin typeface="Calibri"/>
              </a:rPr>
              <a:t>acquisition_likelihood (0-100)</a:t>
            </a:r>
          </a:p>
        </p:txBody>
      </p:sp>
      <p:sp>
        <p:nvSpPr>
          <p:cNvPr id="31" name="Rectangle 30"/>
          <p:cNvSpPr/>
          <p:nvPr/>
        </p:nvSpPr>
        <p:spPr>
          <a:xfrm>
            <a:off x="365760" y="3300984"/>
            <a:ext cx="6309360" cy="347472"/>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80" y="3300984"/>
            <a:ext cx="6217920" cy="347472"/>
          </a:xfrm>
          <a:prstGeom prst="rect">
            <a:avLst/>
          </a:prstGeom>
          <a:noFill/>
        </p:spPr>
        <p:txBody>
          <a:bodyPr wrap="square" anchor="ctr" lIns="45720" rIns="45720" tIns="22860" bIns="22860">
            <a:spAutoFit/>
          </a:bodyPr>
          <a:lstStyle/>
          <a:p>
            <a:pPr algn="l">
              <a:lnSpc>
                <a:spcPct val="100000"/>
              </a:lnSpc>
            </a:pPr>
            <a:r>
              <a:rPr sz="1250" b="0">
                <a:solidFill>
                  <a:srgbClr val="1A3A5C"/>
                </a:solidFill>
                <a:latin typeface="Calibri"/>
              </a:rPr>
              <a:t>activist_pressure · management_instability</a:t>
            </a:r>
          </a:p>
        </p:txBody>
      </p:sp>
      <p:sp>
        <p:nvSpPr>
          <p:cNvPr id="33" name="Rectangle 32"/>
          <p:cNvSpPr/>
          <p:nvPr/>
        </p:nvSpPr>
        <p:spPr>
          <a:xfrm>
            <a:off x="6675120" y="3300984"/>
            <a:ext cx="5120640" cy="347472"/>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20840" y="3300984"/>
            <a:ext cx="5029200" cy="347472"/>
          </a:xfrm>
          <a:prstGeom prst="rect">
            <a:avLst/>
          </a:prstGeom>
          <a:noFill/>
        </p:spPr>
        <p:txBody>
          <a:bodyPr wrap="square" anchor="ctr" lIns="45720" rIns="45720" tIns="22860" bIns="22860">
            <a:spAutoFit/>
          </a:bodyPr>
          <a:lstStyle/>
          <a:p>
            <a:pPr algn="l">
              <a:lnSpc>
                <a:spcPct val="100000"/>
              </a:lnSpc>
            </a:pPr>
            <a:r>
              <a:rPr sz="1250" b="0">
                <a:solidFill>
                  <a:srgbClr val="1A3A5C"/>
                </a:solidFill>
                <a:latin typeface="Calibri"/>
              </a:rPr>
              <a:t>headline_information_quality (0-10)</a:t>
            </a:r>
          </a:p>
        </p:txBody>
      </p:sp>
      <p:sp>
        <p:nvSpPr>
          <p:cNvPr id="35" name="Rectangle 34"/>
          <p:cNvSpPr/>
          <p:nvPr/>
        </p:nvSpPr>
        <p:spPr>
          <a:xfrm>
            <a:off x="365760" y="3648456"/>
            <a:ext cx="630936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11480" y="3648456"/>
            <a:ext cx="6217920" cy="347472"/>
          </a:xfrm>
          <a:prstGeom prst="rect">
            <a:avLst/>
          </a:prstGeom>
          <a:noFill/>
        </p:spPr>
        <p:txBody>
          <a:bodyPr wrap="square" anchor="ctr" lIns="45720" rIns="45720" tIns="22860" bIns="22860">
            <a:spAutoFit/>
          </a:bodyPr>
          <a:lstStyle/>
          <a:p>
            <a:pPr algn="l">
              <a:lnSpc>
                <a:spcPct val="100000"/>
              </a:lnSpc>
            </a:pPr>
            <a:r>
              <a:rPr sz="1250" b="0">
                <a:solidFill>
                  <a:srgbClr val="1A3A5C"/>
                </a:solidFill>
                <a:latin typeface="Calibri"/>
              </a:rPr>
              <a:t>financial_distress · undervaluation_narrative</a:t>
            </a:r>
          </a:p>
        </p:txBody>
      </p:sp>
      <p:sp>
        <p:nvSpPr>
          <p:cNvPr id="37" name="Rectangle 36"/>
          <p:cNvSpPr/>
          <p:nvPr/>
        </p:nvSpPr>
        <p:spPr>
          <a:xfrm>
            <a:off x="6675120" y="3648456"/>
            <a:ext cx="512064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720840" y="3648456"/>
            <a:ext cx="5029200" cy="347472"/>
          </a:xfrm>
          <a:prstGeom prst="rect">
            <a:avLst/>
          </a:prstGeom>
          <a:noFill/>
        </p:spPr>
        <p:txBody>
          <a:bodyPr wrap="square" anchor="ctr" lIns="45720" rIns="45720" tIns="22860" bIns="22860">
            <a:spAutoFit/>
          </a:bodyPr>
          <a:lstStyle/>
          <a:p>
            <a:pPr algn="l">
              <a:lnSpc>
                <a:spcPct val="100000"/>
              </a:lnSpc>
            </a:pPr>
            <a:r>
              <a:rPr sz="1250" b="0">
                <a:solidFill>
                  <a:srgbClr val="1A3A5C"/>
                </a:solidFill>
                <a:latin typeface="Calibri"/>
              </a:rPr>
              <a:t>dominant_theme (8-way enum)</a:t>
            </a:r>
          </a:p>
        </p:txBody>
      </p:sp>
      <p:sp>
        <p:nvSpPr>
          <p:cNvPr id="39" name="Rectangle 38"/>
          <p:cNvSpPr/>
          <p:nvPr/>
        </p:nvSpPr>
        <p:spPr>
          <a:xfrm>
            <a:off x="365760" y="3995928"/>
            <a:ext cx="6309360" cy="347472"/>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11480" y="3995928"/>
            <a:ext cx="6217920" cy="347472"/>
          </a:xfrm>
          <a:prstGeom prst="rect">
            <a:avLst/>
          </a:prstGeom>
          <a:noFill/>
        </p:spPr>
        <p:txBody>
          <a:bodyPr wrap="square" anchor="ctr" lIns="45720" rIns="45720" tIns="22860" bIns="22860">
            <a:spAutoFit/>
          </a:bodyPr>
          <a:lstStyle/>
          <a:p>
            <a:pPr algn="l">
              <a:lnSpc>
                <a:spcPct val="100000"/>
              </a:lnSpc>
            </a:pPr>
            <a:r>
              <a:rPr sz="1250" b="0">
                <a:solidFill>
                  <a:srgbClr val="1A3A5C"/>
                </a:solidFill>
                <a:latin typeface="Calibri"/>
              </a:rPr>
              <a:t>sector_consolidation_wave · regulatory_antitrust</a:t>
            </a:r>
          </a:p>
        </p:txBody>
      </p:sp>
      <p:sp>
        <p:nvSpPr>
          <p:cNvPr id="41" name="Rectangle 40"/>
          <p:cNvSpPr/>
          <p:nvPr/>
        </p:nvSpPr>
        <p:spPr>
          <a:xfrm>
            <a:off x="6675120" y="3995928"/>
            <a:ext cx="5120640" cy="347472"/>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720840" y="3995928"/>
            <a:ext cx="5029200" cy="347472"/>
          </a:xfrm>
          <a:prstGeom prst="rect">
            <a:avLst/>
          </a:prstGeom>
          <a:noFill/>
        </p:spPr>
        <p:txBody>
          <a:bodyPr wrap="square" anchor="ctr" lIns="45720" rIns="45720" tIns="22860" bIns="22860">
            <a:spAutoFit/>
          </a:bodyPr>
          <a:lstStyle/>
          <a:p>
            <a:pPr algn="l">
              <a:lnSpc>
                <a:spcPct val="100000"/>
              </a:lnSpc>
            </a:pPr>
            <a:r>
              <a:rPr sz="1250" b="0">
                <a:solidFill>
                  <a:srgbClr val="1A3A5C"/>
                </a:solidFill>
                <a:latin typeface="Calibri"/>
              </a:rPr>
              <a:t>recognized_company / recognized_deal</a:t>
            </a:r>
          </a:p>
        </p:txBody>
      </p:sp>
      <p:sp>
        <p:nvSpPr>
          <p:cNvPr id="43" name="Rectangle 42"/>
          <p:cNvSpPr/>
          <p:nvPr/>
        </p:nvSpPr>
        <p:spPr>
          <a:xfrm>
            <a:off x="365760" y="4343400"/>
            <a:ext cx="630936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80" y="4343400"/>
            <a:ext cx="6217920" cy="347472"/>
          </a:xfrm>
          <a:prstGeom prst="rect">
            <a:avLst/>
          </a:prstGeom>
          <a:noFill/>
        </p:spPr>
        <p:txBody>
          <a:bodyPr wrap="square" anchor="ctr" lIns="45720" rIns="45720" tIns="22860" bIns="22860">
            <a:spAutoFit/>
          </a:bodyPr>
          <a:lstStyle/>
          <a:p>
            <a:pPr algn="l">
              <a:lnSpc>
                <a:spcPct val="100000"/>
              </a:lnSpc>
            </a:pPr>
            <a:r>
              <a:rPr sz="1250" b="0">
                <a:solidFill>
                  <a:srgbClr val="1A3A5C"/>
                </a:solidFill>
                <a:latin typeface="Calibri"/>
              </a:rPr>
              <a:t>divestiture_restructuring · growth_expansion_tone</a:t>
            </a:r>
          </a:p>
        </p:txBody>
      </p:sp>
      <p:sp>
        <p:nvSpPr>
          <p:cNvPr id="45" name="Rectangle 44"/>
          <p:cNvSpPr/>
          <p:nvPr/>
        </p:nvSpPr>
        <p:spPr>
          <a:xfrm>
            <a:off x="6675120" y="4343400"/>
            <a:ext cx="512064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720840" y="4343400"/>
            <a:ext cx="5029200" cy="347472"/>
          </a:xfrm>
          <a:prstGeom prst="rect">
            <a:avLst/>
          </a:prstGeom>
          <a:noFill/>
        </p:spPr>
        <p:txBody>
          <a:bodyPr wrap="square" anchor="ctr" lIns="45720" rIns="45720" tIns="22860" bIns="22860">
            <a:spAutoFit/>
          </a:bodyPr>
          <a:lstStyle/>
          <a:p>
            <a:pPr algn="l">
              <a:lnSpc>
                <a:spcPct val="100000"/>
              </a:lnSpc>
            </a:pPr>
            <a:r>
              <a:rPr sz="1250" b="0">
                <a:solidFill>
                  <a:srgbClr val="1A3A5C"/>
                </a:solidFill>
                <a:latin typeface="Calibri"/>
              </a:rPr>
              <a:t>evidence_quotes (verbatim) + rationale</a:t>
            </a:r>
          </a:p>
        </p:txBody>
      </p:sp>
      <p:sp>
        <p:nvSpPr>
          <p:cNvPr id="47" name="Rectangle 46"/>
          <p:cNvSpPr/>
          <p:nvPr/>
        </p:nvSpPr>
        <p:spPr>
          <a:xfrm>
            <a:off x="365760" y="5806440"/>
            <a:ext cx="11457432" cy="6858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48640" y="5843016"/>
            <a:ext cx="11064240" cy="612648"/>
          </a:xfrm>
          <a:prstGeom prst="rect">
            <a:avLst/>
          </a:prstGeom>
          <a:noFill/>
        </p:spPr>
        <p:txBody>
          <a:bodyPr wrap="square" anchor="ctr" lIns="45720" rIns="45720" tIns="22860" bIns="22860">
            <a:spAutoFit/>
          </a:bodyPr>
          <a:lstStyle/>
          <a:p>
            <a:pPr algn="l">
              <a:lnSpc>
                <a:spcPct val="100000"/>
              </a:lnSpc>
            </a:pPr>
            <a:r>
              <a:rPr sz="1400" b="1">
                <a:solidFill>
                  <a:srgbClr val="1A3A5C"/>
                </a:solidFill>
                <a:latin typeface="Calibri"/>
              </a:rPr>
              <a:t>Leakage rules: announcement date never sent · window described only by end-month · pre/baseline identity never revealed · resumable cache, hard $ cap per run.</a:t>
            </a:r>
          </a:p>
        </p:txBody>
      </p:sp>
      <p:sp>
        <p:nvSpPr>
          <p:cNvPr id="49" name="Rectangle 48"/>
          <p:cNvSpPr/>
          <p:nvPr/>
        </p:nvSpPr>
        <p:spPr>
          <a:xfrm>
            <a:off x="0" y="6583680"/>
            <a:ext cx="12191695" cy="27432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74320" y="6574536"/>
            <a:ext cx="8229600" cy="256032"/>
          </a:xfrm>
          <a:prstGeom prst="rect">
            <a:avLst/>
          </a:prstGeom>
          <a:noFill/>
        </p:spPr>
        <p:txBody>
          <a:bodyPr wrap="square" anchor="t" lIns="45720" rIns="45720" tIns="22860" bIns="22860">
            <a:spAutoFit/>
          </a:bodyPr>
          <a:lstStyle/>
          <a:p>
            <a:pPr algn="l">
              <a:lnSpc>
                <a:spcPct val="100000"/>
              </a:lnSpc>
            </a:pPr>
            <a:r>
              <a:rPr sz="900" b="0">
                <a:solidFill>
                  <a:srgbClr val="BBBBBB"/>
                </a:solidFill>
                <a:latin typeface="Calibri"/>
              </a:rPr>
              <a:t>M&amp;A Prediction | JPMorgan Industry Project | July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521440" cy="566928"/>
          </a:xfrm>
          <a:prstGeom prst="rect">
            <a:avLst/>
          </a:prstGeom>
          <a:noFill/>
        </p:spPr>
        <p:txBody>
          <a:bodyPr wrap="square" anchor="t" lIns="45720" rIns="45720" tIns="22860" bIns="22860">
            <a:spAutoFit/>
          </a:bodyPr>
          <a:lstStyle/>
          <a:p>
            <a:pPr algn="l">
              <a:lnSpc>
                <a:spcPct val="100000"/>
              </a:lnSpc>
            </a:pPr>
            <a:r>
              <a:rPr sz="2800" b="1">
                <a:solidFill>
                  <a:srgbClr val="FFFFFF"/>
                </a:solidFill>
                <a:latin typeface="Calibri"/>
              </a:rPr>
              <a:t>Feature Dictionary - Every Input the Models See</a:t>
            </a:r>
          </a:p>
        </p:txBody>
      </p:sp>
      <p:sp>
        <p:nvSpPr>
          <p:cNvPr id="4" name="TextBox 3"/>
          <p:cNvSpPr txBox="1"/>
          <p:nvPr/>
        </p:nvSpPr>
        <p:spPr>
          <a:xfrm>
            <a:off x="274320" y="640080"/>
            <a:ext cx="11521440" cy="365760"/>
          </a:xfrm>
          <a:prstGeom prst="rect">
            <a:avLst/>
          </a:prstGeom>
          <a:noFill/>
        </p:spPr>
        <p:txBody>
          <a:bodyPr wrap="square" anchor="t" lIns="45720" rIns="45720" tIns="22860" bIns="22860">
            <a:spAutoFit/>
          </a:bodyPr>
          <a:lstStyle/>
          <a:p>
            <a:pPr algn="l">
              <a:lnSpc>
                <a:spcPct val="100000"/>
              </a:lnSpc>
            </a:pPr>
            <a:r>
              <a:rPr sz="1400" b="0">
                <a:solidFill>
                  <a:srgbClr val="B8860B"/>
                </a:solidFill>
                <a:latin typeface="Calibri"/>
              </a:rPr>
              <a:t>Set A = week-4 classic stack recomputed on this corpus · Set B = LLM signals · C = A ∪ B</a:t>
            </a:r>
          </a:p>
        </p:txBody>
      </p:sp>
      <p:sp>
        <p:nvSpPr>
          <p:cNvPr id="5" name="Rectangle 4"/>
          <p:cNvSpPr/>
          <p:nvPr/>
        </p:nvSpPr>
        <p:spPr>
          <a:xfrm>
            <a:off x="0" y="1051560"/>
            <a:ext cx="12191695" cy="36576"/>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280160"/>
            <a:ext cx="5623560" cy="36576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289304"/>
            <a:ext cx="5623560" cy="347472"/>
          </a:xfrm>
          <a:prstGeom prst="rect">
            <a:avLst/>
          </a:prstGeom>
          <a:noFill/>
        </p:spPr>
        <p:txBody>
          <a:bodyPr wrap="square" anchor="t" lIns="45720" rIns="45720" tIns="22860" bIns="22860">
            <a:spAutoFit/>
          </a:bodyPr>
          <a:lstStyle/>
          <a:p>
            <a:pPr algn="ctr">
              <a:lnSpc>
                <a:spcPct val="100000"/>
              </a:lnSpc>
            </a:pPr>
            <a:r>
              <a:rPr sz="1400" b="1">
                <a:solidFill>
                  <a:srgbClr val="FFFFFF"/>
                </a:solidFill>
                <a:latin typeface="Calibri"/>
              </a:rPr>
              <a:t>SET A - classic NLP (28 candidates)</a:t>
            </a:r>
          </a:p>
        </p:txBody>
      </p:sp>
      <p:sp>
        <p:nvSpPr>
          <p:cNvPr id="8" name="Rectangle 7"/>
          <p:cNvSpPr/>
          <p:nvPr/>
        </p:nvSpPr>
        <p:spPr>
          <a:xfrm>
            <a:off x="365760" y="1645920"/>
            <a:ext cx="5623560" cy="388620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755648"/>
            <a:ext cx="5394960" cy="3703320"/>
          </a:xfrm>
          <a:prstGeom prst="rect">
            <a:avLst/>
          </a:prstGeom>
          <a:noFill/>
        </p:spPr>
        <p:txBody>
          <a:bodyPr wrap="square" anchor="t" lIns="45720" rIns="45720" tIns="22860" bIns="22860">
            <a:spAutoFit/>
          </a:bodyPr>
          <a:lstStyle/>
          <a:p>
            <a:pPr algn="l">
              <a:lnSpc>
                <a:spcPct val="112000"/>
              </a:lnSpc>
            </a:pPr>
            <a:r>
              <a:rPr sz="1150" b="1">
                <a:solidFill>
                  <a:srgbClr val="1A3A5C"/>
                </a:solidFill>
                <a:latin typeface="Calibri"/>
              </a:rPr>
              <a:t>Volume &amp; VADER sentiment (7):</a:t>
            </a:r>
          </a:p>
          <a:p>
            <a:pPr algn="l">
              <a:lnSpc>
                <a:spcPct val="112000"/>
              </a:lnSpc>
            </a:pPr>
            <a:r>
              <a:rPr sz="1150" b="0">
                <a:solidFill>
                  <a:srgbClr val="1A3A5C"/>
                </a:solidFill>
                <a:latin typeface="Calibri"/>
              </a:rPr>
              <a:t>   news_count · avg / std / max / min_sentiment · pos_ratio · neg_ratio</a:t>
            </a:r>
          </a:p>
          <a:p>
            <a:pPr algn="l">
              <a:lnSpc>
                <a:spcPct val="112000"/>
              </a:lnSpc>
            </a:pPr>
            <a:r>
              <a:rPr sz="1150" b="1">
                <a:solidFill>
                  <a:srgbClr val="1A3A5C"/>
                </a:solidFill>
                <a:latin typeface="Calibri"/>
              </a:rPr>
              <a:t>M&amp;A keywords (2):</a:t>
            </a:r>
          </a:p>
          <a:p>
            <a:pPr algn="l">
              <a:lnSpc>
                <a:spcPct val="112000"/>
              </a:lnSpc>
            </a:pPr>
            <a:r>
              <a:rPr sz="1150" b="0">
                <a:solidFill>
                  <a:srgbClr val="1A3A5C"/>
                </a:solidFill>
                <a:latin typeface="Calibri"/>
              </a:rPr>
              <a:t>   ma_keyword_count · ma_keyword_ratio</a:t>
            </a:r>
          </a:p>
          <a:p>
            <a:pPr algn="l">
              <a:lnSpc>
                <a:spcPct val="112000"/>
              </a:lnSpc>
            </a:pPr>
            <a:r>
              <a:rPr sz="1150" b="1">
                <a:solidFill>
                  <a:srgbClr val="1A3A5C"/>
                </a:solidFill>
                <a:latin typeface="Calibri"/>
              </a:rPr>
              <a:t>FinBERT finance sentiment (4):</a:t>
            </a:r>
          </a:p>
          <a:p>
            <a:pPr algn="l">
              <a:lnSpc>
                <a:spcPct val="112000"/>
              </a:lnSpc>
            </a:pPr>
            <a:r>
              <a:rPr sz="1150" b="0">
                <a:solidFill>
                  <a:srgbClr val="1A3A5C"/>
                </a:solidFill>
                <a:latin typeface="Calibri"/>
              </a:rPr>
              <a:t>   avg / std_finbert_compound · avg_finbert_positive · avg_finbert_negative</a:t>
            </a:r>
          </a:p>
          <a:p>
            <a:pPr algn="l">
              <a:lnSpc>
                <a:spcPct val="112000"/>
              </a:lnSpc>
            </a:pPr>
            <a:r>
              <a:rPr sz="1150" b="1">
                <a:solidFill>
                  <a:srgbClr val="1A3A5C"/>
                </a:solidFill>
                <a:latin typeface="Calibri"/>
              </a:rPr>
              <a:t>Data-driven terms (1):</a:t>
            </a:r>
            <a:r>
              <a:rPr sz="1150" b="0">
                <a:solidFill>
                  <a:srgbClr val="1A3A5C"/>
                </a:solidFill>
                <a:latin typeface="Calibri"/>
              </a:rPr>
              <a:t>  distinctive_term_ratio (log-odds, name-masked)</a:t>
            </a:r>
          </a:p>
          <a:p>
            <a:pPr algn="l">
              <a:lnSpc>
                <a:spcPct val="112000"/>
              </a:lnSpc>
            </a:pPr>
            <a:r>
              <a:rPr sz="1150" b="1">
                <a:solidFill>
                  <a:srgbClr val="1A3A5C"/>
                </a:solidFill>
                <a:latin typeface="Calibri"/>
              </a:rPr>
              <a:t>Momentum (2):</a:t>
            </a:r>
            <a:r>
              <a:rPr sz="1150" b="0">
                <a:solidFill>
                  <a:srgbClr val="1A3A5C"/>
                </a:solidFill>
                <a:latin typeface="Calibri"/>
              </a:rPr>
              <a:t>  late_share · sentiment_trend</a:t>
            </a:r>
          </a:p>
          <a:p>
            <a:pPr algn="l">
              <a:lnSpc>
                <a:spcPct val="112000"/>
              </a:lnSpc>
            </a:pPr>
            <a:r>
              <a:rPr sz="1150" b="1">
                <a:solidFill>
                  <a:srgbClr val="1A3A5C"/>
                </a:solidFill>
                <a:latin typeface="Calibri"/>
              </a:rPr>
              <a:t>EDGAR filing structure (3):</a:t>
            </a:r>
          </a:p>
          <a:p>
            <a:pPr algn="l">
              <a:lnSpc>
                <a:spcPct val="112000"/>
              </a:lnSpc>
            </a:pPr>
            <a:r>
              <a:rPr sz="1150" b="0">
                <a:solidFill>
                  <a:srgbClr val="1A3A5C"/>
                </a:solidFill>
                <a:latin typeface="Calibri"/>
              </a:rPr>
              <a:t>   edgar_filing_count · edgar_deal_filing_count · edgar_deal_filing_ratio</a:t>
            </a:r>
          </a:p>
          <a:p>
            <a:pPr algn="l">
              <a:lnSpc>
                <a:spcPct val="112000"/>
              </a:lnSpc>
            </a:pPr>
            <a:r>
              <a:rPr sz="1150" b="1">
                <a:solidFill>
                  <a:srgbClr val="1A3A5C"/>
                </a:solidFill>
                <a:latin typeface="Calibri"/>
              </a:rPr>
              <a:t>NMF topics (8):</a:t>
            </a:r>
            <a:r>
              <a:rPr sz="1150" b="0">
                <a:solidFill>
                  <a:srgbClr val="1A3A5C"/>
                </a:solidFill>
                <a:latin typeface="Calibri"/>
              </a:rPr>
              <a:t>  topic_0_mean … topic_7_mean (name-masked)</a:t>
            </a:r>
          </a:p>
          <a:p>
            <a:pPr algn="l">
              <a:lnSpc>
                <a:spcPct val="112000"/>
              </a:lnSpc>
            </a:pPr>
            <a:r>
              <a:rPr sz="1150" b="1">
                <a:solidFill>
                  <a:srgbClr val="1A3A5C"/>
                </a:solidFill>
                <a:latin typeface="Calibri"/>
              </a:rPr>
              <a:t>Meta (1):</a:t>
            </a:r>
            <a:r>
              <a:rPr sz="1150" b="0">
                <a:solidFill>
                  <a:srgbClr val="1A3A5C"/>
                </a:solidFill>
                <a:latin typeface="Calibri"/>
              </a:rPr>
              <a:t>  industry_enc</a:t>
            </a:r>
          </a:p>
        </p:txBody>
      </p:sp>
      <p:sp>
        <p:nvSpPr>
          <p:cNvPr id="10" name="Rectangle 9"/>
          <p:cNvSpPr/>
          <p:nvPr/>
        </p:nvSpPr>
        <p:spPr>
          <a:xfrm>
            <a:off x="6190488" y="1280160"/>
            <a:ext cx="5623560" cy="36576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90488" y="1289304"/>
            <a:ext cx="5623560" cy="347472"/>
          </a:xfrm>
          <a:prstGeom prst="rect">
            <a:avLst/>
          </a:prstGeom>
          <a:noFill/>
        </p:spPr>
        <p:txBody>
          <a:bodyPr wrap="square" anchor="t" lIns="45720" rIns="45720" tIns="22860" bIns="22860">
            <a:spAutoFit/>
          </a:bodyPr>
          <a:lstStyle/>
          <a:p>
            <a:pPr algn="ctr">
              <a:lnSpc>
                <a:spcPct val="100000"/>
              </a:lnSpc>
            </a:pPr>
            <a:r>
              <a:rPr sz="1400" b="1">
                <a:solidFill>
                  <a:srgbClr val="FFFFFF"/>
                </a:solidFill>
                <a:latin typeface="Calibri"/>
              </a:rPr>
              <a:t>SET B - LLM signals (12 features + 5 audit fields)</a:t>
            </a:r>
          </a:p>
        </p:txBody>
      </p:sp>
      <p:sp>
        <p:nvSpPr>
          <p:cNvPr id="12" name="Rectangle 11"/>
          <p:cNvSpPr/>
          <p:nvPr/>
        </p:nvSpPr>
        <p:spPr>
          <a:xfrm>
            <a:off x="6190488" y="1645920"/>
            <a:ext cx="5623560" cy="388620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27648" y="1719072"/>
            <a:ext cx="5394960" cy="3767328"/>
          </a:xfrm>
          <a:prstGeom prst="rect">
            <a:avLst/>
          </a:prstGeom>
          <a:noFill/>
        </p:spPr>
        <p:txBody>
          <a:bodyPr wrap="square" anchor="t" lIns="45720" rIns="45720" tIns="22860" bIns="22860">
            <a:spAutoFit/>
          </a:bodyPr>
          <a:lstStyle/>
          <a:p>
            <a:pPr algn="l">
              <a:lnSpc>
                <a:spcPct val="108000"/>
              </a:lnSpc>
            </a:pPr>
            <a:r>
              <a:rPr sz="1150" b="1">
                <a:solidFill>
                  <a:srgbClr val="1A3A5C"/>
                </a:solidFill>
                <a:latin typeface="Calibri"/>
              </a:rPr>
              <a:t>Model features (one strict-JSON call per window):</a:t>
            </a:r>
          </a:p>
          <a:p>
            <a:pPr algn="l">
              <a:lnSpc>
                <a:spcPct val="108000"/>
              </a:lnSpc>
            </a:pPr>
            <a:r>
              <a:rPr sz="1150" b="0">
                <a:solidFill>
                  <a:srgbClr val="1A3A5C"/>
                </a:solidFill>
                <a:latin typeface="Calibri"/>
              </a:rPr>
              <a:t>   ma_rumor_intensity 0-10: “in talks”, bids, “sources say”</a:t>
            </a:r>
          </a:p>
          <a:p>
            <a:pPr algn="l">
              <a:lnSpc>
                <a:spcPct val="108000"/>
              </a:lnSpc>
            </a:pPr>
            <a:r>
              <a:rPr sz="1150" b="0">
                <a:solidFill>
                  <a:srgbClr val="1A3A5C"/>
                </a:solidFill>
                <a:latin typeface="Calibri"/>
              </a:rPr>
              <a:t>   strategic_alternatives_review 0-10: reviews, bankers hired</a:t>
            </a:r>
          </a:p>
          <a:p>
            <a:pPr algn="l">
              <a:lnSpc>
                <a:spcPct val="108000"/>
              </a:lnSpc>
            </a:pPr>
            <a:r>
              <a:rPr sz="1150" b="0">
                <a:solidFill>
                  <a:srgbClr val="1A3A5C"/>
                </a:solidFill>
                <a:latin typeface="Calibri"/>
              </a:rPr>
              <a:t>   activist_pressure 0-10: activists, stakes, proxy fights</a:t>
            </a:r>
          </a:p>
          <a:p>
            <a:pPr algn="l">
              <a:lnSpc>
                <a:spcPct val="108000"/>
              </a:lnSpc>
            </a:pPr>
            <a:r>
              <a:rPr sz="1150" b="0">
                <a:solidFill>
                  <a:srgbClr val="1A3A5C"/>
                </a:solidFill>
                <a:latin typeface="Calibri"/>
              </a:rPr>
              <a:t>   management_instability 0-10: CEO/CFO exits, shakeups</a:t>
            </a:r>
          </a:p>
          <a:p>
            <a:pPr algn="l">
              <a:lnSpc>
                <a:spcPct val="108000"/>
              </a:lnSpc>
            </a:pPr>
            <a:r>
              <a:rPr sz="1150" b="0">
                <a:solidFill>
                  <a:srgbClr val="1A3A5C"/>
                </a:solidFill>
                <a:latin typeface="Calibri"/>
              </a:rPr>
              <a:t>   financial_distress 0-10: losses, debt, downgrades</a:t>
            </a:r>
          </a:p>
          <a:p>
            <a:pPr algn="l">
              <a:lnSpc>
                <a:spcPct val="108000"/>
              </a:lnSpc>
            </a:pPr>
            <a:r>
              <a:rPr sz="1150" b="0">
                <a:solidFill>
                  <a:srgbClr val="1A3A5C"/>
                </a:solidFill>
                <a:latin typeface="Calibri"/>
              </a:rPr>
              <a:t>   undervaluation_narrative 0-10: “cheap”, lagging peers</a:t>
            </a:r>
          </a:p>
          <a:p>
            <a:pPr algn="l">
              <a:lnSpc>
                <a:spcPct val="108000"/>
              </a:lnSpc>
            </a:pPr>
            <a:r>
              <a:rPr sz="1150" b="0">
                <a:solidFill>
                  <a:srgbClr val="1A3A5C"/>
                </a:solidFill>
                <a:latin typeface="Calibri"/>
              </a:rPr>
              <a:t>   sector_consolidation_wave 0-10: peers merging</a:t>
            </a:r>
          </a:p>
          <a:p>
            <a:pPr algn="l">
              <a:lnSpc>
                <a:spcPct val="108000"/>
              </a:lnSpc>
            </a:pPr>
            <a:r>
              <a:rPr sz="1150" b="0">
                <a:solidFill>
                  <a:srgbClr val="1A3A5C"/>
                </a:solidFill>
                <a:latin typeface="Calibri"/>
              </a:rPr>
              <a:t>   regulatory_antitrust_attention 0-10: regulator scrutiny</a:t>
            </a:r>
          </a:p>
          <a:p>
            <a:pPr algn="l">
              <a:lnSpc>
                <a:spcPct val="108000"/>
              </a:lnSpc>
            </a:pPr>
            <a:r>
              <a:rPr sz="1150" b="0">
                <a:solidFill>
                  <a:srgbClr val="1A3A5C"/>
                </a:solidFill>
                <a:latin typeface="Calibri"/>
              </a:rPr>
              <a:t>   divestiture_restructuring 0-10: spin-offs, carve-outs</a:t>
            </a:r>
          </a:p>
          <a:p>
            <a:pPr algn="l">
              <a:lnSpc>
                <a:spcPct val="108000"/>
              </a:lnSpc>
            </a:pPr>
            <a:r>
              <a:rPr sz="1150" b="0">
                <a:solidFill>
                  <a:srgbClr val="1A3A5C"/>
                </a:solidFill>
                <a:latin typeface="Calibri"/>
              </a:rPr>
              <a:t>   growth_expansion_tone 0-10: ordinary growth (control)</a:t>
            </a:r>
          </a:p>
          <a:p>
            <a:pPr algn="l">
              <a:lnSpc>
                <a:spcPct val="108000"/>
              </a:lnSpc>
            </a:pPr>
            <a:r>
              <a:rPr sz="1150" b="0">
                <a:solidFill>
                  <a:srgbClr val="1A3A5C"/>
                </a:solidFill>
                <a:latin typeface="Calibri"/>
              </a:rPr>
              <a:t>   acquisition_likelihood 0-100: holistic judgment</a:t>
            </a:r>
          </a:p>
          <a:p>
            <a:pPr algn="l">
              <a:lnSpc>
                <a:spcPct val="108000"/>
              </a:lnSpc>
            </a:pPr>
            <a:r>
              <a:rPr sz="1150" b="0">
                <a:solidFill>
                  <a:srgbClr val="1A3A5C"/>
                </a:solidFill>
                <a:latin typeface="Calibri"/>
              </a:rPr>
              <a:t>   headline_information_quality 0-10: text usability</a:t>
            </a:r>
          </a:p>
          <a:p>
            <a:pPr algn="l">
              <a:lnSpc>
                <a:spcPct val="108000"/>
              </a:lnSpc>
            </a:pPr>
            <a:r>
              <a:rPr sz="1150" b="1">
                <a:solidFill>
                  <a:srgbClr val="1A3A5C"/>
                </a:solidFill>
                <a:latin typeface="Calibri"/>
              </a:rPr>
              <a:t>Audit fields - never model inputs:</a:t>
            </a:r>
          </a:p>
          <a:p>
            <a:pPr algn="l">
              <a:lnSpc>
                <a:spcPct val="108000"/>
              </a:lnSpc>
            </a:pPr>
            <a:r>
              <a:rPr sz="1150" b="0">
                <a:solidFill>
                  <a:srgbClr val="1A3A5C"/>
                </a:solidFill>
                <a:latin typeface="Calibri"/>
              </a:rPr>
              <a:t>   dominant_theme · recognized_company · recognized_deal</a:t>
            </a:r>
          </a:p>
          <a:p>
            <a:pPr algn="l">
              <a:lnSpc>
                <a:spcPct val="108000"/>
              </a:lnSpc>
            </a:pPr>
            <a:r>
              <a:rPr sz="1150" b="0">
                <a:solidFill>
                  <a:srgbClr val="1A3A5C"/>
                </a:solidFill>
                <a:latin typeface="Calibri"/>
              </a:rPr>
              <a:t>   evidence_quotes (verbatim) · rationale (≤ 40 words)</a:t>
            </a:r>
          </a:p>
        </p:txBody>
      </p:sp>
      <p:sp>
        <p:nvSpPr>
          <p:cNvPr id="14" name="Rectangle 13"/>
          <p:cNvSpPr/>
          <p:nvPr/>
        </p:nvSpPr>
        <p:spPr>
          <a:xfrm>
            <a:off x="365760" y="5715000"/>
            <a:ext cx="11457432" cy="6858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5751576"/>
            <a:ext cx="11064240" cy="612648"/>
          </a:xfrm>
          <a:prstGeom prst="rect">
            <a:avLst/>
          </a:prstGeom>
          <a:noFill/>
        </p:spPr>
        <p:txBody>
          <a:bodyPr wrap="square" anchor="ctr" lIns="45720" rIns="45720" tIns="22860" bIns="22860">
            <a:spAutoFit/>
          </a:bodyPr>
          <a:lstStyle/>
          <a:p>
            <a:pPr algn="l">
              <a:lnSpc>
                <a:spcPct val="100000"/>
              </a:lnSpc>
            </a:pPr>
            <a:r>
              <a:rPr sz="1400" b="1">
                <a:solidFill>
                  <a:srgbClr val="1A3A5C"/>
                </a:solidFill>
                <a:latin typeface="Calibri"/>
              </a:rPr>
              <a:t>A and B are computed from the IDENTICAL noise-filtered corpus. C = A ∪ B (40 candidates → top 16 by train-only mutual information).</a:t>
            </a:r>
          </a:p>
        </p:txBody>
      </p:sp>
      <p:sp>
        <p:nvSpPr>
          <p:cNvPr id="16" name="Rectangle 15"/>
          <p:cNvSpPr/>
          <p:nvPr/>
        </p:nvSpPr>
        <p:spPr>
          <a:xfrm>
            <a:off x="0" y="6583680"/>
            <a:ext cx="12191695" cy="27432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6574536"/>
            <a:ext cx="8229600" cy="256032"/>
          </a:xfrm>
          <a:prstGeom prst="rect">
            <a:avLst/>
          </a:prstGeom>
          <a:noFill/>
        </p:spPr>
        <p:txBody>
          <a:bodyPr wrap="square" anchor="t" lIns="45720" rIns="45720" tIns="22860" bIns="22860">
            <a:spAutoFit/>
          </a:bodyPr>
          <a:lstStyle/>
          <a:p>
            <a:pPr algn="l">
              <a:lnSpc>
                <a:spcPct val="100000"/>
              </a:lnSpc>
            </a:pPr>
            <a:r>
              <a:rPr sz="900" b="0">
                <a:solidFill>
                  <a:srgbClr val="BBBBBB"/>
                </a:solidFill>
                <a:latin typeface="Calibri"/>
              </a:rPr>
              <a:t>M&amp;A Prediction | JPMorgan Industry Project | July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521440" cy="566928"/>
          </a:xfrm>
          <a:prstGeom prst="rect">
            <a:avLst/>
          </a:prstGeom>
          <a:noFill/>
        </p:spPr>
        <p:txBody>
          <a:bodyPr wrap="square" anchor="t" lIns="45720" rIns="45720" tIns="22860" bIns="22860">
            <a:spAutoFit/>
          </a:bodyPr>
          <a:lstStyle/>
          <a:p>
            <a:pPr algn="l">
              <a:lnSpc>
                <a:spcPct val="100000"/>
              </a:lnSpc>
            </a:pPr>
            <a:r>
              <a:rPr sz="2800" b="1">
                <a:solidFill>
                  <a:srgbClr val="FFFFFF"/>
                </a:solidFill>
                <a:latin typeface="Calibri"/>
              </a:rPr>
              <a:t>The Exact Call - Nothing Hidden</a:t>
            </a:r>
          </a:p>
        </p:txBody>
      </p:sp>
      <p:sp>
        <p:nvSpPr>
          <p:cNvPr id="4" name="TextBox 3"/>
          <p:cNvSpPr txBox="1"/>
          <p:nvPr/>
        </p:nvSpPr>
        <p:spPr>
          <a:xfrm>
            <a:off x="274320" y="640080"/>
            <a:ext cx="11521440" cy="365760"/>
          </a:xfrm>
          <a:prstGeom prst="rect">
            <a:avLst/>
          </a:prstGeom>
          <a:noFill/>
        </p:spPr>
        <p:txBody>
          <a:bodyPr wrap="square" anchor="t" lIns="45720" rIns="45720" tIns="22860" bIns="22860">
            <a:spAutoFit/>
          </a:bodyPr>
          <a:lstStyle/>
          <a:p>
            <a:pPr algn="l">
              <a:lnSpc>
                <a:spcPct val="100000"/>
              </a:lnSpc>
            </a:pPr>
            <a:r>
              <a:rPr sz="1400" b="0">
                <a:solidFill>
                  <a:srgbClr val="B8860B"/>
                </a:solidFill>
                <a:latin typeface="Calibri"/>
              </a:rPr>
              <a:t>One API call per window = fixed instructions + this window's text → 17 forced fields. The 0/1 label is never in the prompt.</a:t>
            </a:r>
          </a:p>
        </p:txBody>
      </p:sp>
      <p:sp>
        <p:nvSpPr>
          <p:cNvPr id="5" name="Rectangle 4"/>
          <p:cNvSpPr/>
          <p:nvPr/>
        </p:nvSpPr>
        <p:spPr>
          <a:xfrm>
            <a:off x="0" y="1051560"/>
            <a:ext cx="12191695" cy="36576"/>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188720"/>
            <a:ext cx="11457432" cy="60350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197864"/>
            <a:ext cx="11155680" cy="585216"/>
          </a:xfrm>
          <a:prstGeom prst="rect">
            <a:avLst/>
          </a:prstGeom>
          <a:noFill/>
        </p:spPr>
        <p:txBody>
          <a:bodyPr wrap="square" anchor="ctr" lIns="45720" rIns="45720" tIns="22860" bIns="22860">
            <a:spAutoFit/>
          </a:bodyPr>
          <a:lstStyle/>
          <a:p>
            <a:pPr algn="l">
              <a:lnSpc>
                <a:spcPct val="100000"/>
              </a:lnSpc>
            </a:pPr>
            <a:r>
              <a:rPr sz="1200" b="1">
                <a:solidFill>
                  <a:srgbClr val="1A3A5C"/>
                </a:solidFill>
                <a:latin typeface="Calibri"/>
              </a:rPr>
              <a:t>The model never sees:  </a:t>
            </a:r>
            <a:r>
              <a:rPr sz="1200" b="0">
                <a:solidFill>
                  <a:srgbClr val="1A3A5C"/>
                </a:solidFill>
                <a:latin typeface="Calibri"/>
              </a:rPr>
              <a:t>the announcement date · whether this is a run-up or a “quiet” window · the outcome.  It scores blind - the 1/0 label lives only in our spreadsheet, never in the prompt. That is what makes the comparison fair.</a:t>
            </a:r>
          </a:p>
        </p:txBody>
      </p:sp>
      <p:sp>
        <p:nvSpPr>
          <p:cNvPr id="8" name="Rectangle 7"/>
          <p:cNvSpPr/>
          <p:nvPr/>
        </p:nvSpPr>
        <p:spPr>
          <a:xfrm>
            <a:off x="365760" y="1901952"/>
            <a:ext cx="6720840" cy="416052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993392"/>
            <a:ext cx="6446520" cy="3977639"/>
          </a:xfrm>
          <a:prstGeom prst="rect">
            <a:avLst/>
          </a:prstGeom>
          <a:noFill/>
        </p:spPr>
        <p:txBody>
          <a:bodyPr wrap="square" anchor="t" lIns="45720" rIns="45720" tIns="22860" bIns="22860">
            <a:spAutoFit/>
          </a:bodyPr>
          <a:lstStyle/>
          <a:p>
            <a:pPr algn="l">
              <a:lnSpc>
                <a:spcPct val="102000"/>
              </a:lnSpc>
            </a:pPr>
            <a:r>
              <a:rPr sz="1150" b="1">
                <a:solidFill>
                  <a:srgbClr val="2E6DB4"/>
                </a:solidFill>
                <a:latin typeface="Calibri"/>
              </a:rPr>
              <a:t>①  SYSTEM MESSAGE</a:t>
            </a:r>
            <a:r>
              <a:rPr sz="950" b="0">
                <a:solidFill>
                  <a:srgbClr val="1A3A5C"/>
                </a:solidFill>
                <a:latin typeface="Calibri"/>
              </a:rPr>
              <a:t>   - role + rules, identical for every call</a:t>
            </a:r>
          </a:p>
          <a:p>
            <a:pPr algn="l">
              <a:lnSpc>
                <a:spcPct val="102000"/>
              </a:lnSpc>
            </a:pPr>
            <a:r>
              <a:rPr sz="950" b="0">
                <a:solidFill>
                  <a:srgbClr val="1A3A5C"/>
                </a:solidFill>
                <a:latin typeface="Calibri"/>
              </a:rPr>
              <a:t>You are a financial-news analyst scoring M&amp;A-precursor signals for ONE US public company from a single ~90-day period of its news coverage. Judge ONLY from the text provided. Do not use any memory of real-world outcomes for this specific company. Score each dimension 0-10 (0 = no evidence, 10 = overwhelming). Be conservative: for most companies in most periods, most dimensions score 0-2.</a:t>
            </a:r>
          </a:p>
          <a:p>
            <a:pPr algn="l">
              <a:lnSpc>
                <a:spcPct val="102000"/>
              </a:lnSpc>
            </a:pPr>
            <a:r>
              <a:rPr sz="950" b="0">
                <a:solidFill>
                  <a:srgbClr val="1A3A5C"/>
                </a:solidFill>
                <a:latin typeface="Calibri"/>
              </a:rPr>
              <a:t/>
            </a:r>
          </a:p>
          <a:p>
            <a:pPr algn="l">
              <a:lnSpc>
                <a:spcPct val="102000"/>
              </a:lnSpc>
            </a:pPr>
            <a:r>
              <a:rPr sz="1150" b="1">
                <a:solidFill>
                  <a:srgbClr val="2E6DB4"/>
                </a:solidFill>
                <a:latin typeface="Calibri"/>
              </a:rPr>
              <a:t>②  USER MESSAGE</a:t>
            </a:r>
            <a:r>
              <a:rPr sz="950" b="0">
                <a:solidFill>
                  <a:srgbClr val="1A3A5C"/>
                </a:solidFill>
                <a:latin typeface="Calibri"/>
              </a:rPr>
              <a:t>   - only THIS window's text  (Clearwater Analytics Holdings, Inc.*)</a:t>
            </a:r>
          </a:p>
          <a:p>
            <a:pPr algn="l">
              <a:lnSpc>
                <a:spcPct val="102000"/>
              </a:lnSpc>
            </a:pPr>
            <a:r>
              <a:rPr sz="900" b="0">
                <a:solidFill>
                  <a:srgbClr val="1A3A5C"/>
                </a:solidFill>
                <a:latin typeface="Calibri"/>
              </a:rPr>
              <a:t>Company: Clearwater Analytics</a:t>
            </a:r>
          </a:p>
          <a:p>
            <a:pPr algn="l">
              <a:lnSpc>
                <a:spcPct val="102000"/>
              </a:lnSpc>
            </a:pPr>
            <a:r>
              <a:rPr sz="900" b="0">
                <a:solidFill>
                  <a:srgbClr val="1A3A5C"/>
                </a:solidFill>
                <a:latin typeface="Calibri"/>
              </a:rPr>
              <a:t>Period: ~90 days ending 2025-12</a:t>
            </a:r>
          </a:p>
          <a:p>
            <a:pPr algn="l">
              <a:lnSpc>
                <a:spcPct val="102000"/>
              </a:lnSpc>
            </a:pPr>
            <a:r>
              <a:rPr sz="900" b="0">
                <a:solidFill>
                  <a:srgbClr val="1A3A5C"/>
                </a:solidFill>
                <a:latin typeface="Calibri"/>
              </a:rPr>
              <a:t>SEC filings during the period: 8-K x2, DEFM14A x1</a:t>
            </a:r>
          </a:p>
          <a:p>
            <a:pPr algn="l">
              <a:lnSpc>
                <a:spcPct val="102000"/>
              </a:lnSpc>
            </a:pPr>
            <a:r>
              <a:rPr sz="900" b="0">
                <a:solidFill>
                  <a:srgbClr val="1A3A5C"/>
                </a:solidFill>
                <a:latin typeface="Calibri"/>
              </a:rPr>
              <a:t/>
            </a:r>
          </a:p>
          <a:p>
            <a:pPr algn="l">
              <a:lnSpc>
                <a:spcPct val="102000"/>
              </a:lnSpc>
            </a:pPr>
            <a:r>
              <a:rPr sz="900" b="0">
                <a:solidFill>
                  <a:srgbClr val="1A3A5C"/>
                </a:solidFill>
                <a:latin typeface="Calibri"/>
              </a:rPr>
              <a:t>Headlines (28 of 28 kept after spam filtering, chronological; </a:t>
            </a:r>
          </a:p>
          <a:p>
            <a:pPr algn="l">
              <a:lnSpc>
                <a:spcPct val="102000"/>
              </a:lnSpc>
            </a:pPr>
            <a:r>
              <a:rPr sz="900" b="0">
                <a:solidFill>
                  <a:srgbClr val="1A3A5C"/>
                </a:solidFill>
                <a:latin typeface="Calibri"/>
              </a:rPr>
              <a:t>[d57] Clearwater launches CWAN GenAI for investment AI (idahob</a:t>
            </a:r>
          </a:p>
          <a:p>
            <a:pPr algn="l">
              <a:lnSpc>
                <a:spcPct val="102000"/>
              </a:lnSpc>
            </a:pPr>
            <a:r>
              <a:rPr sz="900" b="0">
                <a:solidFill>
                  <a:srgbClr val="1A3A5C"/>
                </a:solidFill>
                <a:latin typeface="Calibri"/>
              </a:rPr>
              <a:t>[d58] Stocks making the biggest premarket moves : AMD , CWAN ,</a:t>
            </a:r>
          </a:p>
          <a:p>
            <a:pPr algn="l">
              <a:lnSpc>
                <a:spcPct val="102000"/>
              </a:lnSpc>
            </a:pPr>
            <a:r>
              <a:rPr sz="900" b="0">
                <a:solidFill>
                  <a:srgbClr val="1A3A5C"/>
                </a:solidFill>
                <a:latin typeface="Calibri"/>
              </a:rPr>
              <a:t>[d58] Clearwater Analytics : CWAN Report : Insurance Industry </a:t>
            </a:r>
          </a:p>
          <a:p>
            <a:pPr algn="l">
              <a:lnSpc>
                <a:spcPct val="102000"/>
              </a:lnSpc>
            </a:pPr>
            <a:r>
              <a:rPr sz="900" b="0">
                <a:solidFill>
                  <a:srgbClr val="1A3A5C"/>
                </a:solidFill>
                <a:latin typeface="Calibri"/>
              </a:rPr>
              <a:t>[d58] Soars 10 % on Bargain - Hunting After 52 - Week Low (biz</a:t>
            </a:r>
          </a:p>
          <a:p>
            <a:pPr algn="l">
              <a:lnSpc>
                <a:spcPct val="102000"/>
              </a:lnSpc>
            </a:pPr>
            <a:r>
              <a:rPr sz="900" b="0">
                <a:solidFill>
                  <a:srgbClr val="1A3A5C"/>
                </a:solidFill>
                <a:latin typeface="Calibri"/>
              </a:rPr>
              <a:t>[d58] Clearwater ( CWAN ) Soars 10 % on Bargain - Hunting Afte</a:t>
            </a:r>
          </a:p>
          <a:p>
            <a:pPr algn="l">
              <a:lnSpc>
                <a:spcPct val="102000"/>
              </a:lnSpc>
            </a:pPr>
            <a:r>
              <a:rPr sz="900" b="0">
                <a:solidFill>
                  <a:srgbClr val="1A3A5C"/>
                </a:solidFill>
                <a:latin typeface="Calibri"/>
              </a:rPr>
              <a:t>[d58] CWAN Report : Insurance Industry $2 . 7 Trillion Shift t</a:t>
            </a:r>
          </a:p>
          <a:p>
            <a:pPr algn="l">
              <a:lnSpc>
                <a:spcPct val="102000"/>
              </a:lnSpc>
            </a:pPr>
            <a:r>
              <a:rPr sz="900" b="0">
                <a:solidFill>
                  <a:srgbClr val="1A3A5C"/>
                </a:solidFill>
                <a:latin typeface="Calibri"/>
              </a:rPr>
              <a:t>[d59] US close : Dow hits another high , but tech stocks still</a:t>
            </a:r>
          </a:p>
          <a:p>
            <a:pPr algn="l">
              <a:lnSpc>
                <a:spcPct val="102000"/>
              </a:lnSpc>
            </a:pPr>
            <a:r>
              <a:rPr sz="900" b="0">
                <a:solidFill>
                  <a:srgbClr val="1A3A5C"/>
                </a:solidFill>
                <a:latin typeface="Calibri"/>
              </a:rPr>
              <a:t>[d59] Stocks mixed ahead of House vote on government shutdown </a:t>
            </a:r>
          </a:p>
          <a:p>
            <a:pPr algn="l">
              <a:lnSpc>
                <a:spcPct val="102000"/>
              </a:lnSpc>
            </a:pPr>
            <a:r>
              <a:rPr sz="900" b="0">
                <a:solidFill>
                  <a:srgbClr val="1A3A5C"/>
                </a:solidFill>
                <a:latin typeface="Calibri"/>
              </a:rPr>
              <a:t>[d61] Warburg Pincus , Permira said to be in talks to buy Clea</a:t>
            </a:r>
          </a:p>
          <a:p>
            <a:pPr algn="l">
              <a:lnSpc>
                <a:spcPct val="102000"/>
              </a:lnSpc>
            </a:pPr>
            <a:r>
              <a:rPr sz="900" b="0">
                <a:solidFill>
                  <a:srgbClr val="1A3A5C"/>
                </a:solidFill>
                <a:latin typeface="Calibri"/>
              </a:rPr>
              <a:t>[d61] Clearwater Analytics Stock Surges 19 % After - Hours On </a:t>
            </a:r>
          </a:p>
          <a:p>
            <a:pPr algn="l">
              <a:lnSpc>
                <a:spcPct val="102000"/>
              </a:lnSpc>
            </a:pPr>
            <a:r>
              <a:rPr sz="900" b="0">
                <a:solidFill>
                  <a:srgbClr val="1A3A5C"/>
                </a:solidFill>
                <a:latin typeface="Calibri"/>
              </a:rPr>
              <a:t>[d61] Clearwater Analytics Surges 19 % After - Hours On Friday</a:t>
            </a:r>
          </a:p>
          <a:p>
            <a:pPr algn="l">
              <a:lnSpc>
                <a:spcPct val="102000"/>
              </a:lnSpc>
            </a:pPr>
            <a:r>
              <a:rPr sz="900" b="0">
                <a:solidFill>
                  <a:srgbClr val="1A3A5C"/>
                </a:solidFill>
                <a:latin typeface="Calibri"/>
              </a:rPr>
              <a:t>Score the signals defined in the schema, based ONLY on the text above.</a:t>
            </a:r>
          </a:p>
          <a:p>
            <a:pPr algn="l">
              <a:lnSpc>
                <a:spcPct val="102000"/>
              </a:lnSpc>
            </a:pPr>
            <a:r>
              <a:rPr sz="950" b="0">
                <a:solidFill>
                  <a:srgbClr val="1A3A5C"/>
                </a:solidFill>
                <a:latin typeface="Calibri"/>
              </a:rPr>
              <a:t/>
            </a:r>
          </a:p>
          <a:p>
            <a:pPr algn="l">
              <a:lnSpc>
                <a:spcPct val="102000"/>
              </a:lnSpc>
            </a:pPr>
            <a:r>
              <a:rPr sz="950" b="1">
                <a:solidFill>
                  <a:srgbClr val="B8860B"/>
                </a:solidFill>
                <a:latin typeface="Calibri"/>
              </a:rPr>
              <a:t>＋  response_format = strict JSON schema  →  forces the 17 fields at right</a:t>
            </a:r>
          </a:p>
        </p:txBody>
      </p:sp>
      <p:sp>
        <p:nvSpPr>
          <p:cNvPr id="10" name="Rectangle 9"/>
          <p:cNvSpPr/>
          <p:nvPr/>
        </p:nvSpPr>
        <p:spPr>
          <a:xfrm>
            <a:off x="7242048" y="1901952"/>
            <a:ext cx="4581144" cy="1700784"/>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60920" y="1947672"/>
            <a:ext cx="4389120" cy="274320"/>
          </a:xfrm>
          <a:prstGeom prst="rect">
            <a:avLst/>
          </a:prstGeom>
          <a:noFill/>
        </p:spPr>
        <p:txBody>
          <a:bodyPr wrap="square" anchor="t" lIns="45720" rIns="45720" tIns="22860" bIns="22860">
            <a:spAutoFit/>
          </a:bodyPr>
          <a:lstStyle/>
          <a:p>
            <a:pPr algn="l">
              <a:lnSpc>
                <a:spcPct val="100000"/>
              </a:lnSpc>
            </a:pPr>
            <a:r>
              <a:rPr sz="1050" b="1">
                <a:solidFill>
                  <a:srgbClr val="FFC000"/>
                </a:solidFill>
                <a:latin typeface="Calibri"/>
              </a:rPr>
              <a:t>③  THE 17 FIELDS WE FORCE (the labels we ask for)</a:t>
            </a:r>
          </a:p>
        </p:txBody>
      </p:sp>
      <p:sp>
        <p:nvSpPr>
          <p:cNvPr id="12" name="TextBox 11"/>
          <p:cNvSpPr txBox="1"/>
          <p:nvPr/>
        </p:nvSpPr>
        <p:spPr>
          <a:xfrm>
            <a:off x="7360920" y="2249424"/>
            <a:ext cx="4370832" cy="1298448"/>
          </a:xfrm>
          <a:prstGeom prst="rect">
            <a:avLst/>
          </a:prstGeom>
          <a:noFill/>
        </p:spPr>
        <p:txBody>
          <a:bodyPr wrap="square" anchor="t" lIns="45720" rIns="45720" tIns="22860" bIns="22860">
            <a:spAutoFit/>
          </a:bodyPr>
          <a:lstStyle/>
          <a:p>
            <a:pPr algn="l">
              <a:lnSpc>
                <a:spcPct val="106000"/>
              </a:lnSpc>
            </a:pPr>
            <a:r>
              <a:rPr sz="950" b="0">
                <a:solidFill>
                  <a:srgbClr val="D6E8F7"/>
                </a:solidFill>
                <a:latin typeface="Calibri"/>
              </a:rPr>
              <a:t>10 M&amp;A-precursor signals, each 0-10 + a definition:</a:t>
            </a:r>
          </a:p>
          <a:p>
            <a:pPr algn="l">
              <a:lnSpc>
                <a:spcPct val="106000"/>
              </a:lnSpc>
            </a:pPr>
            <a:r>
              <a:rPr sz="950" b="0">
                <a:solidFill>
                  <a:srgbClr val="D6E8F7"/>
                </a:solidFill>
                <a:latin typeface="Calibri"/>
              </a:rPr>
              <a:t>  rumor · strategic-review · activist · mgmt-instability</a:t>
            </a:r>
          </a:p>
          <a:p>
            <a:pPr algn="l">
              <a:lnSpc>
                <a:spcPct val="106000"/>
              </a:lnSpc>
            </a:pPr>
            <a:r>
              <a:rPr sz="950" b="0">
                <a:solidFill>
                  <a:srgbClr val="D6E8F7"/>
                </a:solidFill>
                <a:latin typeface="Calibri"/>
              </a:rPr>
              <a:t>  distress · undervaluation · sector-consolidation</a:t>
            </a:r>
          </a:p>
          <a:p>
            <a:pPr algn="l">
              <a:lnSpc>
                <a:spcPct val="106000"/>
              </a:lnSpc>
            </a:pPr>
            <a:r>
              <a:rPr sz="950" b="0">
                <a:solidFill>
                  <a:srgbClr val="D6E8F7"/>
                </a:solidFill>
                <a:latin typeface="Calibri"/>
              </a:rPr>
              <a:t>  antitrust · divestiture · growth (control dim.)</a:t>
            </a:r>
          </a:p>
          <a:p>
            <a:pPr algn="l">
              <a:lnSpc>
                <a:spcPct val="106000"/>
              </a:lnSpc>
            </a:pPr>
            <a:r>
              <a:rPr sz="950" b="0">
                <a:solidFill>
                  <a:srgbClr val="D6E8F7"/>
                </a:solidFill>
                <a:latin typeface="Calibri"/>
              </a:rPr>
              <a:t>acquisition_likelihood 0-100   ·   info_quality 0-10</a:t>
            </a:r>
          </a:p>
          <a:p>
            <a:pPr algn="l">
              <a:lnSpc>
                <a:spcPct val="106000"/>
              </a:lnSpc>
            </a:pPr>
            <a:r>
              <a:rPr sz="950" b="0">
                <a:solidFill>
                  <a:srgbClr val="D6E8F7"/>
                </a:solidFill>
                <a:latin typeface="Calibri"/>
              </a:rPr>
              <a:t>dominant_theme · evidence_quotes (≤3) · rationale</a:t>
            </a:r>
          </a:p>
          <a:p>
            <a:pPr algn="l">
              <a:lnSpc>
                <a:spcPct val="106000"/>
              </a:lnSpc>
            </a:pPr>
            <a:r>
              <a:rPr sz="950" b="0">
                <a:solidFill>
                  <a:srgbClr val="D6E8F7"/>
                </a:solidFill>
                <a:latin typeface="Calibri"/>
              </a:rPr>
              <a:t>recognized_company / recognized_deal → memorization flag</a:t>
            </a:r>
          </a:p>
        </p:txBody>
      </p:sp>
      <p:sp>
        <p:nvSpPr>
          <p:cNvPr id="13" name="Rectangle 12"/>
          <p:cNvSpPr/>
          <p:nvPr/>
        </p:nvSpPr>
        <p:spPr>
          <a:xfrm>
            <a:off x="7242048" y="3675887"/>
            <a:ext cx="4581144" cy="2386584"/>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60920" y="3721608"/>
            <a:ext cx="4389120" cy="274320"/>
          </a:xfrm>
          <a:prstGeom prst="rect">
            <a:avLst/>
          </a:prstGeom>
          <a:noFill/>
        </p:spPr>
        <p:txBody>
          <a:bodyPr wrap="square" anchor="t" lIns="45720" rIns="45720" tIns="22860" bIns="22860">
            <a:spAutoFit/>
          </a:bodyPr>
          <a:lstStyle/>
          <a:p>
            <a:pPr algn="l">
              <a:lnSpc>
                <a:spcPct val="100000"/>
              </a:lnSpc>
            </a:pPr>
            <a:r>
              <a:rPr sz="1050" b="1">
                <a:solidFill>
                  <a:srgbClr val="FFC000"/>
                </a:solidFill>
                <a:latin typeface="Calibri"/>
              </a:rPr>
              <a:t>④  IT RETURNS - strict JSON, one call</a:t>
            </a:r>
          </a:p>
        </p:txBody>
      </p:sp>
      <p:sp>
        <p:nvSpPr>
          <p:cNvPr id="15" name="TextBox 14"/>
          <p:cNvSpPr txBox="1"/>
          <p:nvPr/>
        </p:nvSpPr>
        <p:spPr>
          <a:xfrm>
            <a:off x="7360920" y="4023360"/>
            <a:ext cx="4370832" cy="1965960"/>
          </a:xfrm>
          <a:prstGeom prst="rect">
            <a:avLst/>
          </a:prstGeom>
          <a:noFill/>
        </p:spPr>
        <p:txBody>
          <a:bodyPr wrap="square" anchor="t" lIns="45720" rIns="45720" tIns="22860" bIns="22860">
            <a:spAutoFit/>
          </a:bodyPr>
          <a:lstStyle/>
          <a:p>
            <a:pPr algn="l">
              <a:lnSpc>
                <a:spcPct val="100000"/>
              </a:lnSpc>
            </a:pPr>
            <a:r>
              <a:rPr sz="800" b="0">
                <a:solidFill>
                  <a:srgbClr val="D6E8F7"/>
                </a:solidFill>
                <a:latin typeface="Calibri"/>
              </a:rPr>
              <a:t>{</a:t>
            </a:r>
          </a:p>
          <a:p>
            <a:pPr algn="l">
              <a:lnSpc>
                <a:spcPct val="100000"/>
              </a:lnSpc>
            </a:pPr>
            <a:r>
              <a:rPr sz="800" b="0">
                <a:solidFill>
                  <a:srgbClr val="D6E8F7"/>
                </a:solidFill>
                <a:latin typeface="Calibri"/>
              </a:rPr>
              <a:t> "ma_rumor_intensity": 8,</a:t>
            </a:r>
          </a:p>
          <a:p>
            <a:pPr algn="l">
              <a:lnSpc>
                <a:spcPct val="100000"/>
              </a:lnSpc>
            </a:pPr>
            <a:r>
              <a:rPr sz="800" b="0">
                <a:solidFill>
                  <a:srgbClr val="D6E8F7"/>
                </a:solidFill>
                <a:latin typeface="Calibri"/>
              </a:rPr>
              <a:t> "strategic_alternatives_review": 2,</a:t>
            </a:r>
          </a:p>
          <a:p>
            <a:pPr algn="l">
              <a:lnSpc>
                <a:spcPct val="100000"/>
              </a:lnSpc>
            </a:pPr>
            <a:r>
              <a:rPr sz="800" b="0">
                <a:solidFill>
                  <a:srgbClr val="D6E8F7"/>
                </a:solidFill>
                <a:latin typeface="Calibri"/>
              </a:rPr>
              <a:t> "activist_pressure": 0,</a:t>
            </a:r>
          </a:p>
          <a:p>
            <a:pPr algn="l">
              <a:lnSpc>
                <a:spcPct val="100000"/>
              </a:lnSpc>
            </a:pPr>
            <a:r>
              <a:rPr sz="800" b="0">
                <a:solidFill>
                  <a:srgbClr val="D6E8F7"/>
                </a:solidFill>
                <a:latin typeface="Calibri"/>
              </a:rPr>
              <a:t> "management_instability": 1,</a:t>
            </a:r>
          </a:p>
          <a:p>
            <a:pPr algn="l">
              <a:lnSpc>
                <a:spcPct val="100000"/>
              </a:lnSpc>
            </a:pPr>
            <a:r>
              <a:rPr sz="800" b="0">
                <a:solidFill>
                  <a:srgbClr val="D6E8F7"/>
                </a:solidFill>
                <a:latin typeface="Calibri"/>
              </a:rPr>
              <a:t> "financial_distress": 1,</a:t>
            </a:r>
          </a:p>
          <a:p>
            <a:pPr algn="l">
              <a:lnSpc>
                <a:spcPct val="100000"/>
              </a:lnSpc>
            </a:pPr>
            <a:r>
              <a:rPr sz="800" b="0">
                <a:solidFill>
                  <a:srgbClr val="D6E8F7"/>
                </a:solidFill>
                <a:latin typeface="Calibri"/>
              </a:rPr>
              <a:t> "acquisition_likelihood": 55,</a:t>
            </a:r>
          </a:p>
          <a:p>
            <a:pPr algn="l">
              <a:lnSpc>
                <a:spcPct val="100000"/>
              </a:lnSpc>
            </a:pPr>
            <a:r>
              <a:rPr sz="800" b="0">
                <a:solidFill>
                  <a:srgbClr val="D6E8F7"/>
                </a:solidFill>
                <a:latin typeface="Calibri"/>
              </a:rPr>
              <a:t> "dominant_theme": "ma_speculation",</a:t>
            </a:r>
          </a:p>
          <a:p>
            <a:pPr algn="l">
              <a:lnSpc>
                <a:spcPct val="100000"/>
              </a:lnSpc>
            </a:pPr>
            <a:r>
              <a:rPr sz="800" b="0">
                <a:solidFill>
                  <a:srgbClr val="D6E8F7"/>
                </a:solidFill>
                <a:latin typeface="Calibri"/>
              </a:rPr>
              <a:t> "recognized_company": true,</a:t>
            </a:r>
          </a:p>
          <a:p>
            <a:pPr algn="l">
              <a:lnSpc>
                <a:spcPct val="100000"/>
              </a:lnSpc>
            </a:pPr>
            <a:r>
              <a:rPr sz="800" b="0">
                <a:solidFill>
                  <a:srgbClr val="D6E8F7"/>
                </a:solidFill>
                <a:latin typeface="Calibri"/>
              </a:rPr>
              <a:t> "recognized_deal": false,</a:t>
            </a:r>
          </a:p>
          <a:p>
            <a:pPr algn="l">
              <a:lnSpc>
                <a:spcPct val="100000"/>
              </a:lnSpc>
            </a:pPr>
            <a:r>
              <a:rPr sz="800" b="0">
                <a:solidFill>
                  <a:srgbClr val="D6E8F7"/>
                </a:solidFill>
                <a:latin typeface="Calibri"/>
              </a:rPr>
              <a:t> "evidence_quotes": [</a:t>
            </a:r>
          </a:p>
          <a:p>
            <a:pPr algn="l">
              <a:lnSpc>
                <a:spcPct val="100000"/>
              </a:lnSpc>
            </a:pPr>
            <a:r>
              <a:rPr sz="800" b="0">
                <a:solidFill>
                  <a:srgbClr val="D6E8F7"/>
                </a:solidFill>
                <a:latin typeface="Calibri"/>
              </a:rPr>
              <a:t>  "Warburg Pincus , Permira said to be in talks to \u2026",</a:t>
            </a:r>
          </a:p>
          <a:p>
            <a:pPr algn="l">
              <a:lnSpc>
                <a:spcPct val="100000"/>
              </a:lnSpc>
            </a:pPr>
            <a:r>
              <a:rPr sz="800" b="0">
                <a:solidFill>
                  <a:srgbClr val="D6E8F7"/>
                </a:solidFill>
                <a:latin typeface="Calibri"/>
              </a:rPr>
              <a:t>  "Buyout firm Thoma Bravo has offered to buy Clear\u2026"</a:t>
            </a:r>
          </a:p>
          <a:p>
            <a:pPr algn="l">
              <a:lnSpc>
                <a:spcPct val="100000"/>
              </a:lnSpc>
            </a:pPr>
            <a:r>
              <a:rPr sz="800" b="0">
                <a:solidFill>
                  <a:srgbClr val="D6E8F7"/>
                </a:solidFill>
                <a:latin typeface="Calibri"/>
              </a:rPr>
              <a:t> ],</a:t>
            </a:r>
          </a:p>
          <a:p>
            <a:pPr algn="l">
              <a:lnSpc>
                <a:spcPct val="100000"/>
              </a:lnSpc>
            </a:pPr>
            <a:r>
              <a:rPr sz="800" b="0">
                <a:solidFill>
                  <a:srgbClr val="D6E8F7"/>
                </a:solidFill>
                <a:latin typeface="Calibri"/>
              </a:rPr>
              <a:t> "rationale": "Multiple headlines report private-equity firm</a:t>
            </a:r>
          </a:p>
          <a:p>
            <a:pPr algn="l">
              <a:lnSpc>
                <a:spcPct val="100000"/>
              </a:lnSpc>
            </a:pPr>
            <a:r>
              <a:rPr sz="800" b="0">
                <a:solidFill>
                  <a:srgbClr val="D6E8F7"/>
                </a:solidFill>
                <a:latin typeface="Calibri"/>
              </a:rPr>
              <a:t>}</a:t>
            </a:r>
          </a:p>
        </p:txBody>
      </p:sp>
      <p:sp>
        <p:nvSpPr>
          <p:cNvPr id="16" name="Rectangle 15"/>
          <p:cNvSpPr/>
          <p:nvPr/>
        </p:nvSpPr>
        <p:spPr>
          <a:xfrm>
            <a:off x="0" y="6583680"/>
            <a:ext cx="12191695" cy="27432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6574536"/>
            <a:ext cx="8229600" cy="256032"/>
          </a:xfrm>
          <a:prstGeom prst="rect">
            <a:avLst/>
          </a:prstGeom>
          <a:noFill/>
        </p:spPr>
        <p:txBody>
          <a:bodyPr wrap="square" anchor="t" lIns="45720" rIns="45720" tIns="22860" bIns="22860">
            <a:spAutoFit/>
          </a:bodyPr>
          <a:lstStyle/>
          <a:p>
            <a:pPr algn="l">
              <a:lnSpc>
                <a:spcPct val="100000"/>
              </a:lnSpc>
            </a:pPr>
            <a:r>
              <a:rPr sz="900" b="0">
                <a:solidFill>
                  <a:srgbClr val="BBBBBB"/>
                </a:solidFill>
                <a:latin typeface="Calibri"/>
              </a:rPr>
              <a:t>M&amp;A Prediction | JPMorgan Industry Project | July 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521440" cy="566928"/>
          </a:xfrm>
          <a:prstGeom prst="rect">
            <a:avLst/>
          </a:prstGeom>
          <a:noFill/>
        </p:spPr>
        <p:txBody>
          <a:bodyPr wrap="square" anchor="t" lIns="45720" rIns="45720" tIns="22860" bIns="22860">
            <a:spAutoFit/>
          </a:bodyPr>
          <a:lstStyle/>
          <a:p>
            <a:pPr algn="l">
              <a:lnSpc>
                <a:spcPct val="100000"/>
              </a:lnSpc>
            </a:pPr>
            <a:r>
              <a:rPr sz="2800" b="1">
                <a:solidFill>
                  <a:srgbClr val="FFFFFF"/>
                </a:solidFill>
                <a:latin typeface="Calibri"/>
              </a:rPr>
              <a:t>Results: Classic NLP vs LLM vs Combined</a:t>
            </a:r>
          </a:p>
        </p:txBody>
      </p:sp>
      <p:sp>
        <p:nvSpPr>
          <p:cNvPr id="4" name="TextBox 3"/>
          <p:cNvSpPr txBox="1"/>
          <p:nvPr/>
        </p:nvSpPr>
        <p:spPr>
          <a:xfrm>
            <a:off x="274320" y="640080"/>
            <a:ext cx="11521440" cy="365760"/>
          </a:xfrm>
          <a:prstGeom prst="rect">
            <a:avLst/>
          </a:prstGeom>
          <a:noFill/>
        </p:spPr>
        <p:txBody>
          <a:bodyPr wrap="square" anchor="t" lIns="45720" rIns="45720" tIns="22860" bIns="22860">
            <a:spAutoFit/>
          </a:bodyPr>
          <a:lstStyle/>
          <a:p>
            <a:pPr algn="l">
              <a:lnSpc>
                <a:spcPct val="100000"/>
              </a:lnSpc>
            </a:pPr>
            <a:r>
              <a:rPr sz="1400" b="0">
                <a:solidFill>
                  <a:srgbClr val="B8860B"/>
                </a:solidFill>
                <a:latin typeface="Calibri"/>
              </a:rPr>
              <a:t>65 windows, identical rows &amp; time split (train ≤ 2023-06-12), bootstrap 95% CIs</a:t>
            </a:r>
          </a:p>
        </p:txBody>
      </p:sp>
      <p:sp>
        <p:nvSpPr>
          <p:cNvPr id="5" name="Rectangle 4"/>
          <p:cNvSpPr/>
          <p:nvPr/>
        </p:nvSpPr>
        <p:spPr>
          <a:xfrm>
            <a:off x="0" y="1051560"/>
            <a:ext cx="12191695" cy="36576"/>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417320"/>
            <a:ext cx="3383280" cy="402336"/>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417320"/>
            <a:ext cx="3291840" cy="402336"/>
          </a:xfrm>
          <a:prstGeom prst="rect">
            <a:avLst/>
          </a:prstGeom>
          <a:noFill/>
        </p:spPr>
        <p:txBody>
          <a:bodyPr wrap="square" anchor="ctr" lIns="45720" rIns="45720" tIns="22860" bIns="22860">
            <a:spAutoFit/>
          </a:bodyPr>
          <a:lstStyle/>
          <a:p>
            <a:pPr algn="l">
              <a:lnSpc>
                <a:spcPct val="100000"/>
              </a:lnSpc>
            </a:pPr>
            <a:r>
              <a:rPr sz="1250" b="1">
                <a:solidFill>
                  <a:srgbClr val="FFFFFF"/>
                </a:solidFill>
                <a:latin typeface="Calibri"/>
              </a:rPr>
              <a:t>Feature set</a:t>
            </a:r>
          </a:p>
        </p:txBody>
      </p:sp>
      <p:sp>
        <p:nvSpPr>
          <p:cNvPr id="8" name="Rectangle 7"/>
          <p:cNvSpPr/>
          <p:nvPr/>
        </p:nvSpPr>
        <p:spPr>
          <a:xfrm>
            <a:off x="3749040" y="1417320"/>
            <a:ext cx="2743200" cy="402336"/>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94760" y="1417320"/>
            <a:ext cx="2651760" cy="402336"/>
          </a:xfrm>
          <a:prstGeom prst="rect">
            <a:avLst/>
          </a:prstGeom>
          <a:noFill/>
        </p:spPr>
        <p:txBody>
          <a:bodyPr wrap="square" anchor="ctr" lIns="45720" rIns="45720" tIns="22860" bIns="22860">
            <a:spAutoFit/>
          </a:bodyPr>
          <a:lstStyle/>
          <a:p>
            <a:pPr algn="l">
              <a:lnSpc>
                <a:spcPct val="100000"/>
              </a:lnSpc>
            </a:pPr>
            <a:r>
              <a:rPr sz="1250" b="1">
                <a:solidFill>
                  <a:srgbClr val="FFFFFF"/>
                </a:solidFill>
                <a:latin typeface="Calibri"/>
              </a:rPr>
              <a:t>Best model</a:t>
            </a:r>
          </a:p>
        </p:txBody>
      </p:sp>
      <p:sp>
        <p:nvSpPr>
          <p:cNvPr id="10" name="Rectangle 9"/>
          <p:cNvSpPr/>
          <p:nvPr/>
        </p:nvSpPr>
        <p:spPr>
          <a:xfrm>
            <a:off x="6492240" y="1417320"/>
            <a:ext cx="2377440" cy="402336"/>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1417320"/>
            <a:ext cx="2286000" cy="402336"/>
          </a:xfrm>
          <a:prstGeom prst="rect">
            <a:avLst/>
          </a:prstGeom>
          <a:noFill/>
        </p:spPr>
        <p:txBody>
          <a:bodyPr wrap="square" anchor="ctr" lIns="45720" rIns="45720" tIns="22860" bIns="22860">
            <a:spAutoFit/>
          </a:bodyPr>
          <a:lstStyle/>
          <a:p>
            <a:pPr algn="l">
              <a:lnSpc>
                <a:spcPct val="100000"/>
              </a:lnSpc>
            </a:pPr>
            <a:r>
              <a:rPr sz="1250" b="1">
                <a:solidFill>
                  <a:srgbClr val="FFFFFF"/>
                </a:solidFill>
                <a:latin typeface="Calibri"/>
              </a:rPr>
              <a:t>Test ROC-AUC</a:t>
            </a:r>
          </a:p>
        </p:txBody>
      </p:sp>
      <p:sp>
        <p:nvSpPr>
          <p:cNvPr id="12" name="Rectangle 11"/>
          <p:cNvSpPr/>
          <p:nvPr/>
        </p:nvSpPr>
        <p:spPr>
          <a:xfrm>
            <a:off x="8869680" y="1417320"/>
            <a:ext cx="2651760" cy="402336"/>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15400" y="1417320"/>
            <a:ext cx="2560320" cy="402336"/>
          </a:xfrm>
          <a:prstGeom prst="rect">
            <a:avLst/>
          </a:prstGeom>
          <a:noFill/>
        </p:spPr>
        <p:txBody>
          <a:bodyPr wrap="square" anchor="ctr" lIns="45720" rIns="45720" tIns="22860" bIns="22860">
            <a:spAutoFit/>
          </a:bodyPr>
          <a:lstStyle/>
          <a:p>
            <a:pPr algn="l">
              <a:lnSpc>
                <a:spcPct val="100000"/>
              </a:lnSpc>
            </a:pPr>
            <a:r>
              <a:rPr sz="1250" b="1">
                <a:solidFill>
                  <a:srgbClr val="FFFFFF"/>
                </a:solidFill>
                <a:latin typeface="Calibri"/>
              </a:rPr>
              <a:t>95% CI (bootstrap)</a:t>
            </a:r>
          </a:p>
        </p:txBody>
      </p:sp>
      <p:sp>
        <p:nvSpPr>
          <p:cNvPr id="14" name="Rectangle 13"/>
          <p:cNvSpPr/>
          <p:nvPr/>
        </p:nvSpPr>
        <p:spPr>
          <a:xfrm>
            <a:off x="365760" y="1819656"/>
            <a:ext cx="3383280" cy="402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 y="1819656"/>
            <a:ext cx="3291840" cy="402336"/>
          </a:xfrm>
          <a:prstGeom prst="rect">
            <a:avLst/>
          </a:prstGeom>
          <a:noFill/>
        </p:spPr>
        <p:txBody>
          <a:bodyPr wrap="square" anchor="ctr" lIns="45720" rIns="45720" tIns="22860" bIns="22860">
            <a:spAutoFit/>
          </a:bodyPr>
          <a:lstStyle/>
          <a:p>
            <a:pPr algn="l">
              <a:lnSpc>
                <a:spcPct val="100000"/>
              </a:lnSpc>
            </a:pPr>
            <a:r>
              <a:rPr sz="1250" b="0">
                <a:solidFill>
                  <a:srgbClr val="1A3A5C"/>
                </a:solidFill>
                <a:latin typeface="Calibri"/>
              </a:rPr>
              <a:t>A: classic NLP (week4)</a:t>
            </a:r>
          </a:p>
        </p:txBody>
      </p:sp>
      <p:sp>
        <p:nvSpPr>
          <p:cNvPr id="16" name="Rectangle 15"/>
          <p:cNvSpPr/>
          <p:nvPr/>
        </p:nvSpPr>
        <p:spPr>
          <a:xfrm>
            <a:off x="3749040" y="1819656"/>
            <a:ext cx="2743200" cy="402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94760" y="1819656"/>
            <a:ext cx="2651760" cy="402336"/>
          </a:xfrm>
          <a:prstGeom prst="rect">
            <a:avLst/>
          </a:prstGeom>
          <a:noFill/>
        </p:spPr>
        <p:txBody>
          <a:bodyPr wrap="square" anchor="ctr" lIns="45720" rIns="45720" tIns="22860" bIns="22860">
            <a:spAutoFit/>
          </a:bodyPr>
          <a:lstStyle/>
          <a:p>
            <a:pPr algn="l">
              <a:lnSpc>
                <a:spcPct val="100000"/>
              </a:lnSpc>
            </a:pPr>
            <a:r>
              <a:rPr sz="1250" b="0">
                <a:solidFill>
                  <a:srgbClr val="1A3A5C"/>
                </a:solidFill>
                <a:latin typeface="Calibri"/>
              </a:rPr>
              <a:t>Logistic Regression</a:t>
            </a:r>
          </a:p>
        </p:txBody>
      </p:sp>
      <p:sp>
        <p:nvSpPr>
          <p:cNvPr id="18" name="Rectangle 17"/>
          <p:cNvSpPr/>
          <p:nvPr/>
        </p:nvSpPr>
        <p:spPr>
          <a:xfrm>
            <a:off x="6492240" y="1819656"/>
            <a:ext cx="2377440" cy="402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37960" y="1819656"/>
            <a:ext cx="2286000" cy="402336"/>
          </a:xfrm>
          <a:prstGeom prst="rect">
            <a:avLst/>
          </a:prstGeom>
          <a:noFill/>
        </p:spPr>
        <p:txBody>
          <a:bodyPr wrap="square" anchor="ctr" lIns="45720" rIns="45720" tIns="22860" bIns="22860">
            <a:spAutoFit/>
          </a:bodyPr>
          <a:lstStyle/>
          <a:p>
            <a:pPr algn="l">
              <a:lnSpc>
                <a:spcPct val="100000"/>
              </a:lnSpc>
            </a:pPr>
            <a:r>
              <a:rPr sz="1250" b="0">
                <a:solidFill>
                  <a:srgbClr val="1A3A5C"/>
                </a:solidFill>
                <a:latin typeface="Calibri"/>
              </a:rPr>
              <a:t>0.440</a:t>
            </a:r>
          </a:p>
        </p:txBody>
      </p:sp>
      <p:sp>
        <p:nvSpPr>
          <p:cNvPr id="20" name="Rectangle 19"/>
          <p:cNvSpPr/>
          <p:nvPr/>
        </p:nvSpPr>
        <p:spPr>
          <a:xfrm>
            <a:off x="8869680" y="1819656"/>
            <a:ext cx="2651760" cy="402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15400" y="1819656"/>
            <a:ext cx="2560320" cy="402336"/>
          </a:xfrm>
          <a:prstGeom prst="rect">
            <a:avLst/>
          </a:prstGeom>
          <a:noFill/>
        </p:spPr>
        <p:txBody>
          <a:bodyPr wrap="square" anchor="ctr" lIns="45720" rIns="45720" tIns="22860" bIns="22860">
            <a:spAutoFit/>
          </a:bodyPr>
          <a:lstStyle/>
          <a:p>
            <a:pPr algn="l">
              <a:lnSpc>
                <a:spcPct val="100000"/>
              </a:lnSpc>
            </a:pPr>
            <a:r>
              <a:rPr sz="1250" b="0">
                <a:solidFill>
                  <a:srgbClr val="1A3A5C"/>
                </a:solidFill>
                <a:latin typeface="Calibri"/>
              </a:rPr>
              <a:t>[0.111, 0.800]</a:t>
            </a:r>
          </a:p>
        </p:txBody>
      </p:sp>
      <p:sp>
        <p:nvSpPr>
          <p:cNvPr id="22" name="Rectangle 21"/>
          <p:cNvSpPr/>
          <p:nvPr/>
        </p:nvSpPr>
        <p:spPr>
          <a:xfrm>
            <a:off x="365760" y="2221992"/>
            <a:ext cx="3383280" cy="402336"/>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80" y="2221992"/>
            <a:ext cx="3291840" cy="402336"/>
          </a:xfrm>
          <a:prstGeom prst="rect">
            <a:avLst/>
          </a:prstGeom>
          <a:noFill/>
        </p:spPr>
        <p:txBody>
          <a:bodyPr wrap="square" anchor="ctr" lIns="45720" rIns="45720" tIns="22860" bIns="22860">
            <a:spAutoFit/>
          </a:bodyPr>
          <a:lstStyle/>
          <a:p>
            <a:pPr algn="l">
              <a:lnSpc>
                <a:spcPct val="100000"/>
              </a:lnSpc>
            </a:pPr>
            <a:r>
              <a:rPr sz="1250" b="0">
                <a:solidFill>
                  <a:srgbClr val="1A3A5C"/>
                </a:solidFill>
                <a:latin typeface="Calibri"/>
              </a:rPr>
              <a:t>B: LLM signals only</a:t>
            </a:r>
          </a:p>
        </p:txBody>
      </p:sp>
      <p:sp>
        <p:nvSpPr>
          <p:cNvPr id="24" name="Rectangle 23"/>
          <p:cNvSpPr/>
          <p:nvPr/>
        </p:nvSpPr>
        <p:spPr>
          <a:xfrm>
            <a:off x="3749040" y="2221992"/>
            <a:ext cx="2743200" cy="402336"/>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794760" y="2221992"/>
            <a:ext cx="2651760" cy="402336"/>
          </a:xfrm>
          <a:prstGeom prst="rect">
            <a:avLst/>
          </a:prstGeom>
          <a:noFill/>
        </p:spPr>
        <p:txBody>
          <a:bodyPr wrap="square" anchor="ctr" lIns="45720" rIns="45720" tIns="22860" bIns="22860">
            <a:spAutoFit/>
          </a:bodyPr>
          <a:lstStyle/>
          <a:p>
            <a:pPr algn="l">
              <a:lnSpc>
                <a:spcPct val="100000"/>
              </a:lnSpc>
            </a:pPr>
            <a:r>
              <a:rPr sz="1250" b="0">
                <a:solidFill>
                  <a:srgbClr val="1A3A5C"/>
                </a:solidFill>
                <a:latin typeface="Calibri"/>
              </a:rPr>
              <a:t>Gradient Boosting</a:t>
            </a:r>
          </a:p>
        </p:txBody>
      </p:sp>
      <p:sp>
        <p:nvSpPr>
          <p:cNvPr id="26" name="Rectangle 25"/>
          <p:cNvSpPr/>
          <p:nvPr/>
        </p:nvSpPr>
        <p:spPr>
          <a:xfrm>
            <a:off x="6492240" y="2221992"/>
            <a:ext cx="2377440" cy="402336"/>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37960" y="2221992"/>
            <a:ext cx="2286000" cy="402336"/>
          </a:xfrm>
          <a:prstGeom prst="rect">
            <a:avLst/>
          </a:prstGeom>
          <a:noFill/>
        </p:spPr>
        <p:txBody>
          <a:bodyPr wrap="square" anchor="ctr" lIns="45720" rIns="45720" tIns="22860" bIns="22860">
            <a:spAutoFit/>
          </a:bodyPr>
          <a:lstStyle/>
          <a:p>
            <a:pPr algn="l">
              <a:lnSpc>
                <a:spcPct val="100000"/>
              </a:lnSpc>
            </a:pPr>
            <a:r>
              <a:rPr sz="1250" b="0">
                <a:solidFill>
                  <a:srgbClr val="1A3A5C"/>
                </a:solidFill>
                <a:latin typeface="Calibri"/>
              </a:rPr>
              <a:t>0.536</a:t>
            </a:r>
          </a:p>
        </p:txBody>
      </p:sp>
      <p:sp>
        <p:nvSpPr>
          <p:cNvPr id="28" name="Rectangle 27"/>
          <p:cNvSpPr/>
          <p:nvPr/>
        </p:nvSpPr>
        <p:spPr>
          <a:xfrm>
            <a:off x="8869680" y="2221992"/>
            <a:ext cx="2651760" cy="402336"/>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915400" y="2221992"/>
            <a:ext cx="2560320" cy="402336"/>
          </a:xfrm>
          <a:prstGeom prst="rect">
            <a:avLst/>
          </a:prstGeom>
          <a:noFill/>
        </p:spPr>
        <p:txBody>
          <a:bodyPr wrap="square" anchor="ctr" lIns="45720" rIns="45720" tIns="22860" bIns="22860">
            <a:spAutoFit/>
          </a:bodyPr>
          <a:lstStyle/>
          <a:p>
            <a:pPr algn="l">
              <a:lnSpc>
                <a:spcPct val="100000"/>
              </a:lnSpc>
            </a:pPr>
            <a:r>
              <a:rPr sz="1250" b="0">
                <a:solidFill>
                  <a:srgbClr val="1A3A5C"/>
                </a:solidFill>
                <a:latin typeface="Calibri"/>
              </a:rPr>
              <a:t>[0.167, 0.889]</a:t>
            </a:r>
          </a:p>
        </p:txBody>
      </p:sp>
      <p:sp>
        <p:nvSpPr>
          <p:cNvPr id="30" name="Rectangle 29"/>
          <p:cNvSpPr/>
          <p:nvPr/>
        </p:nvSpPr>
        <p:spPr>
          <a:xfrm>
            <a:off x="365760" y="2624328"/>
            <a:ext cx="3383280" cy="402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1480" y="2624328"/>
            <a:ext cx="3291840" cy="402336"/>
          </a:xfrm>
          <a:prstGeom prst="rect">
            <a:avLst/>
          </a:prstGeom>
          <a:noFill/>
        </p:spPr>
        <p:txBody>
          <a:bodyPr wrap="square" anchor="ctr" lIns="45720" rIns="45720" tIns="22860" bIns="22860">
            <a:spAutoFit/>
          </a:bodyPr>
          <a:lstStyle/>
          <a:p>
            <a:pPr algn="l">
              <a:lnSpc>
                <a:spcPct val="100000"/>
              </a:lnSpc>
            </a:pPr>
            <a:r>
              <a:rPr sz="1250" b="0">
                <a:solidFill>
                  <a:srgbClr val="1A3A5C"/>
                </a:solidFill>
                <a:latin typeface="Calibri"/>
              </a:rPr>
              <a:t>C: combined A+B</a:t>
            </a:r>
          </a:p>
        </p:txBody>
      </p:sp>
      <p:sp>
        <p:nvSpPr>
          <p:cNvPr id="32" name="Rectangle 31"/>
          <p:cNvSpPr/>
          <p:nvPr/>
        </p:nvSpPr>
        <p:spPr>
          <a:xfrm>
            <a:off x="3749040" y="2624328"/>
            <a:ext cx="2743200" cy="402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794760" y="2624328"/>
            <a:ext cx="2651760" cy="402336"/>
          </a:xfrm>
          <a:prstGeom prst="rect">
            <a:avLst/>
          </a:prstGeom>
          <a:noFill/>
        </p:spPr>
        <p:txBody>
          <a:bodyPr wrap="square" anchor="ctr" lIns="45720" rIns="45720" tIns="22860" bIns="22860">
            <a:spAutoFit/>
          </a:bodyPr>
          <a:lstStyle/>
          <a:p>
            <a:pPr algn="l">
              <a:lnSpc>
                <a:spcPct val="100000"/>
              </a:lnSpc>
            </a:pPr>
            <a:r>
              <a:rPr sz="1250" b="0">
                <a:solidFill>
                  <a:srgbClr val="1A3A5C"/>
                </a:solidFill>
                <a:latin typeface="Calibri"/>
              </a:rPr>
              <a:t>Logistic Regression</a:t>
            </a:r>
          </a:p>
        </p:txBody>
      </p:sp>
      <p:sp>
        <p:nvSpPr>
          <p:cNvPr id="34" name="Rectangle 33"/>
          <p:cNvSpPr/>
          <p:nvPr/>
        </p:nvSpPr>
        <p:spPr>
          <a:xfrm>
            <a:off x="6492240" y="2624328"/>
            <a:ext cx="2377440" cy="402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37960" y="2624328"/>
            <a:ext cx="2286000" cy="402336"/>
          </a:xfrm>
          <a:prstGeom prst="rect">
            <a:avLst/>
          </a:prstGeom>
          <a:noFill/>
        </p:spPr>
        <p:txBody>
          <a:bodyPr wrap="square" anchor="ctr" lIns="45720" rIns="45720" tIns="22860" bIns="22860">
            <a:spAutoFit/>
          </a:bodyPr>
          <a:lstStyle/>
          <a:p>
            <a:pPr algn="l">
              <a:lnSpc>
                <a:spcPct val="100000"/>
              </a:lnSpc>
            </a:pPr>
            <a:r>
              <a:rPr sz="1250" b="0">
                <a:solidFill>
                  <a:srgbClr val="1A3A5C"/>
                </a:solidFill>
                <a:latin typeface="Calibri"/>
              </a:rPr>
              <a:t>0.452</a:t>
            </a:r>
          </a:p>
        </p:txBody>
      </p:sp>
      <p:sp>
        <p:nvSpPr>
          <p:cNvPr id="36" name="Rectangle 35"/>
          <p:cNvSpPr/>
          <p:nvPr/>
        </p:nvSpPr>
        <p:spPr>
          <a:xfrm>
            <a:off x="8869680" y="2624328"/>
            <a:ext cx="2651760" cy="402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915400" y="2624328"/>
            <a:ext cx="2560320" cy="402336"/>
          </a:xfrm>
          <a:prstGeom prst="rect">
            <a:avLst/>
          </a:prstGeom>
          <a:noFill/>
        </p:spPr>
        <p:txBody>
          <a:bodyPr wrap="square" anchor="ctr" lIns="45720" rIns="45720" tIns="22860" bIns="22860">
            <a:spAutoFit/>
          </a:bodyPr>
          <a:lstStyle/>
          <a:p>
            <a:pPr algn="l">
              <a:lnSpc>
                <a:spcPct val="100000"/>
              </a:lnSpc>
            </a:pPr>
            <a:r>
              <a:rPr sz="1250" b="0">
                <a:solidFill>
                  <a:srgbClr val="1A3A5C"/>
                </a:solidFill>
                <a:latin typeface="Calibri"/>
              </a:rPr>
              <a:t>[0.119, 0.800]</a:t>
            </a:r>
          </a:p>
        </p:txBody>
      </p:sp>
      <p:pic>
        <p:nvPicPr>
          <p:cNvPr id="38" name="Picture 37" descr="fig_auc_comparison.png"/>
          <p:cNvPicPr>
            <a:picLocks noChangeAspect="1"/>
          </p:cNvPicPr>
          <p:nvPr/>
        </p:nvPicPr>
        <p:blipFill>
          <a:blip r:embed="rId2"/>
          <a:stretch>
            <a:fillRect/>
          </a:stretch>
        </p:blipFill>
        <p:spPr>
          <a:xfrm>
            <a:off x="1097280" y="3246120"/>
            <a:ext cx="6948066" cy="2423160"/>
          </a:xfrm>
          <a:prstGeom prst="rect">
            <a:avLst/>
          </a:prstGeom>
        </p:spPr>
      </p:pic>
      <p:sp>
        <p:nvSpPr>
          <p:cNvPr id="39" name="Rectangle 38"/>
          <p:cNvSpPr/>
          <p:nvPr/>
        </p:nvSpPr>
        <p:spPr>
          <a:xfrm>
            <a:off x="365760" y="5806440"/>
            <a:ext cx="11457432" cy="685800"/>
          </a:xfrm>
          <a:prstGeom prst="rect">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48640" y="5843016"/>
            <a:ext cx="11064240" cy="612648"/>
          </a:xfrm>
          <a:prstGeom prst="rect">
            <a:avLst/>
          </a:prstGeom>
          <a:noFill/>
        </p:spPr>
        <p:txBody>
          <a:bodyPr wrap="square" anchor="ctr" lIns="45720" rIns="45720" tIns="22860" bIns="22860">
            <a:spAutoFit/>
          </a:bodyPr>
          <a:lstStyle/>
          <a:p>
            <a:pPr algn="l">
              <a:lnSpc>
                <a:spcPct val="100000"/>
              </a:lnSpc>
            </a:pPr>
            <a:r>
              <a:rPr sz="1400" b="1">
                <a:solidFill>
                  <a:srgbClr val="1A3A5C"/>
                </a:solidFill>
                <a:latin typeface="Calibri"/>
              </a:rPr>
              <a:t>CIs overlap (Δ = +0.012): the LLM does not clearly beat the classic stack on pre-announcement prediction - consistent with week 3-4's null.</a:t>
            </a:r>
          </a:p>
        </p:txBody>
      </p:sp>
      <p:sp>
        <p:nvSpPr>
          <p:cNvPr id="41" name="Rectangle 40"/>
          <p:cNvSpPr/>
          <p:nvPr/>
        </p:nvSpPr>
        <p:spPr>
          <a:xfrm>
            <a:off x="0" y="6583680"/>
            <a:ext cx="12191695" cy="27432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74320" y="6574536"/>
            <a:ext cx="8229600" cy="256032"/>
          </a:xfrm>
          <a:prstGeom prst="rect">
            <a:avLst/>
          </a:prstGeom>
          <a:noFill/>
        </p:spPr>
        <p:txBody>
          <a:bodyPr wrap="square" anchor="t" lIns="45720" rIns="45720" tIns="22860" bIns="22860">
            <a:spAutoFit/>
          </a:bodyPr>
          <a:lstStyle/>
          <a:p>
            <a:pPr algn="l">
              <a:lnSpc>
                <a:spcPct val="100000"/>
              </a:lnSpc>
            </a:pPr>
            <a:r>
              <a:rPr sz="900" b="0">
                <a:solidFill>
                  <a:srgbClr val="BBBBBB"/>
                </a:solidFill>
                <a:latin typeface="Calibri"/>
              </a:rPr>
              <a:t>M&amp;A Prediction | JPMorgan Industry Project | July 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521440" cy="566928"/>
          </a:xfrm>
          <a:prstGeom prst="rect">
            <a:avLst/>
          </a:prstGeom>
          <a:noFill/>
        </p:spPr>
        <p:txBody>
          <a:bodyPr wrap="square" anchor="t" lIns="45720" rIns="45720" tIns="22860" bIns="22860">
            <a:spAutoFit/>
          </a:bodyPr>
          <a:lstStyle/>
          <a:p>
            <a:pPr algn="l">
              <a:lnSpc>
                <a:spcPct val="100000"/>
              </a:lnSpc>
            </a:pPr>
            <a:r>
              <a:rPr sz="2800" b="1">
                <a:solidFill>
                  <a:srgbClr val="FFFFFF"/>
                </a:solidFill>
                <a:latin typeface="Calibri"/>
              </a:rPr>
              <a:t>Why the AUC Is Flat - In Plain English</a:t>
            </a:r>
          </a:p>
        </p:txBody>
      </p:sp>
      <p:sp>
        <p:nvSpPr>
          <p:cNvPr id="4" name="TextBox 3"/>
          <p:cNvSpPr txBox="1"/>
          <p:nvPr/>
        </p:nvSpPr>
        <p:spPr>
          <a:xfrm>
            <a:off x="274320" y="640080"/>
            <a:ext cx="11521440" cy="365760"/>
          </a:xfrm>
          <a:prstGeom prst="rect">
            <a:avLst/>
          </a:prstGeom>
          <a:noFill/>
        </p:spPr>
        <p:txBody>
          <a:bodyPr wrap="square" anchor="t" lIns="45720" rIns="45720" tIns="22860" bIns="22860">
            <a:spAutoFit/>
          </a:bodyPr>
          <a:lstStyle/>
          <a:p>
            <a:pPr algn="l">
              <a:lnSpc>
                <a:spcPct val="100000"/>
              </a:lnSpc>
            </a:pPr>
            <a:r>
              <a:rPr sz="1400" b="0">
                <a:solidFill>
                  <a:srgbClr val="B8860B"/>
                </a:solidFill>
                <a:latin typeface="Calibri"/>
              </a:rPr>
              <a:t>AUC ≈ 0.5 = shown a run-up window and a quiet window, the model can't tell which is which</a:t>
            </a:r>
          </a:p>
        </p:txBody>
      </p:sp>
      <p:sp>
        <p:nvSpPr>
          <p:cNvPr id="5" name="Rectangle 4"/>
          <p:cNvSpPr/>
          <p:nvPr/>
        </p:nvSpPr>
        <p:spPr>
          <a:xfrm>
            <a:off x="0" y="1051560"/>
            <a:ext cx="12191695" cy="36576"/>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188720"/>
            <a:ext cx="11457432" cy="969264"/>
          </a:xfrm>
          <a:prstGeom prst="rect">
            <a:avLst/>
          </a:prstGeom>
          <a:solidFill>
            <a:srgbClr val="D6E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1225296"/>
            <a:ext cx="11155680" cy="914400"/>
          </a:xfrm>
          <a:prstGeom prst="rect">
            <a:avLst/>
          </a:prstGeom>
          <a:noFill/>
        </p:spPr>
        <p:txBody>
          <a:bodyPr wrap="square" anchor="t" lIns="45720" rIns="45720" tIns="22860" bIns="22860">
            <a:spAutoFit/>
          </a:bodyPr>
          <a:lstStyle/>
          <a:p>
            <a:pPr algn="l">
              <a:lnSpc>
                <a:spcPct val="104000"/>
              </a:lnSpc>
            </a:pPr>
            <a:r>
              <a:rPr sz="1150" b="1">
                <a:solidFill>
                  <a:srgbClr val="1A3A5C"/>
                </a:solidFill>
                <a:latin typeface="Calibri"/>
              </a:rPr>
              <a:t>The bet:  </a:t>
            </a:r>
            <a:r>
              <a:rPr sz="1150" b="0">
                <a:solidFill>
                  <a:srgbClr val="1A3A5C"/>
                </a:solidFill>
                <a:latin typeface="Calibri"/>
              </a:rPr>
              <a:t>deal chatter should appear MORE in the 90 days before an announcement than in an earlier “quiet” period. When that holds, the model ranks the run-up higher and AUC climbs toward 1.0.</a:t>
            </a:r>
          </a:p>
          <a:p>
            <a:pPr algn="l">
              <a:lnSpc>
                <a:spcPct val="104000"/>
              </a:lnSpc>
            </a:pPr>
            <a:r>
              <a:rPr sz="1150" b="1">
                <a:solidFill>
                  <a:srgbClr val="1A3A5C"/>
                </a:solidFill>
                <a:latin typeface="Calibri"/>
              </a:rPr>
              <a:t>What actually happens:  </a:t>
            </a:r>
            <a:r>
              <a:rPr sz="1150" b="0">
                <a:solidFill>
                  <a:srgbClr val="1A3A5C"/>
                </a:solidFill>
                <a:latin typeface="Calibri"/>
              </a:rPr>
              <a:t>it holds for some companies (left) - but for just as many, the chatter surfaces in the “quiet” window instead (right), because deal talk leaks on its own schedule, not on our calendar. The two cancel out, so the model does no better than a coin flip → AUC ≈ 0.5.</a:t>
            </a:r>
          </a:p>
        </p:txBody>
      </p:sp>
      <p:sp>
        <p:nvSpPr>
          <p:cNvPr id="8" name="Rectangle 7"/>
          <p:cNvSpPr/>
          <p:nvPr/>
        </p:nvSpPr>
        <p:spPr>
          <a:xfrm>
            <a:off x="365760" y="2286000"/>
            <a:ext cx="5623560" cy="384048"/>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2295144"/>
            <a:ext cx="5623560" cy="365760"/>
          </a:xfrm>
          <a:prstGeom prst="rect">
            <a:avLst/>
          </a:prstGeom>
          <a:noFill/>
        </p:spPr>
        <p:txBody>
          <a:bodyPr wrap="square" anchor="t" lIns="45720" rIns="45720" tIns="22860" bIns="22860">
            <a:spAutoFit/>
          </a:bodyPr>
          <a:lstStyle/>
          <a:p>
            <a:pPr algn="ctr">
              <a:lnSpc>
                <a:spcPct val="100000"/>
              </a:lnSpc>
            </a:pPr>
            <a:r>
              <a:rPr sz="1150" b="1">
                <a:solidFill>
                  <a:srgbClr val="FFFFFF"/>
                </a:solidFill>
                <a:latin typeface="Calibri"/>
              </a:rPr>
              <a:t>✓  READS CORRECTLY - chatter in the run-up (what we hoped for)</a:t>
            </a:r>
          </a:p>
        </p:txBody>
      </p:sp>
      <p:sp>
        <p:nvSpPr>
          <p:cNvPr id="10" name="Rectangle 9"/>
          <p:cNvSpPr/>
          <p:nvPr/>
        </p:nvSpPr>
        <p:spPr>
          <a:xfrm>
            <a:off x="365760" y="2670048"/>
            <a:ext cx="5623560" cy="269748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761488"/>
            <a:ext cx="5349240" cy="2542032"/>
          </a:xfrm>
          <a:prstGeom prst="rect">
            <a:avLst/>
          </a:prstGeom>
          <a:noFill/>
        </p:spPr>
        <p:txBody>
          <a:bodyPr wrap="square" anchor="t" lIns="45720" rIns="45720" tIns="22860" bIns="22860">
            <a:spAutoFit/>
          </a:bodyPr>
          <a:lstStyle/>
          <a:p>
            <a:pPr algn="l">
              <a:lnSpc>
                <a:spcPct val="110000"/>
              </a:lnSpc>
            </a:pPr>
            <a:r>
              <a:rPr sz="1400" b="1">
                <a:solidFill>
                  <a:srgbClr val="1A3A5C"/>
                </a:solidFill>
                <a:latin typeface="Calibri"/>
              </a:rPr>
              <a:t>Clearwater Analytics Holdings, Inc.*</a:t>
            </a:r>
          </a:p>
          <a:p>
            <a:pPr algn="l">
              <a:lnSpc>
                <a:spcPct val="110000"/>
              </a:lnSpc>
            </a:pPr>
            <a:r>
              <a:rPr sz="1100" b="0">
                <a:solidFill>
                  <a:srgbClr val="1A3A5C"/>
                </a:solidFill>
                <a:latin typeface="Calibri"/>
              </a:rPr>
              <a:t>LLM's acquisition_likelihood (0-100):   </a:t>
            </a:r>
            <a:r>
              <a:rPr sz="1300" b="1">
                <a:solidFill>
                  <a:srgbClr val="1A3A5C"/>
                </a:solidFill>
                <a:latin typeface="Calibri"/>
              </a:rPr>
              <a:t>quiet 5  →  run-up 55</a:t>
            </a:r>
          </a:p>
          <a:p>
            <a:pPr algn="l">
              <a:lnSpc>
                <a:spcPct val="110000"/>
              </a:lnSpc>
            </a:pPr>
            <a:r>
              <a:rPr sz="1100" b="0">
                <a:solidFill>
                  <a:srgbClr val="1A3A5C"/>
                </a:solidFill>
                <a:latin typeface="Calibri"/>
              </a:rPr>
              <a:t/>
            </a:r>
          </a:p>
          <a:p>
            <a:pPr algn="l">
              <a:lnSpc>
                <a:spcPct val="110000"/>
              </a:lnSpc>
            </a:pPr>
            <a:r>
              <a:rPr sz="1050" b="1">
                <a:solidFill>
                  <a:srgbClr val="1A3A5C"/>
                </a:solidFill>
                <a:latin typeface="Calibri"/>
              </a:rPr>
              <a:t>what it read in the run-up window:</a:t>
            </a:r>
          </a:p>
          <a:p>
            <a:pPr algn="l">
              <a:lnSpc>
                <a:spcPct val="110000"/>
              </a:lnSpc>
            </a:pPr>
            <a:r>
              <a:rPr sz="1050" b="0">
                <a:solidFill>
                  <a:srgbClr val="1A3A5C"/>
                </a:solidFill>
                <a:latin typeface="Calibri"/>
              </a:rPr>
              <a:t>“Warburg Pincus , Permira said to be in talks to buy Clearwater Analytics ( CWAN : NYSE )”</a:t>
            </a:r>
          </a:p>
          <a:p>
            <a:pPr algn="l">
              <a:lnSpc>
                <a:spcPct val="110000"/>
              </a:lnSpc>
            </a:pPr>
            <a:r>
              <a:rPr sz="1050" b="1">
                <a:solidFill>
                  <a:srgbClr val="1A3A5C"/>
                </a:solidFill>
                <a:latin typeface="Calibri"/>
              </a:rPr>
              <a:t>what it read in the quiet window:</a:t>
            </a:r>
          </a:p>
          <a:p>
            <a:pPr algn="l">
              <a:lnSpc>
                <a:spcPct val="110000"/>
              </a:lnSpc>
            </a:pPr>
            <a:r>
              <a:rPr sz="1050" b="0">
                <a:solidFill>
                  <a:srgbClr val="1A3A5C"/>
                </a:solidFill>
                <a:latin typeface="Calibri"/>
              </a:rPr>
              <a:t>“Clearwater Analytics Promotes Key Executives to Accelerate Growth and Operational Excellence”</a:t>
            </a:r>
          </a:p>
        </p:txBody>
      </p:sp>
      <p:sp>
        <p:nvSpPr>
          <p:cNvPr id="12" name="Rectangle 11"/>
          <p:cNvSpPr/>
          <p:nvPr/>
        </p:nvSpPr>
        <p:spPr>
          <a:xfrm>
            <a:off x="6190488" y="2286000"/>
            <a:ext cx="5623560" cy="384048"/>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90488" y="2295144"/>
            <a:ext cx="5623560" cy="365760"/>
          </a:xfrm>
          <a:prstGeom prst="rect">
            <a:avLst/>
          </a:prstGeom>
          <a:noFill/>
        </p:spPr>
        <p:txBody>
          <a:bodyPr wrap="square" anchor="t" lIns="45720" rIns="45720" tIns="22860" bIns="22860">
            <a:spAutoFit/>
          </a:bodyPr>
          <a:lstStyle/>
          <a:p>
            <a:pPr algn="ctr">
              <a:lnSpc>
                <a:spcPct val="100000"/>
              </a:lnSpc>
            </a:pPr>
            <a:r>
              <a:rPr sz="1150" b="1">
                <a:solidFill>
                  <a:srgbClr val="FFFFFF"/>
                </a:solidFill>
                <a:latin typeface="Calibri"/>
              </a:rPr>
              <a:t>✗  READS BACKWARDS - chatter in the “quiet” window</a:t>
            </a:r>
          </a:p>
        </p:txBody>
      </p:sp>
      <p:sp>
        <p:nvSpPr>
          <p:cNvPr id="14" name="Rectangle 13"/>
          <p:cNvSpPr/>
          <p:nvPr/>
        </p:nvSpPr>
        <p:spPr>
          <a:xfrm>
            <a:off x="6190488" y="2670048"/>
            <a:ext cx="5623560" cy="2697480"/>
          </a:xfrm>
          <a:prstGeom prst="rect">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27648" y="2761488"/>
            <a:ext cx="5349240" cy="2542032"/>
          </a:xfrm>
          <a:prstGeom prst="rect">
            <a:avLst/>
          </a:prstGeom>
          <a:noFill/>
        </p:spPr>
        <p:txBody>
          <a:bodyPr wrap="square" anchor="t" lIns="45720" rIns="45720" tIns="22860" bIns="22860">
            <a:spAutoFit/>
          </a:bodyPr>
          <a:lstStyle/>
          <a:p>
            <a:pPr algn="l">
              <a:lnSpc>
                <a:spcPct val="110000"/>
              </a:lnSpc>
            </a:pPr>
            <a:r>
              <a:rPr sz="1400" b="1">
                <a:solidFill>
                  <a:srgbClr val="1A3A5C"/>
                </a:solidFill>
                <a:latin typeface="Calibri"/>
              </a:rPr>
              <a:t>Commercial Renewables business</a:t>
            </a:r>
          </a:p>
          <a:p>
            <a:pPr algn="l">
              <a:lnSpc>
                <a:spcPct val="110000"/>
              </a:lnSpc>
            </a:pPr>
            <a:r>
              <a:rPr sz="1100" b="0">
                <a:solidFill>
                  <a:srgbClr val="1A3A5C"/>
                </a:solidFill>
                <a:latin typeface="Calibri"/>
              </a:rPr>
              <a:t>LLM's acquisition_likelihood (0-100):   </a:t>
            </a:r>
            <a:r>
              <a:rPr sz="1300" b="1">
                <a:solidFill>
                  <a:srgbClr val="1A3A5C"/>
                </a:solidFill>
                <a:latin typeface="Calibri"/>
              </a:rPr>
              <a:t>quiet 60  →  run-up 5</a:t>
            </a:r>
          </a:p>
          <a:p>
            <a:pPr algn="l">
              <a:lnSpc>
                <a:spcPct val="110000"/>
              </a:lnSpc>
            </a:pPr>
            <a:r>
              <a:rPr sz="1100" b="0">
                <a:solidFill>
                  <a:srgbClr val="1A3A5C"/>
                </a:solidFill>
                <a:latin typeface="Calibri"/>
              </a:rPr>
              <a:t/>
            </a:r>
          </a:p>
          <a:p>
            <a:pPr algn="l">
              <a:lnSpc>
                <a:spcPct val="110000"/>
              </a:lnSpc>
            </a:pPr>
            <a:r>
              <a:rPr sz="1050" b="1">
                <a:solidFill>
                  <a:srgbClr val="1A3A5C"/>
                </a:solidFill>
                <a:latin typeface="Calibri"/>
              </a:rPr>
              <a:t>what it read in the run-up window:</a:t>
            </a:r>
          </a:p>
          <a:p>
            <a:pPr algn="l">
              <a:lnSpc>
                <a:spcPct val="110000"/>
              </a:lnSpc>
            </a:pPr>
            <a:r>
              <a:rPr sz="1050" b="0">
                <a:solidFill>
                  <a:srgbClr val="1A3A5C"/>
                </a:solidFill>
                <a:latin typeface="Calibri"/>
              </a:rPr>
              <a:t>“Duke Energy delivers sustainable value as it responsibly navigates clean energy transition , CEO tells shareholders”</a:t>
            </a:r>
          </a:p>
          <a:p>
            <a:pPr algn="l">
              <a:lnSpc>
                <a:spcPct val="110000"/>
              </a:lnSpc>
            </a:pPr>
            <a:r>
              <a:rPr sz="1050" b="1">
                <a:solidFill>
                  <a:srgbClr val="1A3A5C"/>
                </a:solidFill>
                <a:latin typeface="Calibri"/>
              </a:rPr>
              <a:t>what it read in the quiet window:</a:t>
            </a:r>
          </a:p>
          <a:p>
            <a:pPr algn="l">
              <a:lnSpc>
                <a:spcPct val="110000"/>
              </a:lnSpc>
            </a:pPr>
            <a:r>
              <a:rPr sz="1050" b="0">
                <a:solidFill>
                  <a:srgbClr val="1A3A5C"/>
                </a:solidFill>
                <a:latin typeface="Calibri"/>
              </a:rPr>
              <a:t>“Duke Energy hopes renewable biz sale makes stock more attractive”</a:t>
            </a:r>
          </a:p>
        </p:txBody>
      </p:sp>
      <p:sp>
        <p:nvSpPr>
          <p:cNvPr id="16" name="Rectangle 15"/>
          <p:cNvSpPr/>
          <p:nvPr/>
        </p:nvSpPr>
        <p:spPr>
          <a:xfrm>
            <a:off x="365760" y="5449824"/>
            <a:ext cx="11457432" cy="749808"/>
          </a:xfrm>
          <a:prstGeom prst="rect">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5486400"/>
            <a:ext cx="11064240" cy="676656"/>
          </a:xfrm>
          <a:prstGeom prst="rect">
            <a:avLst/>
          </a:prstGeom>
          <a:noFill/>
        </p:spPr>
        <p:txBody>
          <a:bodyPr wrap="square" anchor="ctr" lIns="45720" rIns="45720" tIns="22860" bIns="22860">
            <a:spAutoFit/>
          </a:bodyPr>
          <a:lstStyle/>
          <a:p>
            <a:pPr algn="l">
              <a:lnSpc>
                <a:spcPct val="100000"/>
              </a:lnSpc>
            </a:pPr>
            <a:r>
              <a:rPr sz="1400" b="1">
                <a:solidFill>
                  <a:srgbClr val="1A3A5C"/>
                </a:solidFill>
                <a:latin typeface="Calibri"/>
              </a:rPr>
              <a:t>Across 28 paired companies: 6 scored higher in the run-up · 8 lower · 14 tied - the ups and downs roughly balance, and a balanced split is exactly what AUC ≈ 0.5 looks like.</a:t>
            </a:r>
          </a:p>
        </p:txBody>
      </p:sp>
      <p:sp>
        <p:nvSpPr>
          <p:cNvPr id="18" name="Rectangle 17"/>
          <p:cNvSpPr/>
          <p:nvPr/>
        </p:nvSpPr>
        <p:spPr>
          <a:xfrm>
            <a:off x="0" y="6583680"/>
            <a:ext cx="12191695" cy="27432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4320" y="6574536"/>
            <a:ext cx="8229600" cy="256032"/>
          </a:xfrm>
          <a:prstGeom prst="rect">
            <a:avLst/>
          </a:prstGeom>
          <a:noFill/>
        </p:spPr>
        <p:txBody>
          <a:bodyPr wrap="square" anchor="t" lIns="45720" rIns="45720" tIns="22860" bIns="22860">
            <a:spAutoFit/>
          </a:bodyPr>
          <a:lstStyle/>
          <a:p>
            <a:pPr algn="l">
              <a:lnSpc>
                <a:spcPct val="100000"/>
              </a:lnSpc>
            </a:pPr>
            <a:r>
              <a:rPr sz="900" b="0">
                <a:solidFill>
                  <a:srgbClr val="BBBBBB"/>
                </a:solidFill>
                <a:latin typeface="Calibri"/>
              </a:rPr>
              <a:t>M&amp;A Prediction | JPMorgan Industry Project | July 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521440" cy="566928"/>
          </a:xfrm>
          <a:prstGeom prst="rect">
            <a:avLst/>
          </a:prstGeom>
          <a:noFill/>
        </p:spPr>
        <p:txBody>
          <a:bodyPr wrap="square" anchor="t" lIns="45720" rIns="45720" tIns="22860" bIns="22860">
            <a:spAutoFit/>
          </a:bodyPr>
          <a:lstStyle/>
          <a:p>
            <a:pPr algn="l">
              <a:lnSpc>
                <a:spcPct val="100000"/>
              </a:lnSpc>
            </a:pPr>
            <a:r>
              <a:rPr sz="2800" b="1">
                <a:solidFill>
                  <a:srgbClr val="FFFFFF"/>
                </a:solidFill>
                <a:latin typeface="Calibri"/>
              </a:rPr>
              <a:t>Are the LLM Signals New Information?</a:t>
            </a:r>
          </a:p>
        </p:txBody>
      </p:sp>
      <p:sp>
        <p:nvSpPr>
          <p:cNvPr id="4" name="TextBox 3"/>
          <p:cNvSpPr txBox="1"/>
          <p:nvPr/>
        </p:nvSpPr>
        <p:spPr>
          <a:xfrm>
            <a:off x="274320" y="640080"/>
            <a:ext cx="11521440" cy="365760"/>
          </a:xfrm>
          <a:prstGeom prst="rect">
            <a:avLst/>
          </a:prstGeom>
          <a:noFill/>
        </p:spPr>
        <p:txBody>
          <a:bodyPr wrap="square" anchor="t" lIns="45720" rIns="45720" tIns="22860" bIns="22860">
            <a:spAutoFit/>
          </a:bodyPr>
          <a:lstStyle/>
          <a:p>
            <a:pPr algn="l">
              <a:lnSpc>
                <a:spcPct val="100000"/>
              </a:lnSpc>
            </a:pPr>
            <a:r>
              <a:rPr sz="1400" b="0">
                <a:solidFill>
                  <a:srgbClr val="B8860B"/>
                </a:solidFill>
                <a:latin typeface="Calibri"/>
              </a:rPr>
              <a:t>Spearman rank correlation - LLM fields (rows) × classic-NLP features (columns), same windows</a:t>
            </a:r>
          </a:p>
        </p:txBody>
      </p:sp>
      <p:sp>
        <p:nvSpPr>
          <p:cNvPr id="5" name="Rectangle 4"/>
          <p:cNvSpPr/>
          <p:nvPr/>
        </p:nvSpPr>
        <p:spPr>
          <a:xfrm>
            <a:off x="0" y="1051560"/>
            <a:ext cx="12191695" cy="36576"/>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llm_vs_classic_corr.png"/>
          <p:cNvPicPr>
            <a:picLocks noChangeAspect="1"/>
          </p:cNvPicPr>
          <p:nvPr/>
        </p:nvPicPr>
        <p:blipFill>
          <a:blip r:embed="rId2"/>
          <a:stretch>
            <a:fillRect/>
          </a:stretch>
        </p:blipFill>
        <p:spPr>
          <a:xfrm>
            <a:off x="274320" y="1325880"/>
            <a:ext cx="6492240" cy="4565640"/>
          </a:xfrm>
          <a:prstGeom prst="rect">
            <a:avLst/>
          </a:prstGeom>
        </p:spPr>
      </p:pic>
      <p:sp>
        <p:nvSpPr>
          <p:cNvPr id="7" name="TextBox 6"/>
          <p:cNvSpPr txBox="1"/>
          <p:nvPr/>
        </p:nvSpPr>
        <p:spPr>
          <a:xfrm>
            <a:off x="6949440" y="1463040"/>
            <a:ext cx="4892040" cy="4206240"/>
          </a:xfrm>
          <a:prstGeom prst="rect">
            <a:avLst/>
          </a:prstGeom>
          <a:noFill/>
        </p:spPr>
        <p:txBody>
          <a:bodyPr wrap="square" anchor="t" lIns="45720" rIns="45720" tIns="22860" bIns="22860">
            <a:spAutoFit/>
          </a:bodyPr>
          <a:lstStyle/>
          <a:p>
            <a:pPr algn="l">
              <a:lnSpc>
                <a:spcPct val="118000"/>
              </a:lnSpc>
            </a:pPr>
            <a:r>
              <a:rPr sz="1400" b="1">
                <a:solidFill>
                  <a:srgbClr val="1A3A5C"/>
                </a:solidFill>
                <a:latin typeface="Calibri"/>
              </a:rPr>
              <a:t>How to read it:</a:t>
            </a:r>
          </a:p>
          <a:p>
            <a:pPr algn="l">
              <a:lnSpc>
                <a:spcPct val="118000"/>
              </a:lnSpc>
            </a:pPr>
            <a:r>
              <a:rPr sz="1200" b="0">
                <a:solidFill>
                  <a:srgbClr val="1A3A5C"/>
                </a:solidFill>
                <a:latin typeface="Calibri"/>
              </a:rPr>
              <a:t>• Each cell: across the same windows, do the two scores rank companies the same way? (+1 identical ranking · 0 unrelated · −1 opposite)</a:t>
            </a:r>
          </a:p>
          <a:p>
            <a:pPr algn="l">
              <a:lnSpc>
                <a:spcPct val="118000"/>
              </a:lnSpc>
            </a:pPr>
            <a:r>
              <a:rPr sz="1200" b="0">
                <a:solidFill>
                  <a:srgbClr val="1A3A5C"/>
                </a:solidFill>
                <a:latin typeface="Calibri"/>
              </a:rPr>
              <a:t>• A deep-red row = that LLM field re-derives a classic feature - redundant.</a:t>
            </a:r>
          </a:p>
          <a:p>
            <a:pPr algn="l">
              <a:lnSpc>
                <a:spcPct val="118000"/>
              </a:lnSpc>
            </a:pPr>
            <a:r>
              <a:rPr sz="1200" b="0">
                <a:solidFill>
                  <a:srgbClr val="1A3A5C"/>
                </a:solidFill>
                <a:latin typeface="Calibri"/>
              </a:rPr>
              <a:t>• A near-white row = information the classic stack does not capture - novel.</a:t>
            </a:r>
          </a:p>
          <a:p>
            <a:pPr algn="l">
              <a:lnSpc>
                <a:spcPct val="118000"/>
              </a:lnSpc>
            </a:pPr>
            <a:r>
              <a:rPr sz="1200" b="0">
                <a:solidFill>
                  <a:srgbClr val="1A3A5C"/>
                </a:solidFill>
                <a:latin typeface="Calibri"/>
              </a:rPr>
              <a:t>• Hottest cell: growth_expansion_tone × distinctive_term_ratio (ρ = +0.79) - the LLM's rumor read largely re-derives simple keyword matching.</a:t>
            </a:r>
          </a:p>
          <a:p>
            <a:pPr algn="l">
              <a:lnSpc>
                <a:spcPct val="118000"/>
              </a:lnSpc>
            </a:pPr>
            <a:r>
              <a:rPr sz="1200" b="0">
                <a:solidFill>
                  <a:srgbClr val="1A3A5C"/>
                </a:solidFill>
                <a:latin typeface="Calibri"/>
              </a:rPr>
              <a:t>• Mid/low rows (activist, distress, divestiture…) are genuinely new descriptive axes the keyword stack misses.</a:t>
            </a:r>
          </a:p>
          <a:p>
            <a:pPr algn="l">
              <a:lnSpc>
                <a:spcPct val="118000"/>
              </a:lnSpc>
            </a:pPr>
            <a:r>
              <a:rPr sz="1200" b="1">
                <a:solidFill>
                  <a:srgbClr val="1A3A5C"/>
                </a:solidFill>
                <a:latin typeface="Calibri"/>
              </a:rPr>
              <a:t>Takeaway: </a:t>
            </a:r>
            <a:r>
              <a:rPr sz="1200" b="0">
                <a:solidFill>
                  <a:srgbClr val="1A3A5C"/>
                </a:solidFill>
                <a:latin typeface="Calibri"/>
              </a:rPr>
              <a:t>partly redundant, partly novel - but §6 shows neither the redundant nor the novel parts separate pre from baseline on this corpus.</a:t>
            </a:r>
          </a:p>
        </p:txBody>
      </p:sp>
      <p:sp>
        <p:nvSpPr>
          <p:cNvPr id="8" name="Rectangle 7"/>
          <p:cNvSpPr/>
          <p:nvPr/>
        </p:nvSpPr>
        <p:spPr>
          <a:xfrm>
            <a:off x="365760" y="5897880"/>
            <a:ext cx="11457432" cy="640080"/>
          </a:xfrm>
          <a:prstGeom prst="rect">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5934456"/>
            <a:ext cx="11064240" cy="566928"/>
          </a:xfrm>
          <a:prstGeom prst="rect">
            <a:avLst/>
          </a:prstGeom>
          <a:noFill/>
        </p:spPr>
        <p:txBody>
          <a:bodyPr wrap="square" anchor="ctr" lIns="45720" rIns="45720" tIns="22860" bIns="22860">
            <a:spAutoFit/>
          </a:bodyPr>
          <a:lstStyle/>
          <a:p>
            <a:pPr algn="l">
              <a:lnSpc>
                <a:spcPct val="100000"/>
              </a:lnSpc>
            </a:pPr>
            <a:r>
              <a:rPr sz="1400" b="1">
                <a:solidFill>
                  <a:srgbClr val="1A3A5C"/>
                </a:solidFill>
                <a:latin typeface="Calibri"/>
              </a:rPr>
              <a:t>Novelty without predictivity: the LLM adds new ways to DESCRIBE the news - not new ability to PREDICT from it.</a:t>
            </a:r>
          </a:p>
        </p:txBody>
      </p:sp>
      <p:sp>
        <p:nvSpPr>
          <p:cNvPr id="10" name="Rectangle 9"/>
          <p:cNvSpPr/>
          <p:nvPr/>
        </p:nvSpPr>
        <p:spPr>
          <a:xfrm>
            <a:off x="0" y="6583680"/>
            <a:ext cx="12191695" cy="27432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6574536"/>
            <a:ext cx="8229600" cy="256032"/>
          </a:xfrm>
          <a:prstGeom prst="rect">
            <a:avLst/>
          </a:prstGeom>
          <a:noFill/>
        </p:spPr>
        <p:txBody>
          <a:bodyPr wrap="square" anchor="t" lIns="45720" rIns="45720" tIns="22860" bIns="22860">
            <a:spAutoFit/>
          </a:bodyPr>
          <a:lstStyle/>
          <a:p>
            <a:pPr algn="l">
              <a:lnSpc>
                <a:spcPct val="100000"/>
              </a:lnSpc>
            </a:pPr>
            <a:r>
              <a:rPr sz="900" b="0">
                <a:solidFill>
                  <a:srgbClr val="BBBBBB"/>
                </a:solidFill>
                <a:latin typeface="Calibri"/>
              </a:rPr>
              <a:t>M&amp;A Prediction | JPMorgan Industry Project | July 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521440" cy="566928"/>
          </a:xfrm>
          <a:prstGeom prst="rect">
            <a:avLst/>
          </a:prstGeom>
          <a:noFill/>
        </p:spPr>
        <p:txBody>
          <a:bodyPr wrap="square" anchor="t" lIns="45720" rIns="45720" tIns="22860" bIns="22860">
            <a:spAutoFit/>
          </a:bodyPr>
          <a:lstStyle/>
          <a:p>
            <a:pPr algn="l">
              <a:lnSpc>
                <a:spcPct val="100000"/>
              </a:lnSpc>
            </a:pPr>
            <a:r>
              <a:rPr sz="2800" b="1">
                <a:solidFill>
                  <a:srgbClr val="FFFFFF"/>
                </a:solidFill>
                <a:latin typeface="Calibri"/>
              </a:rPr>
              <a:t>Does the Model Already Know These Deals?</a:t>
            </a:r>
          </a:p>
        </p:txBody>
      </p:sp>
      <p:sp>
        <p:nvSpPr>
          <p:cNvPr id="4" name="TextBox 3"/>
          <p:cNvSpPr txBox="1"/>
          <p:nvPr/>
        </p:nvSpPr>
        <p:spPr>
          <a:xfrm>
            <a:off x="274320" y="640080"/>
            <a:ext cx="11521440" cy="365760"/>
          </a:xfrm>
          <a:prstGeom prst="rect">
            <a:avLst/>
          </a:prstGeom>
          <a:noFill/>
        </p:spPr>
        <p:txBody>
          <a:bodyPr wrap="square" anchor="t" lIns="45720" rIns="45720" tIns="22860" bIns="22860">
            <a:spAutoFit/>
          </a:bodyPr>
          <a:lstStyle/>
          <a:p>
            <a:pPr algn="l">
              <a:lnSpc>
                <a:spcPct val="100000"/>
              </a:lnSpc>
            </a:pPr>
            <a:r>
              <a:rPr sz="1400" b="0">
                <a:solidFill>
                  <a:srgbClr val="B8860B"/>
                </a:solidFill>
                <a:latin typeface="Calibri"/>
              </a:rPr>
              <a:t>Memorization probe: zero news shown - answer from training memory alone</a:t>
            </a:r>
          </a:p>
        </p:txBody>
      </p:sp>
      <p:sp>
        <p:nvSpPr>
          <p:cNvPr id="5" name="Rectangle 4"/>
          <p:cNvSpPr/>
          <p:nvPr/>
        </p:nvSpPr>
        <p:spPr>
          <a:xfrm>
            <a:off x="0" y="1051560"/>
            <a:ext cx="12191695" cy="36576"/>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325880"/>
            <a:ext cx="5120640" cy="2103120"/>
          </a:xfrm>
          <a:prstGeom prst="rect">
            <a:avLst/>
          </a:prstGeom>
          <a:noFill/>
        </p:spPr>
        <p:txBody>
          <a:bodyPr wrap="square" anchor="t" lIns="45720" rIns="45720" tIns="22860" bIns="22860">
            <a:spAutoFit/>
          </a:bodyPr>
          <a:lstStyle/>
          <a:p>
            <a:pPr algn="l">
              <a:lnSpc>
                <a:spcPct val="115000"/>
              </a:lnSpc>
            </a:pPr>
            <a:r>
              <a:rPr sz="1350" b="0">
                <a:solidFill>
                  <a:srgbClr val="1A3A5C"/>
                </a:solidFill>
                <a:latin typeface="Calibri"/>
              </a:rPr>
              <a:t>Design (balanced, chance = 50%):</a:t>
            </a:r>
          </a:p>
          <a:p>
            <a:pPr algn="l">
              <a:lnSpc>
                <a:spcPct val="115000"/>
              </a:lnSpc>
            </a:pPr>
            <a:r>
              <a:rPr sz="1350" b="0">
                <a:solidFill>
                  <a:srgbClr val="1A3A5C"/>
                </a:solidFill>
                <a:latin typeface="Calibri"/>
              </a:rPr>
              <a:t>• “As of &lt;date&gt;: was &lt;company&gt; announced as a</a:t>
            </a:r>
          </a:p>
          <a:p>
            <a:pPr algn="l">
              <a:lnSpc>
                <a:spcPct val="115000"/>
              </a:lnSpc>
            </a:pPr>
            <a:r>
              <a:rPr sz="1350" b="0">
                <a:solidFill>
                  <a:srgbClr val="1A3A5C"/>
                </a:solidFill>
                <a:latin typeface="Calibri"/>
              </a:rPr>
              <a:t>   ≥$1B acquisition target within 120 days?”</a:t>
            </a:r>
          </a:p>
          <a:p>
            <a:pPr algn="l">
              <a:lnSpc>
                <a:spcPct val="115000"/>
              </a:lnSpc>
            </a:pPr>
            <a:r>
              <a:rPr sz="1350" b="0">
                <a:solidFill>
                  <a:srgbClr val="1A3A5C"/>
                </a:solidFill>
                <a:latin typeface="Calibri"/>
              </a:rPr>
              <a:t>• Asked at announcement−7d (truth = YES)</a:t>
            </a:r>
          </a:p>
          <a:p>
            <a:pPr algn="l">
              <a:lnSpc>
                <a:spcPct val="115000"/>
              </a:lnSpc>
            </a:pPr>
            <a:r>
              <a:rPr sz="1350" b="0">
                <a:solidFill>
                  <a:srgbClr val="1A3A5C"/>
                </a:solidFill>
                <a:latin typeface="Calibri"/>
              </a:rPr>
              <a:t>• Asked at announcement−187d (truth = NO)</a:t>
            </a:r>
          </a:p>
          <a:p>
            <a:pPr algn="l">
              <a:lnSpc>
                <a:spcPct val="115000"/>
              </a:lnSpc>
            </a:pPr>
            <a:r>
              <a:rPr sz="1350" b="0">
                <a:solidFill>
                  <a:srgbClr val="1A3A5C"/>
                </a:solidFill>
                <a:latin typeface="Calibri"/>
              </a:rPr>
              <a:t>• Same companies as the modeling sample</a:t>
            </a:r>
          </a:p>
        </p:txBody>
      </p:sp>
      <p:sp>
        <p:nvSpPr>
          <p:cNvPr id="7" name="Rectangle 6"/>
          <p:cNvSpPr/>
          <p:nvPr/>
        </p:nvSpPr>
        <p:spPr>
          <a:xfrm>
            <a:off x="6035040" y="1371600"/>
            <a:ext cx="2697480" cy="118872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35040" y="1426464"/>
            <a:ext cx="2697480" cy="640080"/>
          </a:xfrm>
          <a:prstGeom prst="rect">
            <a:avLst/>
          </a:prstGeom>
          <a:noFill/>
        </p:spPr>
        <p:txBody>
          <a:bodyPr wrap="square" anchor="t" lIns="45720" rIns="45720" tIns="22860" bIns="22860">
            <a:spAutoFit/>
          </a:bodyPr>
          <a:lstStyle/>
          <a:p>
            <a:pPr algn="ctr">
              <a:lnSpc>
                <a:spcPct val="100000"/>
              </a:lnSpc>
            </a:pPr>
            <a:r>
              <a:rPr sz="2800" b="1">
                <a:solidFill>
                  <a:srgbClr val="FFC000"/>
                </a:solidFill>
                <a:latin typeface="Calibri"/>
              </a:rPr>
              <a:t>52%</a:t>
            </a:r>
          </a:p>
        </p:txBody>
      </p:sp>
      <p:sp>
        <p:nvSpPr>
          <p:cNvPr id="9" name="TextBox 8"/>
          <p:cNvSpPr txBox="1"/>
          <p:nvPr/>
        </p:nvSpPr>
        <p:spPr>
          <a:xfrm>
            <a:off x="6035040" y="2084832"/>
            <a:ext cx="2697480" cy="457200"/>
          </a:xfrm>
          <a:prstGeom prst="rect">
            <a:avLst/>
          </a:prstGeom>
          <a:noFill/>
        </p:spPr>
        <p:txBody>
          <a:bodyPr wrap="square" anchor="t" lIns="45720" rIns="45720" tIns="22860" bIns="22860">
            <a:spAutoFit/>
          </a:bodyPr>
          <a:lstStyle/>
          <a:p>
            <a:pPr algn="ctr">
              <a:lnSpc>
                <a:spcPct val="100000"/>
              </a:lnSpc>
            </a:pPr>
            <a:r>
              <a:rPr sz="1150" b="0">
                <a:solidFill>
                  <a:srgbClr val="D6E8F7"/>
                </a:solidFill>
                <a:latin typeface="Calibri"/>
              </a:rPr>
              <a:t>probe accuracy (50% = clean)</a:t>
            </a:r>
          </a:p>
        </p:txBody>
      </p:sp>
      <p:sp>
        <p:nvSpPr>
          <p:cNvPr id="10" name="Rectangle 9"/>
          <p:cNvSpPr/>
          <p:nvPr/>
        </p:nvSpPr>
        <p:spPr>
          <a:xfrm>
            <a:off x="8942832" y="1371600"/>
            <a:ext cx="2697480" cy="118872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42832" y="1426464"/>
            <a:ext cx="2697480" cy="640080"/>
          </a:xfrm>
          <a:prstGeom prst="rect">
            <a:avLst/>
          </a:prstGeom>
          <a:noFill/>
        </p:spPr>
        <p:txBody>
          <a:bodyPr wrap="square" anchor="t" lIns="45720" rIns="45720" tIns="22860" bIns="22860">
            <a:spAutoFit/>
          </a:bodyPr>
          <a:lstStyle/>
          <a:p>
            <a:pPr algn="ctr">
              <a:lnSpc>
                <a:spcPct val="100000"/>
              </a:lnSpc>
            </a:pPr>
            <a:r>
              <a:rPr sz="2800" b="1">
                <a:solidFill>
                  <a:srgbClr val="FFC000"/>
                </a:solidFill>
                <a:latin typeface="Calibri"/>
              </a:rPr>
              <a:t>71%</a:t>
            </a:r>
          </a:p>
        </p:txBody>
      </p:sp>
      <p:sp>
        <p:nvSpPr>
          <p:cNvPr id="12" name="TextBox 11"/>
          <p:cNvSpPr txBox="1"/>
          <p:nvPr/>
        </p:nvSpPr>
        <p:spPr>
          <a:xfrm>
            <a:off x="8942832" y="2084832"/>
            <a:ext cx="2697480" cy="457200"/>
          </a:xfrm>
          <a:prstGeom prst="rect">
            <a:avLst/>
          </a:prstGeom>
          <a:noFill/>
        </p:spPr>
        <p:txBody>
          <a:bodyPr wrap="square" anchor="t" lIns="45720" rIns="45720" tIns="22860" bIns="22860">
            <a:spAutoFit/>
          </a:bodyPr>
          <a:lstStyle/>
          <a:p>
            <a:pPr algn="ctr">
              <a:lnSpc>
                <a:spcPct val="100000"/>
              </a:lnSpc>
            </a:pPr>
            <a:r>
              <a:rPr sz="1150" b="0">
                <a:solidFill>
                  <a:srgbClr val="D6E8F7"/>
                </a:solidFill>
                <a:latin typeface="Calibri"/>
              </a:rPr>
              <a:t>acquirer named correctly (17 recall claims)</a:t>
            </a:r>
          </a:p>
        </p:txBody>
      </p:sp>
      <p:sp>
        <p:nvSpPr>
          <p:cNvPr id="13" name="Rectangle 12"/>
          <p:cNvSpPr/>
          <p:nvPr/>
        </p:nvSpPr>
        <p:spPr>
          <a:xfrm>
            <a:off x="6035040" y="2743200"/>
            <a:ext cx="2697480" cy="118872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35040" y="2798064"/>
            <a:ext cx="2697480" cy="640080"/>
          </a:xfrm>
          <a:prstGeom prst="rect">
            <a:avLst/>
          </a:prstGeom>
          <a:noFill/>
        </p:spPr>
        <p:txBody>
          <a:bodyPr wrap="square" anchor="t" lIns="45720" rIns="45720" tIns="22860" bIns="22860">
            <a:spAutoFit/>
          </a:bodyPr>
          <a:lstStyle/>
          <a:p>
            <a:pPr algn="ctr">
              <a:lnSpc>
                <a:spcPct val="100000"/>
              </a:lnSpc>
            </a:pPr>
            <a:r>
              <a:rPr sz="2800" b="1">
                <a:solidFill>
                  <a:srgbClr val="FFFFFF"/>
                </a:solidFill>
                <a:latin typeface="Calibri"/>
              </a:rPr>
              <a:t>52%</a:t>
            </a:r>
          </a:p>
        </p:txBody>
      </p:sp>
      <p:sp>
        <p:nvSpPr>
          <p:cNvPr id="15" name="TextBox 14"/>
          <p:cNvSpPr txBox="1"/>
          <p:nvPr/>
        </p:nvSpPr>
        <p:spPr>
          <a:xfrm>
            <a:off x="6035040" y="3456432"/>
            <a:ext cx="2697480" cy="457200"/>
          </a:xfrm>
          <a:prstGeom prst="rect">
            <a:avLst/>
          </a:prstGeom>
          <a:noFill/>
        </p:spPr>
        <p:txBody>
          <a:bodyPr wrap="square" anchor="t" lIns="45720" rIns="45720" tIns="22860" bIns="22860">
            <a:spAutoFit/>
          </a:bodyPr>
          <a:lstStyle/>
          <a:p>
            <a:pPr algn="ctr">
              <a:lnSpc>
                <a:spcPct val="100000"/>
              </a:lnSpc>
            </a:pPr>
            <a:r>
              <a:rPr sz="1150" b="0">
                <a:solidFill>
                  <a:srgbClr val="D6E8F7"/>
                </a:solidFill>
                <a:latin typeface="Calibri"/>
              </a:rPr>
              <a:t>accuracy PRE-cutoff (&lt; 2024-06-01, memorizable)</a:t>
            </a:r>
          </a:p>
        </p:txBody>
      </p:sp>
      <p:sp>
        <p:nvSpPr>
          <p:cNvPr id="16" name="Rectangle 15"/>
          <p:cNvSpPr/>
          <p:nvPr/>
        </p:nvSpPr>
        <p:spPr>
          <a:xfrm>
            <a:off x="8942832" y="2743200"/>
            <a:ext cx="2697480" cy="1188720"/>
          </a:xfrm>
          <a:prstGeom prst="rect">
            <a:avLst/>
          </a:prstGeom>
          <a:solidFill>
            <a:srgbClr val="1A7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42832" y="2798064"/>
            <a:ext cx="2697480" cy="640080"/>
          </a:xfrm>
          <a:prstGeom prst="rect">
            <a:avLst/>
          </a:prstGeom>
          <a:noFill/>
        </p:spPr>
        <p:txBody>
          <a:bodyPr wrap="square" anchor="t" lIns="45720" rIns="45720" tIns="22860" bIns="22860">
            <a:spAutoFit/>
          </a:bodyPr>
          <a:lstStyle/>
          <a:p>
            <a:pPr algn="ctr">
              <a:lnSpc>
                <a:spcPct val="100000"/>
              </a:lnSpc>
            </a:pPr>
            <a:r>
              <a:rPr sz="2800" b="1">
                <a:solidFill>
                  <a:srgbClr val="FFFFFF"/>
                </a:solidFill>
                <a:latin typeface="Calibri"/>
              </a:rPr>
              <a:t>50%</a:t>
            </a:r>
          </a:p>
        </p:txBody>
      </p:sp>
      <p:sp>
        <p:nvSpPr>
          <p:cNvPr id="18" name="TextBox 17"/>
          <p:cNvSpPr txBox="1"/>
          <p:nvPr/>
        </p:nvSpPr>
        <p:spPr>
          <a:xfrm>
            <a:off x="8942832" y="3456432"/>
            <a:ext cx="2697480" cy="457200"/>
          </a:xfrm>
          <a:prstGeom prst="rect">
            <a:avLst/>
          </a:prstGeom>
          <a:noFill/>
        </p:spPr>
        <p:txBody>
          <a:bodyPr wrap="square" anchor="t" lIns="45720" rIns="45720" tIns="22860" bIns="22860">
            <a:spAutoFit/>
          </a:bodyPr>
          <a:lstStyle/>
          <a:p>
            <a:pPr algn="ctr">
              <a:lnSpc>
                <a:spcPct val="100000"/>
              </a:lnSpc>
            </a:pPr>
            <a:r>
              <a:rPr sz="1150" b="0">
                <a:solidFill>
                  <a:srgbClr val="D6E8F7"/>
                </a:solidFill>
                <a:latin typeface="Calibri"/>
              </a:rPr>
              <a:t>accuracy POST-cutoff (unseen deals)</a:t>
            </a:r>
          </a:p>
        </p:txBody>
      </p:sp>
      <p:sp>
        <p:nvSpPr>
          <p:cNvPr id="19" name="TextBox 18"/>
          <p:cNvSpPr txBox="1"/>
          <p:nvPr/>
        </p:nvSpPr>
        <p:spPr>
          <a:xfrm>
            <a:off x="365760" y="3611880"/>
            <a:ext cx="5394960" cy="2011680"/>
          </a:xfrm>
          <a:prstGeom prst="rect">
            <a:avLst/>
          </a:prstGeom>
          <a:noFill/>
        </p:spPr>
        <p:txBody>
          <a:bodyPr wrap="square" anchor="t" lIns="45720" rIns="45720" tIns="22860" bIns="22860">
            <a:spAutoFit/>
          </a:bodyPr>
          <a:lstStyle/>
          <a:p>
            <a:pPr algn="l">
              <a:lnSpc>
                <a:spcPct val="115000"/>
              </a:lnSpc>
            </a:pPr>
            <a:r>
              <a:rPr sz="1350" b="0">
                <a:solidFill>
                  <a:srgbClr val="1A3A5C"/>
                </a:solidFill>
                <a:latin typeface="Calibri"/>
              </a:rPr>
              <a:t>Why this matters:</a:t>
            </a:r>
          </a:p>
          <a:p>
            <a:pPr algn="l">
              <a:lnSpc>
                <a:spcPct val="115000"/>
              </a:lnSpc>
            </a:pPr>
            <a:r>
              <a:rPr sz="1350" b="0">
                <a:solidFill>
                  <a:srgbClr val="1A3A5C"/>
                </a:solidFill>
                <a:latin typeface="Calibri"/>
              </a:rPr>
              <a:t>If the model recalls outcomes without any news, every</a:t>
            </a:r>
          </a:p>
          <a:p>
            <a:pPr algn="l">
              <a:lnSpc>
                <a:spcPct val="115000"/>
              </a:lnSpc>
            </a:pPr>
            <a:r>
              <a:rPr sz="1350" b="0">
                <a:solidFill>
                  <a:srgbClr val="1A3A5C"/>
                </a:solidFill>
                <a:latin typeface="Calibri"/>
              </a:rPr>
              <a:t>pre-cutoff “prediction” is potentially an act of memory,</a:t>
            </a:r>
          </a:p>
          <a:p>
            <a:pPr algn="l">
              <a:lnSpc>
                <a:spcPct val="115000"/>
              </a:lnSpc>
            </a:pPr>
            <a:r>
              <a:rPr sz="1350" b="0">
                <a:solidFill>
                  <a:srgbClr val="1A3A5C"/>
                </a:solidFill>
                <a:latin typeface="Calibri"/>
              </a:rPr>
              <a:t>not inference. The pre- vs post-cutoff gap isolates it.</a:t>
            </a:r>
          </a:p>
        </p:txBody>
      </p:sp>
      <p:sp>
        <p:nvSpPr>
          <p:cNvPr id="20" name="Rectangle 19"/>
          <p:cNvSpPr/>
          <p:nvPr/>
        </p:nvSpPr>
        <p:spPr>
          <a:xfrm>
            <a:off x="6035040" y="3977639"/>
            <a:ext cx="5605272" cy="384048"/>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0" y="3986783"/>
            <a:ext cx="5605272" cy="365760"/>
          </a:xfrm>
          <a:prstGeom prst="rect">
            <a:avLst/>
          </a:prstGeom>
          <a:noFill/>
        </p:spPr>
        <p:txBody>
          <a:bodyPr wrap="square" anchor="t" lIns="45720" rIns="45720" tIns="22860" bIns="22860">
            <a:spAutoFit/>
          </a:bodyPr>
          <a:lstStyle/>
          <a:p>
            <a:pPr algn="ctr">
              <a:lnSpc>
                <a:spcPct val="100000"/>
              </a:lnSpc>
            </a:pPr>
            <a:r>
              <a:rPr sz="1500" b="1">
                <a:solidFill>
                  <a:srgbClr val="FFFFFF"/>
                </a:solidFill>
                <a:latin typeface="Calibri"/>
              </a:rPr>
              <a:t>Is the 71% a memorization problem?</a:t>
            </a:r>
          </a:p>
        </p:txBody>
      </p:sp>
      <p:sp>
        <p:nvSpPr>
          <p:cNvPr id="22" name="Rectangle 21"/>
          <p:cNvSpPr/>
          <p:nvPr/>
        </p:nvSpPr>
        <p:spPr>
          <a:xfrm>
            <a:off x="6035040" y="4361687"/>
            <a:ext cx="5605272" cy="1353312"/>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08192" y="4453127"/>
            <a:ext cx="5458968" cy="1170432"/>
          </a:xfrm>
          <a:prstGeom prst="rect">
            <a:avLst/>
          </a:prstGeom>
          <a:noFill/>
        </p:spPr>
        <p:txBody>
          <a:bodyPr wrap="square" anchor="t" lIns="45720" rIns="45720" tIns="22860" bIns="22860">
            <a:spAutoFit/>
          </a:bodyPr>
          <a:lstStyle/>
          <a:p>
            <a:pPr algn="l">
              <a:lnSpc>
                <a:spcPct val="100000"/>
              </a:lnSpc>
            </a:pPr>
            <a:r>
              <a:rPr sz="1150" b="1">
                <a:solidFill>
                  <a:srgbClr val="1A3A5C"/>
                </a:solidFill>
                <a:latin typeface="Calibri"/>
              </a:rPr>
              <a:t>No - real memory, but not time-localized:</a:t>
            </a:r>
          </a:p>
          <a:p>
            <a:pPr algn="l">
              <a:lnSpc>
                <a:spcPct val="100000"/>
              </a:lnSpc>
            </a:pPr>
            <a:r>
              <a:rPr sz="1050" b="1">
                <a:solidFill>
                  <a:srgbClr val="1A3A5C"/>
                </a:solidFill>
                <a:latin typeface="Calibri"/>
              </a:rPr>
              <a:t>71% acquirer recall</a:t>
            </a:r>
            <a:r>
              <a:rPr sz="1050" b="0">
                <a:solidFill>
                  <a:srgbClr val="1A3A5C"/>
                </a:solidFill>
                <a:latin typeface="Calibri"/>
              </a:rPr>
              <a:t>  = entity memory, only on the 17 windows it self-flags (knows who bought whom).</a:t>
            </a:r>
          </a:p>
          <a:p>
            <a:pPr algn="l">
              <a:lnSpc>
                <a:spcPct val="100000"/>
              </a:lnSpc>
            </a:pPr>
            <a:r>
              <a:rPr sz="1050" b="1">
                <a:solidFill>
                  <a:srgbClr val="1A3A5C"/>
                </a:solidFill>
                <a:latin typeface="Calibri"/>
              </a:rPr>
              <a:t>52% yes/no ≈ chance</a:t>
            </a:r>
            <a:r>
              <a:rPr sz="1050" b="0">
                <a:solidFill>
                  <a:srgbClr val="1A3A5C"/>
                </a:solidFill>
                <a:latin typeface="Calibri"/>
              </a:rPr>
              <a:t>  = but it can't place a deal in time (a fact has no timeline).</a:t>
            </a:r>
          </a:p>
          <a:p>
            <a:pPr algn="l">
              <a:lnSpc>
                <a:spcPct val="100000"/>
              </a:lnSpc>
            </a:pPr>
            <a:r>
              <a:rPr sz="1050" b="1">
                <a:solidFill>
                  <a:srgbClr val="1A3A5C"/>
                </a:solidFill>
                <a:latin typeface="Calibri"/>
              </a:rPr>
              <a:t>52% pre ≈ 50% post-cutoff</a:t>
            </a:r>
            <a:r>
              <a:rPr sz="1050" b="0">
                <a:solidFill>
                  <a:srgbClr val="1A3A5C"/>
                </a:solidFill>
                <a:latin typeface="Calibri"/>
              </a:rPr>
              <a:t>  = deals it could have memorized score no higher than ones it never saw, so no edge.</a:t>
            </a:r>
          </a:p>
        </p:txBody>
      </p:sp>
      <p:sp>
        <p:nvSpPr>
          <p:cNvPr id="24" name="Rectangle 23"/>
          <p:cNvSpPr/>
          <p:nvPr/>
        </p:nvSpPr>
        <p:spPr>
          <a:xfrm>
            <a:off x="365760" y="5806440"/>
            <a:ext cx="11457432" cy="6858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5843016"/>
            <a:ext cx="11064240" cy="612648"/>
          </a:xfrm>
          <a:prstGeom prst="rect">
            <a:avLst/>
          </a:prstGeom>
          <a:noFill/>
        </p:spPr>
        <p:txBody>
          <a:bodyPr wrap="square" anchor="ctr" lIns="45720" rIns="45720" tIns="22860" bIns="22860">
            <a:spAutoFit/>
          </a:bodyPr>
          <a:lstStyle/>
          <a:p>
            <a:pPr algn="l">
              <a:lnSpc>
                <a:spcPct val="100000"/>
              </a:lnSpc>
            </a:pPr>
            <a:r>
              <a:rPr sz="1400" b="1">
                <a:solidFill>
                  <a:srgbClr val="1A3A5C"/>
                </a:solidFill>
                <a:latin typeface="Calibri"/>
              </a:rPr>
              <a:t>Memorization is real but NOT time-localized: 71% acquirer recall, yet the yes/no probe is at chance and pre- ≈ post-cutoff - so it does not inflate the results.</a:t>
            </a:r>
          </a:p>
        </p:txBody>
      </p:sp>
      <p:sp>
        <p:nvSpPr>
          <p:cNvPr id="26" name="Rectangle 25"/>
          <p:cNvSpPr/>
          <p:nvPr/>
        </p:nvSpPr>
        <p:spPr>
          <a:xfrm>
            <a:off x="0" y="6583680"/>
            <a:ext cx="12191695" cy="27432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4320" y="6574536"/>
            <a:ext cx="8229600" cy="256032"/>
          </a:xfrm>
          <a:prstGeom prst="rect">
            <a:avLst/>
          </a:prstGeom>
          <a:noFill/>
        </p:spPr>
        <p:txBody>
          <a:bodyPr wrap="square" anchor="t" lIns="45720" rIns="45720" tIns="22860" bIns="22860">
            <a:spAutoFit/>
          </a:bodyPr>
          <a:lstStyle/>
          <a:p>
            <a:pPr algn="l">
              <a:lnSpc>
                <a:spcPct val="100000"/>
              </a:lnSpc>
            </a:pPr>
            <a:r>
              <a:rPr sz="900" b="0">
                <a:solidFill>
                  <a:srgbClr val="BBBBBB"/>
                </a:solidFill>
                <a:latin typeface="Calibri"/>
              </a:rPr>
              <a:t>M&amp;A Prediction | JPMorgan Industry Project | July 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521440" cy="566928"/>
          </a:xfrm>
          <a:prstGeom prst="rect">
            <a:avLst/>
          </a:prstGeom>
          <a:noFill/>
        </p:spPr>
        <p:txBody>
          <a:bodyPr wrap="square" anchor="t" lIns="45720" rIns="45720" tIns="22860" bIns="22860">
            <a:spAutoFit/>
          </a:bodyPr>
          <a:lstStyle/>
          <a:p>
            <a:pPr algn="l">
              <a:lnSpc>
                <a:spcPct val="100000"/>
              </a:lnSpc>
            </a:pPr>
            <a:r>
              <a:rPr sz="2800" b="1">
                <a:solidFill>
                  <a:srgbClr val="FFFFFF"/>
                </a:solidFill>
                <a:latin typeface="Calibri"/>
              </a:rPr>
              <a:t>Masking &amp; Repeatability</a:t>
            </a:r>
          </a:p>
        </p:txBody>
      </p:sp>
      <p:sp>
        <p:nvSpPr>
          <p:cNvPr id="4" name="TextBox 3"/>
          <p:cNvSpPr txBox="1"/>
          <p:nvPr/>
        </p:nvSpPr>
        <p:spPr>
          <a:xfrm>
            <a:off x="274320" y="640080"/>
            <a:ext cx="11521440" cy="365760"/>
          </a:xfrm>
          <a:prstGeom prst="rect">
            <a:avLst/>
          </a:prstGeom>
          <a:noFill/>
        </p:spPr>
        <p:txBody>
          <a:bodyPr wrap="square" anchor="t" lIns="45720" rIns="45720" tIns="22860" bIns="22860">
            <a:spAutoFit/>
          </a:bodyPr>
          <a:lstStyle/>
          <a:p>
            <a:pPr algn="l">
              <a:lnSpc>
                <a:spcPct val="100000"/>
              </a:lnSpc>
            </a:pPr>
            <a:r>
              <a:rPr sz="1400" b="0">
                <a:solidFill>
                  <a:srgbClr val="B8860B"/>
                </a:solidFill>
                <a:latin typeface="Calibri"/>
              </a:rPr>
              <a:t>Do the scores hold up? Testing recognition-vs-reading and run-to-run stability</a:t>
            </a:r>
          </a:p>
        </p:txBody>
      </p:sp>
      <p:sp>
        <p:nvSpPr>
          <p:cNvPr id="5" name="Rectangle 4"/>
          <p:cNvSpPr/>
          <p:nvPr/>
        </p:nvSpPr>
        <p:spPr>
          <a:xfrm>
            <a:off x="0" y="1051560"/>
            <a:ext cx="12191695" cy="36576"/>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masking.png"/>
          <p:cNvPicPr>
            <a:picLocks noChangeAspect="1"/>
          </p:cNvPicPr>
          <p:nvPr/>
        </p:nvPicPr>
        <p:blipFill>
          <a:blip r:embed="rId2"/>
          <a:stretch>
            <a:fillRect/>
          </a:stretch>
        </p:blipFill>
        <p:spPr>
          <a:xfrm>
            <a:off x="1600200" y="1225296"/>
            <a:ext cx="2941449" cy="2432304"/>
          </a:xfrm>
          <a:prstGeom prst="rect">
            <a:avLst/>
          </a:prstGeom>
        </p:spPr>
      </p:pic>
      <p:pic>
        <p:nvPicPr>
          <p:cNvPr id="7" name="Picture 6" descr="fig_repeat.png"/>
          <p:cNvPicPr>
            <a:picLocks noChangeAspect="1"/>
          </p:cNvPicPr>
          <p:nvPr/>
        </p:nvPicPr>
        <p:blipFill>
          <a:blip r:embed="rId3"/>
          <a:stretch>
            <a:fillRect/>
          </a:stretch>
        </p:blipFill>
        <p:spPr>
          <a:xfrm>
            <a:off x="7452360" y="1225296"/>
            <a:ext cx="2941449" cy="2432304"/>
          </a:xfrm>
          <a:prstGeom prst="rect">
            <a:avLst/>
          </a:prstGeom>
        </p:spPr>
      </p:pic>
      <p:sp>
        <p:nvSpPr>
          <p:cNvPr id="8" name="Rectangle 7"/>
          <p:cNvSpPr/>
          <p:nvPr/>
        </p:nvSpPr>
        <p:spPr>
          <a:xfrm>
            <a:off x="365760" y="3767328"/>
            <a:ext cx="5623560" cy="384048"/>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3776472"/>
            <a:ext cx="5623560" cy="365760"/>
          </a:xfrm>
          <a:prstGeom prst="rect">
            <a:avLst/>
          </a:prstGeom>
          <a:noFill/>
        </p:spPr>
        <p:txBody>
          <a:bodyPr wrap="square" anchor="t" lIns="45720" rIns="45720" tIns="22860" bIns="22860">
            <a:spAutoFit/>
          </a:bodyPr>
          <a:lstStyle/>
          <a:p>
            <a:pPr algn="ctr">
              <a:lnSpc>
                <a:spcPct val="100000"/>
              </a:lnSpc>
            </a:pPr>
            <a:r>
              <a:rPr sz="1500" b="1">
                <a:solidFill>
                  <a:srgbClr val="FFFFFF"/>
                </a:solidFill>
                <a:latin typeface="Calibri"/>
              </a:rPr>
              <a:t>Left chart: does the name do the work?</a:t>
            </a:r>
          </a:p>
        </p:txBody>
      </p:sp>
      <p:sp>
        <p:nvSpPr>
          <p:cNvPr id="10" name="Rectangle 9"/>
          <p:cNvSpPr/>
          <p:nvPr/>
        </p:nvSpPr>
        <p:spPr>
          <a:xfrm>
            <a:off x="365760" y="4151376"/>
            <a:ext cx="5623560" cy="1444752"/>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 y="4242816"/>
            <a:ext cx="5477256" cy="1261872"/>
          </a:xfrm>
          <a:prstGeom prst="rect">
            <a:avLst/>
          </a:prstGeom>
          <a:noFill/>
        </p:spPr>
        <p:txBody>
          <a:bodyPr wrap="square" anchor="t" lIns="45720" rIns="45720" tIns="22860" bIns="22860">
            <a:spAutoFit/>
          </a:bodyPr>
          <a:lstStyle/>
          <a:p>
            <a:pPr algn="l">
              <a:lnSpc>
                <a:spcPct val="100000"/>
              </a:lnSpc>
            </a:pPr>
            <a:r>
              <a:rPr sz="1250" b="0">
                <a:solidFill>
                  <a:srgbClr val="1A3A5C"/>
                </a:solidFill>
                <a:latin typeface="Calibri"/>
              </a:rPr>
              <a:t>Each dot is one company: score with the name vs with it hidden.</a:t>
            </a:r>
          </a:p>
          <a:p>
            <a:pPr algn="l">
              <a:lnSpc>
                <a:spcPct val="100000"/>
              </a:lnSpc>
            </a:pPr>
            <a:r>
              <a:rPr sz="1250" b="0">
                <a:solidFill>
                  <a:srgbClr val="1A3A5C"/>
                </a:solidFill>
                <a:latin typeface="Calibri"/>
              </a:rPr>
              <a:t>Dots BELOW the dashed line = hiding the name LOWERED the score.</a:t>
            </a:r>
          </a:p>
          <a:p>
            <a:pPr algn="l">
              <a:lnSpc>
                <a:spcPct val="100000"/>
              </a:lnSpc>
            </a:pPr>
            <a:r>
              <a:rPr sz="1250" b="1">
                <a:solidFill>
                  <a:srgbClr val="1A3A5C"/>
                </a:solidFill>
                <a:latin typeface="Calibri"/>
              </a:rPr>
              <a:t>ΔAUC = +0.06: </a:t>
            </a:r>
            <a:r>
              <a:rPr sz="1250" b="0">
                <a:solidFill>
                  <a:srgbClr val="1A3A5C"/>
                </a:solidFill>
                <a:latin typeface="Calibri"/>
              </a:rPr>
              <a:t>part of the 'signal' is recognizing the company, not reading the news, so it may not carry to unknown companies.</a:t>
            </a:r>
          </a:p>
        </p:txBody>
      </p:sp>
      <p:sp>
        <p:nvSpPr>
          <p:cNvPr id="12" name="Rectangle 11"/>
          <p:cNvSpPr/>
          <p:nvPr/>
        </p:nvSpPr>
        <p:spPr>
          <a:xfrm>
            <a:off x="6190488" y="3767328"/>
            <a:ext cx="5623560" cy="384048"/>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90488" y="3776472"/>
            <a:ext cx="5623560" cy="365760"/>
          </a:xfrm>
          <a:prstGeom prst="rect">
            <a:avLst/>
          </a:prstGeom>
          <a:noFill/>
        </p:spPr>
        <p:txBody>
          <a:bodyPr wrap="square" anchor="t" lIns="45720" rIns="45720" tIns="22860" bIns="22860">
            <a:spAutoFit/>
          </a:bodyPr>
          <a:lstStyle/>
          <a:p>
            <a:pPr algn="ctr">
              <a:lnSpc>
                <a:spcPct val="100000"/>
              </a:lnSpc>
            </a:pPr>
            <a:r>
              <a:rPr sz="1500" b="1">
                <a:solidFill>
                  <a:srgbClr val="FFFFFF"/>
                </a:solidFill>
                <a:latin typeface="Calibri"/>
              </a:rPr>
              <a:t>Right chart: are the numbers stable?</a:t>
            </a:r>
          </a:p>
        </p:txBody>
      </p:sp>
      <p:sp>
        <p:nvSpPr>
          <p:cNvPr id="14" name="Rectangle 13"/>
          <p:cNvSpPr/>
          <p:nvPr/>
        </p:nvSpPr>
        <p:spPr>
          <a:xfrm>
            <a:off x="6190488" y="4151376"/>
            <a:ext cx="5623560" cy="1444752"/>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3640" y="4242816"/>
            <a:ext cx="5477256" cy="1261872"/>
          </a:xfrm>
          <a:prstGeom prst="rect">
            <a:avLst/>
          </a:prstGeom>
          <a:noFill/>
        </p:spPr>
        <p:txBody>
          <a:bodyPr wrap="square" anchor="t" lIns="45720" rIns="45720" tIns="22860" bIns="22860">
            <a:spAutoFit/>
          </a:bodyPr>
          <a:lstStyle/>
          <a:p>
            <a:pPr algn="l">
              <a:lnSpc>
                <a:spcPct val="100000"/>
              </a:lnSpc>
            </a:pPr>
            <a:r>
              <a:rPr sz="1250" b="0">
                <a:solidFill>
                  <a:srgbClr val="1A3A5C"/>
                </a:solidFill>
                <a:latin typeface="Calibri"/>
              </a:rPr>
              <a:t>Same window scored twice: run 1 vs run 2.</a:t>
            </a:r>
          </a:p>
          <a:p>
            <a:pPr algn="l">
              <a:lnSpc>
                <a:spcPct val="100000"/>
              </a:lnSpc>
            </a:pPr>
            <a:r>
              <a:rPr sz="1250" b="0">
                <a:solidFill>
                  <a:srgbClr val="1A3A5C"/>
                </a:solidFill>
                <a:latin typeface="Calibri"/>
              </a:rPr>
              <a:t>Dots sit ON the line = the re-run gives almost the same number.</a:t>
            </a:r>
          </a:p>
          <a:p>
            <a:pPr algn="l">
              <a:lnSpc>
                <a:spcPct val="100000"/>
              </a:lnSpc>
            </a:pPr>
            <a:r>
              <a:rPr sz="1250" b="1">
                <a:solidFill>
                  <a:srgbClr val="1A3A5C"/>
                </a:solidFill>
                <a:latin typeface="Calibri"/>
              </a:rPr>
              <a:t>Spearman 0.80, drift ~1.2 pts on 0-100: </a:t>
            </a:r>
            <a:r>
              <a:rPr sz="1250" b="0">
                <a:solidFill>
                  <a:srgbClr val="1A3A5C"/>
                </a:solidFill>
                <a:latin typeface="Calibri"/>
              </a:rPr>
              <a:t>the scores are reproducible, not arbitrary, so they carry real information even if imperfect.</a:t>
            </a:r>
          </a:p>
        </p:txBody>
      </p:sp>
      <p:sp>
        <p:nvSpPr>
          <p:cNvPr id="16" name="Rectangle 15"/>
          <p:cNvSpPr/>
          <p:nvPr/>
        </p:nvSpPr>
        <p:spPr>
          <a:xfrm>
            <a:off x="365760" y="5687568"/>
            <a:ext cx="11457432" cy="731520"/>
          </a:xfrm>
          <a:prstGeom prst="rect">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5724144"/>
            <a:ext cx="11064240" cy="658368"/>
          </a:xfrm>
          <a:prstGeom prst="rect">
            <a:avLst/>
          </a:prstGeom>
          <a:noFill/>
        </p:spPr>
        <p:txBody>
          <a:bodyPr wrap="square" anchor="ctr" lIns="45720" rIns="45720" tIns="22860" bIns="22860">
            <a:spAutoFit/>
          </a:bodyPr>
          <a:lstStyle/>
          <a:p>
            <a:pPr algn="l">
              <a:lnSpc>
                <a:spcPct val="100000"/>
              </a:lnSpc>
            </a:pPr>
            <a:r>
              <a:rPr sz="1400" b="1">
                <a:solidFill>
                  <a:srgbClr val="1A3A5C"/>
                </a:solidFill>
                <a:latin typeface="Calibri"/>
              </a:rPr>
              <a:t>Read together: the scores are stable and not random (good), but some of the apparent skill is recognizing the company rather than reading the text, the caveat for scoring companies the model has never seen.</a:t>
            </a:r>
          </a:p>
        </p:txBody>
      </p:sp>
      <p:sp>
        <p:nvSpPr>
          <p:cNvPr id="18" name="Rectangle 17"/>
          <p:cNvSpPr/>
          <p:nvPr/>
        </p:nvSpPr>
        <p:spPr>
          <a:xfrm>
            <a:off x="0" y="6583680"/>
            <a:ext cx="12191695" cy="27432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4320" y="6574536"/>
            <a:ext cx="8229600" cy="256032"/>
          </a:xfrm>
          <a:prstGeom prst="rect">
            <a:avLst/>
          </a:prstGeom>
          <a:noFill/>
        </p:spPr>
        <p:txBody>
          <a:bodyPr wrap="square" anchor="t" lIns="45720" rIns="45720" tIns="22860" bIns="22860">
            <a:spAutoFit/>
          </a:bodyPr>
          <a:lstStyle/>
          <a:p>
            <a:pPr algn="l">
              <a:lnSpc>
                <a:spcPct val="100000"/>
              </a:lnSpc>
            </a:pPr>
            <a:r>
              <a:rPr sz="900" b="0">
                <a:solidFill>
                  <a:srgbClr val="BBBBBB"/>
                </a:solidFill>
                <a:latin typeface="Calibri"/>
              </a:rPr>
              <a:t>M&amp;A Prediction | JPMorgan Industry Project | July 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521440" cy="566928"/>
          </a:xfrm>
          <a:prstGeom prst="rect">
            <a:avLst/>
          </a:prstGeom>
          <a:noFill/>
        </p:spPr>
        <p:txBody>
          <a:bodyPr wrap="square" anchor="t" lIns="45720" rIns="45720" tIns="22860" bIns="22860">
            <a:spAutoFit/>
          </a:bodyPr>
          <a:lstStyle/>
          <a:p>
            <a:pPr algn="l">
              <a:lnSpc>
                <a:spcPct val="100000"/>
              </a:lnSpc>
            </a:pPr>
            <a:r>
              <a:rPr sz="2800" b="1">
                <a:solidFill>
                  <a:srgbClr val="FFFFFF"/>
                </a:solidFill>
                <a:latin typeface="Calibri"/>
              </a:rPr>
              <a:t>Model Sensitivity &amp; What $100 Buys</a:t>
            </a:r>
          </a:p>
        </p:txBody>
      </p:sp>
      <p:sp>
        <p:nvSpPr>
          <p:cNvPr id="4" name="TextBox 3"/>
          <p:cNvSpPr txBox="1"/>
          <p:nvPr/>
        </p:nvSpPr>
        <p:spPr>
          <a:xfrm>
            <a:off x="274320" y="640080"/>
            <a:ext cx="11521440" cy="365760"/>
          </a:xfrm>
          <a:prstGeom prst="rect">
            <a:avLst/>
          </a:prstGeom>
          <a:noFill/>
        </p:spPr>
        <p:txBody>
          <a:bodyPr wrap="square" anchor="t" lIns="45720" rIns="45720" tIns="22860" bIns="22860">
            <a:spAutoFit/>
          </a:bodyPr>
          <a:lstStyle/>
          <a:p>
            <a:pPr algn="l">
              <a:lnSpc>
                <a:spcPct val="100000"/>
              </a:lnSpc>
            </a:pPr>
            <a:r>
              <a:rPr sz="1400" b="0">
                <a:solidFill>
                  <a:srgbClr val="B8860B"/>
                </a:solidFill>
                <a:latin typeface="Calibri"/>
              </a:rPr>
              <a:t>gpt-5 vs gpt-5-mini on 65 shared windows - does ~10x price buy a different read?</a:t>
            </a:r>
          </a:p>
        </p:txBody>
      </p:sp>
      <p:sp>
        <p:nvSpPr>
          <p:cNvPr id="5" name="Rectangle 4"/>
          <p:cNvSpPr/>
          <p:nvPr/>
        </p:nvSpPr>
        <p:spPr>
          <a:xfrm>
            <a:off x="0" y="1051560"/>
            <a:ext cx="12191695" cy="36576"/>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417320"/>
            <a:ext cx="2697480" cy="118872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472184"/>
            <a:ext cx="2697480" cy="640080"/>
          </a:xfrm>
          <a:prstGeom prst="rect">
            <a:avLst/>
          </a:prstGeom>
          <a:noFill/>
        </p:spPr>
        <p:txBody>
          <a:bodyPr wrap="square" anchor="t" lIns="45720" rIns="45720" tIns="22860" bIns="22860">
            <a:spAutoFit/>
          </a:bodyPr>
          <a:lstStyle/>
          <a:p>
            <a:pPr algn="ctr">
              <a:lnSpc>
                <a:spcPct val="100000"/>
              </a:lnSpc>
            </a:pPr>
            <a:r>
              <a:rPr sz="2800" b="1">
                <a:solidFill>
                  <a:srgbClr val="FFC000"/>
                </a:solidFill>
                <a:latin typeface="Calibri"/>
              </a:rPr>
              <a:t>0.662</a:t>
            </a:r>
          </a:p>
        </p:txBody>
      </p:sp>
      <p:sp>
        <p:nvSpPr>
          <p:cNvPr id="8" name="TextBox 7"/>
          <p:cNvSpPr txBox="1"/>
          <p:nvPr/>
        </p:nvSpPr>
        <p:spPr>
          <a:xfrm>
            <a:off x="365760" y="2130552"/>
            <a:ext cx="2697480" cy="457200"/>
          </a:xfrm>
          <a:prstGeom prst="rect">
            <a:avLst/>
          </a:prstGeom>
          <a:noFill/>
        </p:spPr>
        <p:txBody>
          <a:bodyPr wrap="square" anchor="t" lIns="45720" rIns="45720" tIns="22860" bIns="22860">
            <a:spAutoFit/>
          </a:bodyPr>
          <a:lstStyle/>
          <a:p>
            <a:pPr algn="ctr">
              <a:lnSpc>
                <a:spcPct val="100000"/>
              </a:lnSpc>
            </a:pPr>
            <a:r>
              <a:rPr sz="1150" b="0">
                <a:solidFill>
                  <a:srgbClr val="D6E8F7"/>
                </a:solidFill>
                <a:latin typeface="Calibri"/>
              </a:rPr>
              <a:t>score agreement (mean Spearman)</a:t>
            </a:r>
          </a:p>
        </p:txBody>
      </p:sp>
      <p:sp>
        <p:nvSpPr>
          <p:cNvPr id="9" name="Rectangle 8"/>
          <p:cNvSpPr/>
          <p:nvPr/>
        </p:nvSpPr>
        <p:spPr>
          <a:xfrm>
            <a:off x="3273552" y="1417320"/>
            <a:ext cx="2697480" cy="118872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73552" y="1472184"/>
            <a:ext cx="2697480" cy="640080"/>
          </a:xfrm>
          <a:prstGeom prst="rect">
            <a:avLst/>
          </a:prstGeom>
          <a:noFill/>
        </p:spPr>
        <p:txBody>
          <a:bodyPr wrap="square" anchor="t" lIns="45720" rIns="45720" tIns="22860" bIns="22860">
            <a:spAutoFit/>
          </a:bodyPr>
          <a:lstStyle/>
          <a:p>
            <a:pPr algn="ctr">
              <a:lnSpc>
                <a:spcPct val="100000"/>
              </a:lnSpc>
            </a:pPr>
            <a:r>
              <a:rPr sz="2800" b="1">
                <a:solidFill>
                  <a:srgbClr val="FFC000"/>
                </a:solidFill>
                <a:latin typeface="Calibri"/>
              </a:rPr>
              <a:t>0.54 / 0.55</a:t>
            </a:r>
          </a:p>
        </p:txBody>
      </p:sp>
      <p:sp>
        <p:nvSpPr>
          <p:cNvPr id="11" name="TextBox 10"/>
          <p:cNvSpPr txBox="1"/>
          <p:nvPr/>
        </p:nvSpPr>
        <p:spPr>
          <a:xfrm>
            <a:off x="3273552" y="2130552"/>
            <a:ext cx="2697480" cy="457200"/>
          </a:xfrm>
          <a:prstGeom prst="rect">
            <a:avLst/>
          </a:prstGeom>
          <a:noFill/>
        </p:spPr>
        <p:txBody>
          <a:bodyPr wrap="square" anchor="t" lIns="45720" rIns="45720" tIns="22860" bIns="22860">
            <a:spAutoFit/>
          </a:bodyPr>
          <a:lstStyle/>
          <a:p>
            <a:pPr algn="ctr">
              <a:lnSpc>
                <a:spcPct val="100000"/>
              </a:lnSpc>
            </a:pPr>
            <a:r>
              <a:rPr sz="1150" b="0">
                <a:solidFill>
                  <a:srgbClr val="D6E8F7"/>
                </a:solidFill>
                <a:latin typeface="Calibri"/>
              </a:rPr>
              <a:t>subset AUC: mini / gpt-5</a:t>
            </a:r>
          </a:p>
        </p:txBody>
      </p:sp>
      <p:sp>
        <p:nvSpPr>
          <p:cNvPr id="12" name="Rectangle 11"/>
          <p:cNvSpPr/>
          <p:nvPr/>
        </p:nvSpPr>
        <p:spPr>
          <a:xfrm>
            <a:off x="6181344" y="1417320"/>
            <a:ext cx="2697480" cy="118872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1344" y="1472184"/>
            <a:ext cx="2697480" cy="640080"/>
          </a:xfrm>
          <a:prstGeom prst="rect">
            <a:avLst/>
          </a:prstGeom>
          <a:noFill/>
        </p:spPr>
        <p:txBody>
          <a:bodyPr wrap="square" anchor="t" lIns="45720" rIns="45720" tIns="22860" bIns="22860">
            <a:spAutoFit/>
          </a:bodyPr>
          <a:lstStyle/>
          <a:p>
            <a:pPr algn="ctr">
              <a:lnSpc>
                <a:spcPct val="100000"/>
              </a:lnSpc>
            </a:pPr>
            <a:r>
              <a:rPr sz="2800" b="1">
                <a:solidFill>
                  <a:srgbClr val="FFFFFF"/>
                </a:solidFill>
                <a:latin typeface="Calibri"/>
              </a:rPr>
              <a:t>4.3x</a:t>
            </a:r>
          </a:p>
        </p:txBody>
      </p:sp>
      <p:sp>
        <p:nvSpPr>
          <p:cNvPr id="14" name="TextBox 13"/>
          <p:cNvSpPr txBox="1"/>
          <p:nvPr/>
        </p:nvSpPr>
        <p:spPr>
          <a:xfrm>
            <a:off x="6181344" y="2130552"/>
            <a:ext cx="2697480" cy="457200"/>
          </a:xfrm>
          <a:prstGeom prst="rect">
            <a:avLst/>
          </a:prstGeom>
          <a:noFill/>
        </p:spPr>
        <p:txBody>
          <a:bodyPr wrap="square" anchor="t" lIns="45720" rIns="45720" tIns="22860" bIns="22860">
            <a:spAutoFit/>
          </a:bodyPr>
          <a:lstStyle/>
          <a:p>
            <a:pPr algn="ctr">
              <a:lnSpc>
                <a:spcPct val="100000"/>
              </a:lnSpc>
            </a:pPr>
            <a:r>
              <a:rPr sz="1150" b="0">
                <a:solidFill>
                  <a:srgbClr val="D6E8F7"/>
                </a:solidFill>
                <a:latin typeface="Calibri"/>
              </a:rPr>
              <a:t>cost ratio per window</a:t>
            </a:r>
          </a:p>
        </p:txBody>
      </p:sp>
      <p:sp>
        <p:nvSpPr>
          <p:cNvPr id="15" name="Rectangle 14"/>
          <p:cNvSpPr/>
          <p:nvPr/>
        </p:nvSpPr>
        <p:spPr>
          <a:xfrm>
            <a:off x="9089136" y="1417320"/>
            <a:ext cx="2697480" cy="1188720"/>
          </a:xfrm>
          <a:prstGeom prst="rect">
            <a:avLst/>
          </a:prstGeom>
          <a:solidFill>
            <a:srgbClr val="1A7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89136" y="1472184"/>
            <a:ext cx="2697480" cy="640080"/>
          </a:xfrm>
          <a:prstGeom prst="rect">
            <a:avLst/>
          </a:prstGeom>
          <a:noFill/>
        </p:spPr>
        <p:txBody>
          <a:bodyPr wrap="square" anchor="t" lIns="45720" rIns="45720" tIns="22860" bIns="22860">
            <a:spAutoFit/>
          </a:bodyPr>
          <a:lstStyle/>
          <a:p>
            <a:pPr algn="ctr">
              <a:lnSpc>
                <a:spcPct val="100000"/>
              </a:lnSpc>
            </a:pPr>
            <a:r>
              <a:rPr sz="2800" b="1">
                <a:solidFill>
                  <a:srgbClr val="FFFFFF"/>
                </a:solidFill>
                <a:latin typeface="Calibri"/>
              </a:rPr>
              <a:t>$0.36</a:t>
            </a:r>
          </a:p>
        </p:txBody>
      </p:sp>
      <p:sp>
        <p:nvSpPr>
          <p:cNvPr id="17" name="TextBox 16"/>
          <p:cNvSpPr txBox="1"/>
          <p:nvPr/>
        </p:nvSpPr>
        <p:spPr>
          <a:xfrm>
            <a:off x="9089136" y="2130552"/>
            <a:ext cx="2697480" cy="457200"/>
          </a:xfrm>
          <a:prstGeom prst="rect">
            <a:avLst/>
          </a:prstGeom>
          <a:noFill/>
        </p:spPr>
        <p:txBody>
          <a:bodyPr wrap="square" anchor="t" lIns="45720" rIns="45720" tIns="22860" bIns="22860">
            <a:spAutoFit/>
          </a:bodyPr>
          <a:lstStyle/>
          <a:p>
            <a:pPr algn="ctr">
              <a:lnSpc>
                <a:spcPct val="100000"/>
              </a:lnSpc>
            </a:pPr>
            <a:r>
              <a:rPr sz="1150" b="0">
                <a:solidFill>
                  <a:srgbClr val="D6E8F7"/>
                </a:solidFill>
                <a:latin typeface="Calibri"/>
              </a:rPr>
              <a:t>actual total spend this week</a:t>
            </a:r>
          </a:p>
        </p:txBody>
      </p:sp>
      <p:sp>
        <p:nvSpPr>
          <p:cNvPr id="18" name="Rectangle 17"/>
          <p:cNvSpPr/>
          <p:nvPr/>
        </p:nvSpPr>
        <p:spPr>
          <a:xfrm>
            <a:off x="365760" y="3017520"/>
            <a:ext cx="5669280" cy="36576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1480" y="3017520"/>
            <a:ext cx="5577840" cy="365760"/>
          </a:xfrm>
          <a:prstGeom prst="rect">
            <a:avLst/>
          </a:prstGeom>
          <a:noFill/>
        </p:spPr>
        <p:txBody>
          <a:bodyPr wrap="square" anchor="ctr" lIns="45720" rIns="45720" tIns="22860" bIns="22860">
            <a:spAutoFit/>
          </a:bodyPr>
          <a:lstStyle/>
          <a:p>
            <a:pPr algn="l">
              <a:lnSpc>
                <a:spcPct val="100000"/>
              </a:lnSpc>
            </a:pPr>
            <a:r>
              <a:rPr sz="1250" b="1">
                <a:solidFill>
                  <a:srgbClr val="FFFFFF"/>
                </a:solidFill>
                <a:latin typeface="Calibri"/>
              </a:rPr>
              <a:t>Run</a:t>
            </a:r>
          </a:p>
        </p:txBody>
      </p:sp>
      <p:sp>
        <p:nvSpPr>
          <p:cNvPr id="20" name="Rectangle 19"/>
          <p:cNvSpPr/>
          <p:nvPr/>
        </p:nvSpPr>
        <p:spPr>
          <a:xfrm>
            <a:off x="6035040" y="3017520"/>
            <a:ext cx="2377440" cy="36576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80760" y="3017520"/>
            <a:ext cx="2286000" cy="365760"/>
          </a:xfrm>
          <a:prstGeom prst="rect">
            <a:avLst/>
          </a:prstGeom>
          <a:noFill/>
        </p:spPr>
        <p:txBody>
          <a:bodyPr wrap="square" anchor="ctr" lIns="45720" rIns="45720" tIns="22860" bIns="22860">
            <a:spAutoFit/>
          </a:bodyPr>
          <a:lstStyle/>
          <a:p>
            <a:pPr algn="l">
              <a:lnSpc>
                <a:spcPct val="100000"/>
              </a:lnSpc>
            </a:pPr>
            <a:r>
              <a:rPr sz="1250" b="1">
                <a:solidFill>
                  <a:srgbClr val="FFFFFF"/>
                </a:solidFill>
                <a:latin typeface="Calibri"/>
              </a:rPr>
              <a:t>Model</a:t>
            </a:r>
          </a:p>
        </p:txBody>
      </p:sp>
      <p:sp>
        <p:nvSpPr>
          <p:cNvPr id="22" name="Rectangle 21"/>
          <p:cNvSpPr/>
          <p:nvPr/>
        </p:nvSpPr>
        <p:spPr>
          <a:xfrm>
            <a:off x="8412480" y="3017520"/>
            <a:ext cx="3383280" cy="36576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58200" y="3017520"/>
            <a:ext cx="3291840" cy="365760"/>
          </a:xfrm>
          <a:prstGeom prst="rect">
            <a:avLst/>
          </a:prstGeom>
          <a:noFill/>
        </p:spPr>
        <p:txBody>
          <a:bodyPr wrap="square" anchor="ctr" lIns="45720" rIns="45720" tIns="22860" bIns="22860">
            <a:spAutoFit/>
          </a:bodyPr>
          <a:lstStyle/>
          <a:p>
            <a:pPr algn="l">
              <a:lnSpc>
                <a:spcPct val="100000"/>
              </a:lnSpc>
            </a:pPr>
            <a:r>
              <a:rPr sz="1250" b="1">
                <a:solidFill>
                  <a:srgbClr val="FFFFFF"/>
                </a:solidFill>
                <a:latin typeface="Calibri"/>
              </a:rPr>
              <a:t>Approx. cost</a:t>
            </a:r>
          </a:p>
        </p:txBody>
      </p:sp>
      <p:sp>
        <p:nvSpPr>
          <p:cNvPr id="24" name="Rectangle 23"/>
          <p:cNvSpPr/>
          <p:nvPr/>
        </p:nvSpPr>
        <p:spPr>
          <a:xfrm>
            <a:off x="365760" y="3383280"/>
            <a:ext cx="566928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 y="3383280"/>
            <a:ext cx="5577840" cy="365760"/>
          </a:xfrm>
          <a:prstGeom prst="rect">
            <a:avLst/>
          </a:prstGeom>
          <a:noFill/>
        </p:spPr>
        <p:txBody>
          <a:bodyPr wrap="square" anchor="ctr" lIns="45720" rIns="45720" tIns="22860" bIns="22860">
            <a:spAutoFit/>
          </a:bodyPr>
          <a:lstStyle/>
          <a:p>
            <a:pPr algn="l">
              <a:lnSpc>
                <a:spcPct val="100000"/>
              </a:lnSpc>
            </a:pPr>
            <a:r>
              <a:rPr sz="1250" b="0">
                <a:solidFill>
                  <a:srgbClr val="1A3A5C"/>
                </a:solidFill>
                <a:latin typeface="Calibri"/>
              </a:rPr>
              <a:t>Score ~1,400 windows (700 events × 2)</a:t>
            </a:r>
          </a:p>
        </p:txBody>
      </p:sp>
      <p:sp>
        <p:nvSpPr>
          <p:cNvPr id="26" name="Rectangle 25"/>
          <p:cNvSpPr/>
          <p:nvPr/>
        </p:nvSpPr>
        <p:spPr>
          <a:xfrm>
            <a:off x="6035040" y="3383280"/>
            <a:ext cx="237744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80760" y="3383280"/>
            <a:ext cx="2286000" cy="365760"/>
          </a:xfrm>
          <a:prstGeom prst="rect">
            <a:avLst/>
          </a:prstGeom>
          <a:noFill/>
        </p:spPr>
        <p:txBody>
          <a:bodyPr wrap="square" anchor="ctr" lIns="45720" rIns="45720" tIns="22860" bIns="22860">
            <a:spAutoFit/>
          </a:bodyPr>
          <a:lstStyle/>
          <a:p>
            <a:pPr algn="l">
              <a:lnSpc>
                <a:spcPct val="100000"/>
              </a:lnSpc>
            </a:pPr>
            <a:r>
              <a:rPr sz="1250" b="0">
                <a:solidFill>
                  <a:srgbClr val="1A3A5C"/>
                </a:solidFill>
                <a:latin typeface="Calibri"/>
              </a:rPr>
              <a:t>gpt-5-mini</a:t>
            </a:r>
          </a:p>
        </p:txBody>
      </p:sp>
      <p:sp>
        <p:nvSpPr>
          <p:cNvPr id="28" name="Rectangle 27"/>
          <p:cNvSpPr/>
          <p:nvPr/>
        </p:nvSpPr>
        <p:spPr>
          <a:xfrm>
            <a:off x="8412480" y="3383280"/>
            <a:ext cx="338328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58200" y="3383280"/>
            <a:ext cx="3291840" cy="365760"/>
          </a:xfrm>
          <a:prstGeom prst="rect">
            <a:avLst/>
          </a:prstGeom>
          <a:noFill/>
        </p:spPr>
        <p:txBody>
          <a:bodyPr wrap="square" anchor="ctr" lIns="45720" rIns="45720" tIns="22860" bIns="22860">
            <a:spAutoFit/>
          </a:bodyPr>
          <a:lstStyle/>
          <a:p>
            <a:pPr algn="l">
              <a:lnSpc>
                <a:spcPct val="100000"/>
              </a:lnSpc>
            </a:pPr>
            <a:r>
              <a:rPr sz="1250" b="0">
                <a:solidFill>
                  <a:srgbClr val="1A3A5C"/>
                </a:solidFill>
                <a:latin typeface="Calibri"/>
              </a:rPr>
              <a:t>≈ $2.50</a:t>
            </a:r>
          </a:p>
        </p:txBody>
      </p:sp>
      <p:sp>
        <p:nvSpPr>
          <p:cNvPr id="30" name="Rectangle 29"/>
          <p:cNvSpPr/>
          <p:nvPr/>
        </p:nvSpPr>
        <p:spPr>
          <a:xfrm>
            <a:off x="365760" y="3749040"/>
            <a:ext cx="5669280" cy="36576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1480" y="3749040"/>
            <a:ext cx="5577840" cy="365760"/>
          </a:xfrm>
          <a:prstGeom prst="rect">
            <a:avLst/>
          </a:prstGeom>
          <a:noFill/>
        </p:spPr>
        <p:txBody>
          <a:bodyPr wrap="square" anchor="ctr" lIns="45720" rIns="45720" tIns="22860" bIns="22860">
            <a:spAutoFit/>
          </a:bodyPr>
          <a:lstStyle/>
          <a:p>
            <a:pPr algn="l">
              <a:lnSpc>
                <a:spcPct val="100000"/>
              </a:lnSpc>
            </a:pPr>
            <a:r>
              <a:rPr sz="1250" b="0">
                <a:solidFill>
                  <a:srgbClr val="1A3A5C"/>
                </a:solidFill>
                <a:latin typeface="Calibri"/>
              </a:rPr>
              <a:t>Same, company names masked</a:t>
            </a:r>
          </a:p>
        </p:txBody>
      </p:sp>
      <p:sp>
        <p:nvSpPr>
          <p:cNvPr id="32" name="Rectangle 31"/>
          <p:cNvSpPr/>
          <p:nvPr/>
        </p:nvSpPr>
        <p:spPr>
          <a:xfrm>
            <a:off x="6035040" y="3749040"/>
            <a:ext cx="2377440" cy="36576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080760" y="3749040"/>
            <a:ext cx="2286000" cy="365760"/>
          </a:xfrm>
          <a:prstGeom prst="rect">
            <a:avLst/>
          </a:prstGeom>
          <a:noFill/>
        </p:spPr>
        <p:txBody>
          <a:bodyPr wrap="square" anchor="ctr" lIns="45720" rIns="45720" tIns="22860" bIns="22860">
            <a:spAutoFit/>
          </a:bodyPr>
          <a:lstStyle/>
          <a:p>
            <a:pPr algn="l">
              <a:lnSpc>
                <a:spcPct val="100000"/>
              </a:lnSpc>
            </a:pPr>
            <a:r>
              <a:rPr sz="1250" b="0">
                <a:solidFill>
                  <a:srgbClr val="1A3A5C"/>
                </a:solidFill>
                <a:latin typeface="Calibri"/>
              </a:rPr>
              <a:t>gpt-5-mini</a:t>
            </a:r>
          </a:p>
        </p:txBody>
      </p:sp>
      <p:sp>
        <p:nvSpPr>
          <p:cNvPr id="34" name="Rectangle 33"/>
          <p:cNvSpPr/>
          <p:nvPr/>
        </p:nvSpPr>
        <p:spPr>
          <a:xfrm>
            <a:off x="8412480" y="3749040"/>
            <a:ext cx="3383280" cy="36576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58200" y="3749040"/>
            <a:ext cx="3291840" cy="365760"/>
          </a:xfrm>
          <a:prstGeom prst="rect">
            <a:avLst/>
          </a:prstGeom>
          <a:noFill/>
        </p:spPr>
        <p:txBody>
          <a:bodyPr wrap="square" anchor="ctr" lIns="45720" rIns="45720" tIns="22860" bIns="22860">
            <a:spAutoFit/>
          </a:bodyPr>
          <a:lstStyle/>
          <a:p>
            <a:pPr algn="l">
              <a:lnSpc>
                <a:spcPct val="100000"/>
              </a:lnSpc>
            </a:pPr>
            <a:r>
              <a:rPr sz="1250" b="0">
                <a:solidFill>
                  <a:srgbClr val="1A3A5C"/>
                </a:solidFill>
                <a:latin typeface="Calibri"/>
              </a:rPr>
              <a:t>≈ $2.50</a:t>
            </a:r>
          </a:p>
        </p:txBody>
      </p:sp>
      <p:sp>
        <p:nvSpPr>
          <p:cNvPr id="36" name="Rectangle 35"/>
          <p:cNvSpPr/>
          <p:nvPr/>
        </p:nvSpPr>
        <p:spPr>
          <a:xfrm>
            <a:off x="365760" y="4114800"/>
            <a:ext cx="566928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11480" y="4114800"/>
            <a:ext cx="5577840" cy="365760"/>
          </a:xfrm>
          <a:prstGeom prst="rect">
            <a:avLst/>
          </a:prstGeom>
          <a:noFill/>
        </p:spPr>
        <p:txBody>
          <a:bodyPr wrap="square" anchor="ctr" lIns="45720" rIns="45720" tIns="22860" bIns="22860">
            <a:spAutoFit/>
          </a:bodyPr>
          <a:lstStyle/>
          <a:p>
            <a:pPr algn="l">
              <a:lnSpc>
                <a:spcPct val="100000"/>
              </a:lnSpc>
            </a:pPr>
            <a:r>
              <a:rPr sz="1250" b="0">
                <a:solidFill>
                  <a:srgbClr val="1A3A5C"/>
                </a:solidFill>
                <a:latin typeface="Calibri"/>
              </a:rPr>
              <a:t>Memorization probe (2 calls/event)</a:t>
            </a:r>
          </a:p>
        </p:txBody>
      </p:sp>
      <p:sp>
        <p:nvSpPr>
          <p:cNvPr id="38" name="Rectangle 37"/>
          <p:cNvSpPr/>
          <p:nvPr/>
        </p:nvSpPr>
        <p:spPr>
          <a:xfrm>
            <a:off x="6035040" y="4114800"/>
            <a:ext cx="237744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080760" y="4114800"/>
            <a:ext cx="2286000" cy="365760"/>
          </a:xfrm>
          <a:prstGeom prst="rect">
            <a:avLst/>
          </a:prstGeom>
          <a:noFill/>
        </p:spPr>
        <p:txBody>
          <a:bodyPr wrap="square" anchor="ctr" lIns="45720" rIns="45720" tIns="22860" bIns="22860">
            <a:spAutoFit/>
          </a:bodyPr>
          <a:lstStyle/>
          <a:p>
            <a:pPr algn="l">
              <a:lnSpc>
                <a:spcPct val="100000"/>
              </a:lnSpc>
            </a:pPr>
            <a:r>
              <a:rPr sz="1250" b="0">
                <a:solidFill>
                  <a:srgbClr val="1A3A5C"/>
                </a:solidFill>
                <a:latin typeface="Calibri"/>
              </a:rPr>
              <a:t>gpt-5-mini</a:t>
            </a:r>
          </a:p>
        </p:txBody>
      </p:sp>
      <p:sp>
        <p:nvSpPr>
          <p:cNvPr id="40" name="Rectangle 39"/>
          <p:cNvSpPr/>
          <p:nvPr/>
        </p:nvSpPr>
        <p:spPr>
          <a:xfrm>
            <a:off x="8412480" y="4114800"/>
            <a:ext cx="338328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58200" y="4114800"/>
            <a:ext cx="3291840" cy="365760"/>
          </a:xfrm>
          <a:prstGeom prst="rect">
            <a:avLst/>
          </a:prstGeom>
          <a:noFill/>
        </p:spPr>
        <p:txBody>
          <a:bodyPr wrap="square" anchor="ctr" lIns="45720" rIns="45720" tIns="22860" bIns="22860">
            <a:spAutoFit/>
          </a:bodyPr>
          <a:lstStyle/>
          <a:p>
            <a:pPr algn="l">
              <a:lnSpc>
                <a:spcPct val="100000"/>
              </a:lnSpc>
            </a:pPr>
            <a:r>
              <a:rPr sz="1250" b="0">
                <a:solidFill>
                  <a:srgbClr val="1A3A5C"/>
                </a:solidFill>
                <a:latin typeface="Calibri"/>
              </a:rPr>
              <a:t>≈ $0.60</a:t>
            </a:r>
          </a:p>
        </p:txBody>
      </p:sp>
      <p:sp>
        <p:nvSpPr>
          <p:cNvPr id="42" name="Rectangle 41"/>
          <p:cNvSpPr/>
          <p:nvPr/>
        </p:nvSpPr>
        <p:spPr>
          <a:xfrm>
            <a:off x="365760" y="4480560"/>
            <a:ext cx="5669280" cy="36576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11480" y="4480560"/>
            <a:ext cx="5577840" cy="365760"/>
          </a:xfrm>
          <a:prstGeom prst="rect">
            <a:avLst/>
          </a:prstGeom>
          <a:noFill/>
        </p:spPr>
        <p:txBody>
          <a:bodyPr wrap="square" anchor="ctr" lIns="45720" rIns="45720" tIns="22860" bIns="22860">
            <a:spAutoFit/>
          </a:bodyPr>
          <a:lstStyle/>
          <a:p>
            <a:pPr algn="l">
              <a:lnSpc>
                <a:spcPct val="100000"/>
              </a:lnSpc>
            </a:pPr>
            <a:r>
              <a:rPr sz="1250" b="0">
                <a:solidFill>
                  <a:srgbClr val="1A3A5C"/>
                </a:solidFill>
                <a:latin typeface="Calibri"/>
              </a:rPr>
              <a:t>100-event sensitivity subset ×2 variants</a:t>
            </a:r>
          </a:p>
        </p:txBody>
      </p:sp>
      <p:sp>
        <p:nvSpPr>
          <p:cNvPr id="44" name="Rectangle 43"/>
          <p:cNvSpPr/>
          <p:nvPr/>
        </p:nvSpPr>
        <p:spPr>
          <a:xfrm>
            <a:off x="6035040" y="4480560"/>
            <a:ext cx="2377440" cy="36576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080760" y="4480560"/>
            <a:ext cx="2286000" cy="365760"/>
          </a:xfrm>
          <a:prstGeom prst="rect">
            <a:avLst/>
          </a:prstGeom>
          <a:noFill/>
        </p:spPr>
        <p:txBody>
          <a:bodyPr wrap="square" anchor="ctr" lIns="45720" rIns="45720" tIns="22860" bIns="22860">
            <a:spAutoFit/>
          </a:bodyPr>
          <a:lstStyle/>
          <a:p>
            <a:pPr algn="l">
              <a:lnSpc>
                <a:spcPct val="100000"/>
              </a:lnSpc>
            </a:pPr>
            <a:r>
              <a:rPr sz="1250" b="0">
                <a:solidFill>
                  <a:srgbClr val="1A3A5C"/>
                </a:solidFill>
                <a:latin typeface="Calibri"/>
              </a:rPr>
              <a:t>gpt-5</a:t>
            </a:r>
          </a:p>
        </p:txBody>
      </p:sp>
      <p:sp>
        <p:nvSpPr>
          <p:cNvPr id="46" name="Rectangle 45"/>
          <p:cNvSpPr/>
          <p:nvPr/>
        </p:nvSpPr>
        <p:spPr>
          <a:xfrm>
            <a:off x="8412480" y="4480560"/>
            <a:ext cx="3383280" cy="36576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458200" y="4480560"/>
            <a:ext cx="3291840" cy="365760"/>
          </a:xfrm>
          <a:prstGeom prst="rect">
            <a:avLst/>
          </a:prstGeom>
          <a:noFill/>
        </p:spPr>
        <p:txBody>
          <a:bodyPr wrap="square" anchor="ctr" lIns="45720" rIns="45720" tIns="22860" bIns="22860">
            <a:spAutoFit/>
          </a:bodyPr>
          <a:lstStyle/>
          <a:p>
            <a:pPr algn="l">
              <a:lnSpc>
                <a:spcPct val="100000"/>
              </a:lnSpc>
            </a:pPr>
            <a:r>
              <a:rPr sz="1250" b="0">
                <a:solidFill>
                  <a:srgbClr val="1A3A5C"/>
                </a:solidFill>
                <a:latin typeface="Calibri"/>
              </a:rPr>
              <a:t>≈ $4.00</a:t>
            </a:r>
          </a:p>
        </p:txBody>
      </p:sp>
      <p:sp>
        <p:nvSpPr>
          <p:cNvPr id="48" name="Rectangle 47"/>
          <p:cNvSpPr/>
          <p:nvPr/>
        </p:nvSpPr>
        <p:spPr>
          <a:xfrm>
            <a:off x="365760" y="4846320"/>
            <a:ext cx="566928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11480" y="4846320"/>
            <a:ext cx="5577840" cy="365760"/>
          </a:xfrm>
          <a:prstGeom prst="rect">
            <a:avLst/>
          </a:prstGeom>
          <a:noFill/>
        </p:spPr>
        <p:txBody>
          <a:bodyPr wrap="square" anchor="ctr" lIns="45720" rIns="45720" tIns="22860" bIns="22860">
            <a:spAutoFit/>
          </a:bodyPr>
          <a:lstStyle/>
          <a:p>
            <a:pPr algn="l">
              <a:lnSpc>
                <a:spcPct val="100000"/>
              </a:lnSpc>
            </a:pPr>
            <a:r>
              <a:rPr sz="1250" b="0">
                <a:solidFill>
                  <a:srgbClr val="1A3A5C"/>
                </a:solidFill>
                <a:latin typeface="Calibri"/>
              </a:rPr>
              <a:t>Everything above at gpt-5 prices</a:t>
            </a:r>
          </a:p>
        </p:txBody>
      </p:sp>
      <p:sp>
        <p:nvSpPr>
          <p:cNvPr id="50" name="Rectangle 49"/>
          <p:cNvSpPr/>
          <p:nvPr/>
        </p:nvSpPr>
        <p:spPr>
          <a:xfrm>
            <a:off x="6035040" y="4846320"/>
            <a:ext cx="237744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080760" y="4846320"/>
            <a:ext cx="2286000" cy="365760"/>
          </a:xfrm>
          <a:prstGeom prst="rect">
            <a:avLst/>
          </a:prstGeom>
          <a:noFill/>
        </p:spPr>
        <p:txBody>
          <a:bodyPr wrap="square" anchor="ctr" lIns="45720" rIns="45720" tIns="22860" bIns="22860">
            <a:spAutoFit/>
          </a:bodyPr>
          <a:lstStyle/>
          <a:p>
            <a:pPr algn="l">
              <a:lnSpc>
                <a:spcPct val="100000"/>
              </a:lnSpc>
            </a:pPr>
            <a:r>
              <a:rPr sz="1250" b="0">
                <a:solidFill>
                  <a:srgbClr val="1A3A5C"/>
                </a:solidFill>
                <a:latin typeface="Calibri"/>
              </a:rPr>
              <a:t>gpt-5</a:t>
            </a:r>
          </a:p>
        </p:txBody>
      </p:sp>
      <p:sp>
        <p:nvSpPr>
          <p:cNvPr id="52" name="Rectangle 51"/>
          <p:cNvSpPr/>
          <p:nvPr/>
        </p:nvSpPr>
        <p:spPr>
          <a:xfrm>
            <a:off x="8412480" y="4846320"/>
            <a:ext cx="338328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58200" y="4846320"/>
            <a:ext cx="3291840" cy="365760"/>
          </a:xfrm>
          <a:prstGeom prst="rect">
            <a:avLst/>
          </a:prstGeom>
          <a:noFill/>
        </p:spPr>
        <p:txBody>
          <a:bodyPr wrap="square" anchor="ctr" lIns="45720" rIns="45720" tIns="22860" bIns="22860">
            <a:spAutoFit/>
          </a:bodyPr>
          <a:lstStyle/>
          <a:p>
            <a:pPr algn="l">
              <a:lnSpc>
                <a:spcPct val="100000"/>
              </a:lnSpc>
            </a:pPr>
            <a:r>
              <a:rPr sz="1250" b="0">
                <a:solidFill>
                  <a:srgbClr val="1A3A5C"/>
                </a:solidFill>
                <a:latin typeface="Calibri"/>
              </a:rPr>
              <a:t>≈ $45 - still inside $100</a:t>
            </a:r>
          </a:p>
        </p:txBody>
      </p:sp>
      <p:sp>
        <p:nvSpPr>
          <p:cNvPr id="54" name="Rectangle 53"/>
          <p:cNvSpPr/>
          <p:nvPr/>
        </p:nvSpPr>
        <p:spPr>
          <a:xfrm>
            <a:off x="365760" y="5806440"/>
            <a:ext cx="11457432" cy="6858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48640" y="5843016"/>
            <a:ext cx="11064240" cy="612648"/>
          </a:xfrm>
          <a:prstGeom prst="rect">
            <a:avLst/>
          </a:prstGeom>
          <a:noFill/>
        </p:spPr>
        <p:txBody>
          <a:bodyPr wrap="square" anchor="ctr" lIns="45720" rIns="45720" tIns="22860" bIns="22860">
            <a:spAutoFit/>
          </a:bodyPr>
          <a:lstStyle/>
          <a:p>
            <a:pPr algn="l">
              <a:lnSpc>
                <a:spcPct val="100000"/>
              </a:lnSpc>
            </a:pPr>
            <a:r>
              <a:rPr sz="1400" b="1">
                <a:solidFill>
                  <a:srgbClr val="1A3A5C"/>
                </a:solidFill>
                <a:latin typeface="Calibri"/>
              </a:rPr>
              <a:t>Cost is NOT the constraint - validity is. The binding limit is look-ahead bias and score stability, not the API bill.</a:t>
            </a:r>
          </a:p>
        </p:txBody>
      </p:sp>
      <p:sp>
        <p:nvSpPr>
          <p:cNvPr id="56" name="Rectangle 55"/>
          <p:cNvSpPr/>
          <p:nvPr/>
        </p:nvSpPr>
        <p:spPr>
          <a:xfrm>
            <a:off x="0" y="6583680"/>
            <a:ext cx="12191695" cy="27432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74320" y="6574536"/>
            <a:ext cx="8229600" cy="256032"/>
          </a:xfrm>
          <a:prstGeom prst="rect">
            <a:avLst/>
          </a:prstGeom>
          <a:noFill/>
        </p:spPr>
        <p:txBody>
          <a:bodyPr wrap="square" anchor="t" lIns="45720" rIns="45720" tIns="22860" bIns="22860">
            <a:spAutoFit/>
          </a:bodyPr>
          <a:lstStyle/>
          <a:p>
            <a:pPr algn="l">
              <a:lnSpc>
                <a:spcPct val="100000"/>
              </a:lnSpc>
            </a:pPr>
            <a:r>
              <a:rPr sz="900" b="0">
                <a:solidFill>
                  <a:srgbClr val="BBBBBB"/>
                </a:solidFill>
                <a:latin typeface="Calibri"/>
              </a:rPr>
              <a:t>M&amp;A Prediction | JPMorgan Industry Project | July 2026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521440" cy="566928"/>
          </a:xfrm>
          <a:prstGeom prst="rect">
            <a:avLst/>
          </a:prstGeom>
          <a:noFill/>
        </p:spPr>
        <p:txBody>
          <a:bodyPr wrap="square" anchor="t" lIns="45720" rIns="45720" tIns="22860" bIns="22860">
            <a:spAutoFit/>
          </a:bodyPr>
          <a:lstStyle/>
          <a:p>
            <a:pPr algn="l">
              <a:lnSpc>
                <a:spcPct val="100000"/>
              </a:lnSpc>
            </a:pPr>
            <a:r>
              <a:rPr sz="2800" b="1">
                <a:solidFill>
                  <a:srgbClr val="FFFFFF"/>
                </a:solidFill>
                <a:latin typeface="Calibri"/>
              </a:rPr>
              <a:t>Honest Read &amp; The Right Fix</a:t>
            </a:r>
          </a:p>
        </p:txBody>
      </p:sp>
      <p:sp>
        <p:nvSpPr>
          <p:cNvPr id="4" name="TextBox 3"/>
          <p:cNvSpPr txBox="1"/>
          <p:nvPr/>
        </p:nvSpPr>
        <p:spPr>
          <a:xfrm>
            <a:off x="274320" y="640080"/>
            <a:ext cx="11521440" cy="365760"/>
          </a:xfrm>
          <a:prstGeom prst="rect">
            <a:avLst/>
          </a:prstGeom>
          <a:noFill/>
        </p:spPr>
        <p:txBody>
          <a:bodyPr wrap="square" anchor="t" lIns="45720" rIns="45720" tIns="22860" bIns="22860">
            <a:spAutoFit/>
          </a:bodyPr>
          <a:lstStyle/>
          <a:p>
            <a:pPr algn="l">
              <a:lnSpc>
                <a:spcPct val="100000"/>
              </a:lnSpc>
            </a:pPr>
            <a:r>
              <a:rPr sz="1400" b="0">
                <a:solidFill>
                  <a:srgbClr val="B8860B"/>
                </a:solidFill>
                <a:latin typeface="Calibri"/>
              </a:rPr>
              <a:t>The bottom-line finding, three honest caveats, and the fix that makes it trustworthy</a:t>
            </a:r>
          </a:p>
        </p:txBody>
      </p:sp>
      <p:sp>
        <p:nvSpPr>
          <p:cNvPr id="5" name="Rectangle 4"/>
          <p:cNvSpPr/>
          <p:nvPr/>
        </p:nvSpPr>
        <p:spPr>
          <a:xfrm>
            <a:off x="0" y="1051560"/>
            <a:ext cx="12191695" cy="36576"/>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371600"/>
            <a:ext cx="3703320" cy="384048"/>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380744"/>
            <a:ext cx="3703320" cy="365760"/>
          </a:xfrm>
          <a:prstGeom prst="rect">
            <a:avLst/>
          </a:prstGeom>
          <a:noFill/>
        </p:spPr>
        <p:txBody>
          <a:bodyPr wrap="square" anchor="t" lIns="45720" rIns="45720" tIns="22860" bIns="22860">
            <a:spAutoFit/>
          </a:bodyPr>
          <a:lstStyle/>
          <a:p>
            <a:pPr algn="ctr">
              <a:lnSpc>
                <a:spcPct val="100000"/>
              </a:lnSpc>
            </a:pPr>
            <a:r>
              <a:rPr sz="1500" b="1">
                <a:solidFill>
                  <a:srgbClr val="FFFFFF"/>
                </a:solidFill>
                <a:latin typeface="Calibri"/>
              </a:rPr>
              <a:t>Look-ahead bias</a:t>
            </a:r>
          </a:p>
        </p:txBody>
      </p:sp>
      <p:sp>
        <p:nvSpPr>
          <p:cNvPr id="8" name="Rectangle 7"/>
          <p:cNvSpPr/>
          <p:nvPr/>
        </p:nvSpPr>
        <p:spPr>
          <a:xfrm>
            <a:off x="365760" y="1755648"/>
            <a:ext cx="3703320" cy="169164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1847088"/>
            <a:ext cx="3557016" cy="1508760"/>
          </a:xfrm>
          <a:prstGeom prst="rect">
            <a:avLst/>
          </a:prstGeom>
          <a:noFill/>
        </p:spPr>
        <p:txBody>
          <a:bodyPr wrap="square" anchor="t" lIns="45720" rIns="45720" tIns="22860" bIns="22860">
            <a:spAutoFit/>
          </a:bodyPr>
          <a:lstStyle/>
          <a:p>
            <a:pPr algn="l">
              <a:lnSpc>
                <a:spcPct val="100000"/>
              </a:lnSpc>
            </a:pPr>
            <a:r>
              <a:rPr sz="1250" b="0">
                <a:solidFill>
                  <a:srgbClr val="1A3A5C"/>
                </a:solidFill>
                <a:latin typeface="Calibri"/>
              </a:rPr>
              <a:t>LLM trained on news about these deals.</a:t>
            </a:r>
          </a:p>
          <a:p>
            <a:pPr algn="l">
              <a:lnSpc>
                <a:spcPct val="100000"/>
              </a:lnSpc>
            </a:pPr>
            <a:r>
              <a:rPr sz="1250" b="0">
                <a:solidFill>
                  <a:srgbClr val="1A3A5C"/>
                </a:solidFill>
                <a:latin typeface="Calibri"/>
              </a:rPr>
              <a:t>Fix: OpenRouter - pin models whose</a:t>
            </a:r>
          </a:p>
          <a:p>
            <a:pPr algn="l">
              <a:lnSpc>
                <a:spcPct val="100000"/>
              </a:lnSpc>
            </a:pPr>
            <a:r>
              <a:rPr sz="1250" b="0">
                <a:solidFill>
                  <a:srgbClr val="1A3A5C"/>
                </a:solidFill>
                <a:latin typeface="Calibri"/>
              </a:rPr>
              <a:t>training cutoff predates the eval window;</a:t>
            </a:r>
          </a:p>
          <a:p>
            <a:pPr algn="l">
              <a:lnSpc>
                <a:spcPct val="100000"/>
              </a:lnSpc>
            </a:pPr>
            <a:r>
              <a:rPr sz="1250" b="0">
                <a:solidFill>
                  <a:srgbClr val="1A3A5C"/>
                </a:solidFill>
                <a:latin typeface="Calibri"/>
              </a:rPr>
              <a:t>makes look-ahead structurally impossible.</a:t>
            </a:r>
          </a:p>
        </p:txBody>
      </p:sp>
      <p:sp>
        <p:nvSpPr>
          <p:cNvPr id="10" name="Rectangle 9"/>
          <p:cNvSpPr/>
          <p:nvPr/>
        </p:nvSpPr>
        <p:spPr>
          <a:xfrm>
            <a:off x="4242816" y="1371600"/>
            <a:ext cx="3703320" cy="384048"/>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42816" y="1380744"/>
            <a:ext cx="3703320" cy="365760"/>
          </a:xfrm>
          <a:prstGeom prst="rect">
            <a:avLst/>
          </a:prstGeom>
          <a:noFill/>
        </p:spPr>
        <p:txBody>
          <a:bodyPr wrap="square" anchor="t" lIns="45720" rIns="45720" tIns="22860" bIns="22860">
            <a:spAutoFit/>
          </a:bodyPr>
          <a:lstStyle/>
          <a:p>
            <a:pPr algn="ctr">
              <a:lnSpc>
                <a:spcPct val="100000"/>
              </a:lnSpc>
            </a:pPr>
            <a:r>
              <a:rPr sz="1500" b="1">
                <a:solidFill>
                  <a:srgbClr val="FFFFFF"/>
                </a:solidFill>
                <a:latin typeface="Calibri"/>
              </a:rPr>
              <a:t>Arbitrary numbers</a:t>
            </a:r>
          </a:p>
        </p:txBody>
      </p:sp>
      <p:sp>
        <p:nvSpPr>
          <p:cNvPr id="12" name="Rectangle 11"/>
          <p:cNvSpPr/>
          <p:nvPr/>
        </p:nvSpPr>
        <p:spPr>
          <a:xfrm>
            <a:off x="4242816" y="1755648"/>
            <a:ext cx="3703320" cy="169164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15968" y="1847088"/>
            <a:ext cx="3557016" cy="1508760"/>
          </a:xfrm>
          <a:prstGeom prst="rect">
            <a:avLst/>
          </a:prstGeom>
          <a:noFill/>
        </p:spPr>
        <p:txBody>
          <a:bodyPr wrap="square" anchor="t" lIns="45720" rIns="45720" tIns="22860" bIns="22860">
            <a:spAutoFit/>
          </a:bodyPr>
          <a:lstStyle/>
          <a:p>
            <a:pPr algn="l">
              <a:lnSpc>
                <a:spcPct val="100000"/>
              </a:lnSpc>
            </a:pPr>
            <a:r>
              <a:rPr sz="1250" b="0">
                <a:solidFill>
                  <a:srgbClr val="1A3A5C"/>
                </a:solidFill>
                <a:latin typeface="Calibri"/>
              </a:rPr>
              <a:t>'activist_pressure = 7' is a judgment.</a:t>
            </a:r>
          </a:p>
          <a:p>
            <a:pPr algn="l">
              <a:lnSpc>
                <a:spcPct val="100000"/>
              </a:lnSpc>
            </a:pPr>
            <a:r>
              <a:rPr sz="1250" b="0">
                <a:solidFill>
                  <a:srgbClr val="1A3A5C"/>
                </a:solidFill>
                <a:latin typeface="Calibri"/>
              </a:rPr>
              <a:t>Fix: average repeat scores, calibrate</a:t>
            </a:r>
          </a:p>
          <a:p>
            <a:pPr algn="l">
              <a:lnSpc>
                <a:spcPct val="100000"/>
              </a:lnSpc>
            </a:pPr>
            <a:r>
              <a:rPr sz="1250" b="0">
                <a:solidFill>
                  <a:srgbClr val="1A3A5C"/>
                </a:solidFill>
                <a:latin typeface="Calibri"/>
              </a:rPr>
              <a:t>against realized frequencies, keep</a:t>
            </a:r>
          </a:p>
          <a:p>
            <a:pPr algn="l">
              <a:lnSpc>
                <a:spcPct val="100000"/>
              </a:lnSpc>
            </a:pPr>
            <a:r>
              <a:rPr sz="1250" b="0">
                <a:solidFill>
                  <a:srgbClr val="1A3A5C"/>
                </a:solidFill>
                <a:latin typeface="Calibri"/>
              </a:rPr>
              <a:t>evidence quotes mandatory (auditable).</a:t>
            </a:r>
          </a:p>
        </p:txBody>
      </p:sp>
      <p:sp>
        <p:nvSpPr>
          <p:cNvPr id="14" name="Rectangle 13"/>
          <p:cNvSpPr/>
          <p:nvPr/>
        </p:nvSpPr>
        <p:spPr>
          <a:xfrm>
            <a:off x="8119872" y="1371600"/>
            <a:ext cx="3703320" cy="384048"/>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19872" y="1380744"/>
            <a:ext cx="3703320" cy="365760"/>
          </a:xfrm>
          <a:prstGeom prst="rect">
            <a:avLst/>
          </a:prstGeom>
          <a:noFill/>
        </p:spPr>
        <p:txBody>
          <a:bodyPr wrap="square" anchor="t" lIns="45720" rIns="45720" tIns="22860" bIns="22860">
            <a:spAutoFit/>
          </a:bodyPr>
          <a:lstStyle/>
          <a:p>
            <a:pPr algn="ctr">
              <a:lnSpc>
                <a:spcPct val="100000"/>
              </a:lnSpc>
            </a:pPr>
            <a:r>
              <a:rPr sz="1500" b="1">
                <a:solidFill>
                  <a:srgbClr val="FFFFFF"/>
                </a:solidFill>
                <a:latin typeface="Calibri"/>
              </a:rPr>
              <a:t>Thin data + API gate</a:t>
            </a:r>
          </a:p>
        </p:txBody>
      </p:sp>
      <p:sp>
        <p:nvSpPr>
          <p:cNvPr id="16" name="Rectangle 15"/>
          <p:cNvSpPr/>
          <p:nvPr/>
        </p:nvSpPr>
        <p:spPr>
          <a:xfrm>
            <a:off x="8119872" y="1755648"/>
            <a:ext cx="3703320" cy="169164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93024" y="1847088"/>
            <a:ext cx="3557016" cy="1508760"/>
          </a:xfrm>
          <a:prstGeom prst="rect">
            <a:avLst/>
          </a:prstGeom>
          <a:noFill/>
        </p:spPr>
        <p:txBody>
          <a:bodyPr wrap="square" anchor="t" lIns="45720" rIns="45720" tIns="22860" bIns="22860">
            <a:spAutoFit/>
          </a:bodyPr>
          <a:lstStyle/>
          <a:p>
            <a:pPr algn="l">
              <a:lnSpc>
                <a:spcPct val="100000"/>
              </a:lnSpc>
            </a:pPr>
            <a:r>
              <a:rPr sz="1250" b="0">
                <a:solidFill>
                  <a:srgbClr val="1A3A5C"/>
                </a:solidFill>
                <a:latin typeface="Calibri"/>
              </a:rPr>
              <a:t>Only 37 events LLM-scored - an OpenAI</a:t>
            </a:r>
          </a:p>
          <a:p>
            <a:pPr algn="l">
              <a:lnSpc>
                <a:spcPct val="100000"/>
              </a:lnSpc>
            </a:pPr>
            <a:r>
              <a:rPr sz="1250" b="0">
                <a:solidFill>
                  <a:srgbClr val="1A3A5C"/>
                </a:solidFill>
                <a:latin typeface="Calibri"/>
              </a:rPr>
              <a:t>credit issue paused scaling (resolving now);</a:t>
            </a:r>
          </a:p>
          <a:p>
            <a:pPr algn="l">
              <a:lnSpc>
                <a:spcPct val="100000"/>
              </a:lnSpc>
            </a:pPr>
            <a:r>
              <a:rPr sz="1250" b="0">
                <a:solidFill>
                  <a:srgbClr val="1A3A5C"/>
                </a:solidFill>
                <a:latin typeface="Calibri"/>
              </a:rPr>
              <a:t>small test sets swing AUC ±0.05+.</a:t>
            </a:r>
          </a:p>
          <a:p>
            <a:pPr algn="l">
              <a:lnSpc>
                <a:spcPct val="100000"/>
              </a:lnSpc>
            </a:pPr>
            <a:r>
              <a:rPr sz="1250" b="0">
                <a:solidFill>
                  <a:srgbClr val="1A3A5C"/>
                </a:solidFill>
                <a:latin typeface="Calibri"/>
              </a:rPr>
              <a:t>Fix: fund credits (full run ≈ a few $),</a:t>
            </a:r>
          </a:p>
          <a:p>
            <a:pPr algn="l">
              <a:lnSpc>
                <a:spcPct val="100000"/>
              </a:lnSpc>
            </a:pPr>
            <a:r>
              <a:rPr sz="1250" b="0">
                <a:solidFill>
                  <a:srgbClr val="1A3A5C"/>
                </a:solidFill>
                <a:latin typeface="Calibri"/>
              </a:rPr>
              <a:t>scale scrape, add article bodies.</a:t>
            </a:r>
          </a:p>
        </p:txBody>
      </p:sp>
      <p:sp>
        <p:nvSpPr>
          <p:cNvPr id="18" name="Rectangle 17"/>
          <p:cNvSpPr/>
          <p:nvPr/>
        </p:nvSpPr>
        <p:spPr>
          <a:xfrm>
            <a:off x="365760" y="3493008"/>
            <a:ext cx="11457432" cy="1719072"/>
          </a:xfrm>
          <a:prstGeom prst="rect">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621024"/>
            <a:ext cx="11064240" cy="1554480"/>
          </a:xfrm>
          <a:prstGeom prst="rect">
            <a:avLst/>
          </a:prstGeom>
          <a:noFill/>
        </p:spPr>
        <p:txBody>
          <a:bodyPr wrap="square" anchor="t" lIns="45720" rIns="45720" tIns="22860" bIns="22860">
            <a:spAutoFit/>
          </a:bodyPr>
          <a:lstStyle/>
          <a:p>
            <a:pPr algn="l">
              <a:lnSpc>
                <a:spcPct val="116000"/>
              </a:lnSpc>
            </a:pPr>
            <a:r>
              <a:rPr sz="1600" b="1">
                <a:solidFill>
                  <a:srgbClr val="1A3A5C"/>
                </a:solidFill>
                <a:latin typeface="Calibri"/>
              </a:rPr>
              <a:t>The verdict:  </a:t>
            </a:r>
            <a:r>
              <a:rPr sz="1600" b="1">
                <a:solidFill>
                  <a:srgbClr val="1A3A5C"/>
                </a:solidFill>
                <a:latin typeface="Calibri"/>
              </a:rPr>
              <a:t>the best model across all three feature sets scores AUC </a:t>
            </a:r>
            <a:r>
              <a:rPr sz="1600" b="1">
                <a:solidFill>
                  <a:srgbClr val="B8860B"/>
                </a:solidFill>
                <a:latin typeface="Calibri"/>
              </a:rPr>
              <a:t>0.54, a coin flip.</a:t>
            </a:r>
          </a:p>
          <a:p>
            <a:pPr algn="l">
              <a:lnSpc>
                <a:spcPct val="116000"/>
              </a:lnSpc>
            </a:pPr>
            <a:r>
              <a:rPr sz="1300" b="0">
                <a:solidFill>
                  <a:srgbClr val="1A3A5C"/>
                </a:solidFill>
                <a:latin typeface="Calibri"/>
              </a:rPr>
              <a:t/>
            </a:r>
          </a:p>
          <a:p>
            <a:pPr algn="l">
              <a:lnSpc>
                <a:spcPct val="116000"/>
              </a:lnSpc>
            </a:pPr>
            <a:r>
              <a:rPr sz="1300" b="0">
                <a:solidFill>
                  <a:srgbClr val="1A3A5C"/>
                </a:solidFill>
                <a:latin typeface="Calibri"/>
              </a:rPr>
              <a:t>Even a frontier LLM reading the same free news cannot reliably separate a pre-announcement window from a quiet one. The LLM set's small edge over classic NLP sits inside the noise of a 13-window test set, and part of it is name recognition (masking drops AUC 0.06), so it is not trustworthy evidence. This is the same null result as week 4, now confirmed with a generative LLM.</a:t>
            </a:r>
          </a:p>
        </p:txBody>
      </p:sp>
      <p:sp>
        <p:nvSpPr>
          <p:cNvPr id="20" name="Rectangle 19"/>
          <p:cNvSpPr/>
          <p:nvPr/>
        </p:nvSpPr>
        <p:spPr>
          <a:xfrm>
            <a:off x="365760" y="5358384"/>
            <a:ext cx="11457432" cy="73152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5394960"/>
            <a:ext cx="11064240" cy="658368"/>
          </a:xfrm>
          <a:prstGeom prst="rect">
            <a:avLst/>
          </a:prstGeom>
          <a:noFill/>
        </p:spPr>
        <p:txBody>
          <a:bodyPr wrap="square" anchor="ctr" lIns="45720" rIns="45720" tIns="22860" bIns="22860">
            <a:spAutoFit/>
          </a:bodyPr>
          <a:lstStyle/>
          <a:p>
            <a:pPr algn="l">
              <a:lnSpc>
                <a:spcPct val="100000"/>
              </a:lnSpc>
            </a:pPr>
            <a:r>
              <a:rPr sz="1400" b="1">
                <a:solidFill>
                  <a:srgbClr val="1A3A5C"/>
                </a:solidFill>
                <a:latin typeface="Calibri"/>
              </a:rPr>
              <a:t>Week 7 fix: a cutoff-matched backtest via OpenRouter on the full event set, the only version of this result an investor should trust.</a:t>
            </a:r>
          </a:p>
        </p:txBody>
      </p:sp>
      <p:sp>
        <p:nvSpPr>
          <p:cNvPr id="22" name="Rectangle 21"/>
          <p:cNvSpPr/>
          <p:nvPr/>
        </p:nvSpPr>
        <p:spPr>
          <a:xfrm>
            <a:off x="0" y="6583680"/>
            <a:ext cx="12191695" cy="27432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4320" y="6574536"/>
            <a:ext cx="8229600" cy="256032"/>
          </a:xfrm>
          <a:prstGeom prst="rect">
            <a:avLst/>
          </a:prstGeom>
          <a:noFill/>
        </p:spPr>
        <p:txBody>
          <a:bodyPr wrap="square" anchor="t" lIns="45720" rIns="45720" tIns="22860" bIns="22860">
            <a:spAutoFit/>
          </a:bodyPr>
          <a:lstStyle/>
          <a:p>
            <a:pPr algn="l">
              <a:lnSpc>
                <a:spcPct val="100000"/>
              </a:lnSpc>
            </a:pPr>
            <a:r>
              <a:rPr sz="900" b="0">
                <a:solidFill>
                  <a:srgbClr val="BBBBBB"/>
                </a:solidFill>
                <a:latin typeface="Calibri"/>
              </a:rPr>
              <a:t>M&amp;A Prediction | JPMorgan Industry Project | July 2026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4572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2651760"/>
            <a:ext cx="12191695" cy="1463040"/>
          </a:xfrm>
          <a:prstGeom prst="rect">
            <a:avLst/>
          </a:prstGeom>
          <a:noFill/>
        </p:spPr>
        <p:txBody>
          <a:bodyPr wrap="square" anchor="t" lIns="45720" rIns="45720" tIns="22860" bIns="22860">
            <a:spAutoFit/>
          </a:bodyPr>
          <a:lstStyle/>
          <a:p>
            <a:pPr algn="ctr">
              <a:lnSpc>
                <a:spcPct val="100000"/>
              </a:lnSpc>
            </a:pPr>
            <a:r>
              <a:rPr sz="8000" b="1">
                <a:solidFill>
                  <a:srgbClr val="FFFFFF"/>
                </a:solidFill>
                <a:latin typeface="Calibri"/>
              </a:rPr>
              <a:t>Thanks</a:t>
            </a:r>
          </a:p>
        </p:txBody>
      </p:sp>
      <p:sp>
        <p:nvSpPr>
          <p:cNvPr id="5" name="TextBox 4"/>
          <p:cNvSpPr txBox="1"/>
          <p:nvPr/>
        </p:nvSpPr>
        <p:spPr>
          <a:xfrm>
            <a:off x="0" y="6309360"/>
            <a:ext cx="12191695" cy="320040"/>
          </a:xfrm>
          <a:prstGeom prst="rect">
            <a:avLst/>
          </a:prstGeom>
          <a:noFill/>
        </p:spPr>
        <p:txBody>
          <a:bodyPr wrap="square" anchor="t" lIns="45720" rIns="45720" tIns="22860" bIns="22860">
            <a:spAutoFit/>
          </a:bodyPr>
          <a:lstStyle/>
          <a:p>
            <a:pPr algn="ctr">
              <a:lnSpc>
                <a:spcPct val="100000"/>
              </a:lnSpc>
            </a:pPr>
            <a:r>
              <a:rPr sz="900" b="0">
                <a:solidFill>
                  <a:srgbClr val="BBBBBB"/>
                </a:solidFill>
                <a:latin typeface="Calibri"/>
              </a:rPr>
              <a:t>M&amp;A Prediction | JPMorgan Industry Project | July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