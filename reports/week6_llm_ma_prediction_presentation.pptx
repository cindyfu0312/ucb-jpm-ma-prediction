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1737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Can an LLM Read M&amp;A Intent</a:t>
            </a:r>
          </a:p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from Free News?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B8860B"/>
                </a:solidFill>
                <a:latin typeface="Calibri"/>
              </a:rPr>
              <a:t>J.P.Morgan Industry Project | Week 6 Results — GenAI Feature Extraction |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26280"/>
            <a:ext cx="1069848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6E8F7"/>
                </a:solidFill>
                <a:latin typeface="Calibri"/>
              </a:rPr>
              <a:t>Dexin Fu, Ronald Liu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One structured LLM call per event-window — scored, stress-tested, priced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2697480" cy="11887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8074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250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3911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LLM calls scored OK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32588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38074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$0.36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203911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total API spend (budget $100)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132588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38074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0.45 vs 0.44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203911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test AUC: LLM-combined vs classic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325880"/>
            <a:ext cx="2697480" cy="1188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38074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52%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03911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memorization-probe accuracy (chance 50%)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05456"/>
            <a:ext cx="11091672" cy="43891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505456"/>
            <a:ext cx="10972800" cy="43891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1A3A5C"/>
                </a:solidFill>
                <a:latin typeface="Calibri"/>
              </a:rPr>
              <a:t>Honest scope: 65 windows from 37 LLM-scored events (13 in test). Small sample — read every AUC as DIRECTIONAL (bootstrap 95% CIs), not settled.</a:t>
            </a:r>
          </a:p>
          <a:p>
            <a:pPr algn="l">
              <a:lnSpc>
                <a:spcPct val="105000"/>
              </a:lnSpc>
            </a:pPr>
            <a:r>
              <a:rPr sz="1050" b="1">
                <a:solidFill>
                  <a:srgbClr val="1A3A5C"/>
                </a:solidFill>
                <a:latin typeface="Calibri"/>
              </a:rPr>
              <a:t>⚠  LLM scaling currently paused on an OpenAI API credit issue we're resolving — the pipeline is built and runs; only the paid LLM step is gated (~$0.39 spent, 37 of 126 scraped events scored).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999232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008376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1 · Built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383280"/>
            <a:ext cx="3703320" cy="22402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3474720"/>
            <a:ext cx="3557016" cy="20574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extract_llm_features.py — parallel,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resumable, $-capped scorer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17 strict-JSON fields per window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(rumor, strategic review, activist,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distress, likelihood 0–100, …)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gpt-5-mini everywhere + gpt-5 subset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42816" y="2999232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42816" y="3008376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2 · Measured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383280"/>
            <a:ext cx="3703320" cy="22402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15968" y="3474720"/>
            <a:ext cx="3557016" cy="20574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A (classic NLP) vs B (LLM) vs C (both)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on identical rows, split &amp; models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Bootstrap 95% CI on every AUC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Per-company pre-vs-baseline check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on each field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Detection (day-0) replication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19872" y="2999232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3008376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3 · Stress-tested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383280"/>
            <a:ext cx="3703320" cy="22402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93024" y="3474720"/>
            <a:ext cx="3557016" cy="20574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Memorization probe (no news shown)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Company-name masking A/B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Re-run consistency (are scores stable?)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Post-training-cutoff holdout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(2025–26 deals the model can't know)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NULL RESULT, CONSISTENT WITH WEEK 4: even a generative LLM reading the same free-news corpus cannot separate pre-announcement windows from quiet periods. This strengthens the week-4 conclusion — the information is absent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Approach: One Structured Call per Event-Window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Same corpus, same windows, same models as week 3-4 — only the featurizer 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Cached headlines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(GDELT + EDGAR)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3976" y="148132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9424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9424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Spam filter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(same as week4)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40" y="148132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33088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33088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1 LLM call / window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strict JSON 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61304" y="148132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2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16752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17 fields parsed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+ clamped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148132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0416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0416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Feature sets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A / B /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8632" y="148132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Same 3 models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+ bootstrap CIs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06040"/>
            <a:ext cx="6309360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606040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Signal fields (0–10 each)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2606040"/>
            <a:ext cx="5120640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606040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Judgment fields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953512"/>
            <a:ext cx="630936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953512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ma_rumor_intensity · strategic_alternatives_review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2953512"/>
            <a:ext cx="512064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2953512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acquisition_likelihood (0–100)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300984"/>
            <a:ext cx="6309360" cy="34747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3300984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activist_pressure · management_instability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3300984"/>
            <a:ext cx="5120640" cy="34747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3300984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headline_information_quality (0–10)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648456"/>
            <a:ext cx="630936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648456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financial_distress · undervaluation_narrative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0" y="3648456"/>
            <a:ext cx="512064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3648456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dominant_theme (8-way enum)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995928"/>
            <a:ext cx="6309360" cy="34747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3995928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sector_consolidation_wave · regulatory_antitrust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3995928"/>
            <a:ext cx="5120640" cy="34747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20840" y="3995928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recognized_company / recognized_deal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343400"/>
            <a:ext cx="630936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4343400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divestiture_restructuring · growth_expansion_tone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5120" y="4343400"/>
            <a:ext cx="512064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20840" y="4343400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evidence_quotes (verbatim) + rationale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Leakage rules: announcement date never sent · window described only by end-month · pre/baseline identity never revealed · resumable cache, hard $ cap per run.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Feature Dictionary — Every Input the Models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Set A = week-4 classic stack recomputed on this corpus · Set B = LLM signals · C = A ∪ B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623560" cy="36576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89304"/>
            <a:ext cx="5623560" cy="34747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SET A — classic NLP (28 candidates)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45920"/>
            <a:ext cx="5623560" cy="38862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394960" cy="3703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Volume &amp; VADER sentiment (7):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news_count · avg / std / max / min_sentiment · pos_ratio · neg_ratio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M&amp;A keywords (2):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ma_keyword_count · ma_keyword_ratio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FinBERT finance sentiment (4):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avg / std_finbert_compound · avg_finbert_positive · avg_finbert_negative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Data-driven terms (1):</a:t>
            </a:r>
            <a:r>
              <a:rPr sz="1150" b="0">
                <a:solidFill>
                  <a:srgbClr val="1A3A5C"/>
                </a:solidFill>
                <a:latin typeface="Calibri"/>
              </a:rPr>
              <a:t>  distinctive_term_ratio (log-odds, name-masked)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Momentum (2):</a:t>
            </a:r>
            <a:r>
              <a:rPr sz="1150" b="0">
                <a:solidFill>
                  <a:srgbClr val="1A3A5C"/>
                </a:solidFill>
                <a:latin typeface="Calibri"/>
              </a:rPr>
              <a:t>  late_share · sentiment_trend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EDGAR filing structure (3):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edgar_filing_count · edgar_deal_filing_count · edgar_deal_filing_ratio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NMF topics (8):</a:t>
            </a:r>
            <a:r>
              <a:rPr sz="1150" b="0">
                <a:solidFill>
                  <a:srgbClr val="1A3A5C"/>
                </a:solidFill>
                <a:latin typeface="Calibri"/>
              </a:rPr>
              <a:t>  topic_0_mean … topic_7_mean (name-masked)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Meta (1):</a:t>
            </a:r>
            <a:r>
              <a:rPr sz="1150" b="0">
                <a:solidFill>
                  <a:srgbClr val="1A3A5C"/>
                </a:solidFill>
                <a:latin typeface="Calibri"/>
              </a:rPr>
              <a:t>  industry_enc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0488" y="1280160"/>
            <a:ext cx="562356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0488" y="1289304"/>
            <a:ext cx="5623560" cy="34747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SET B — LLM signals (12 features + 5 audit fields)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0488" y="1645920"/>
            <a:ext cx="5623560" cy="38862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19072"/>
            <a:ext cx="5394960" cy="37673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Model features (one strict-JSON call per window):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ma_rumor_intensity 0–10 — “in talks”, bids, “sources say”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strategic_alternatives_review 0–10 — reviews, bankers hired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activist_pressure 0–10 — activists, stakes, proxy fights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management_instability 0–10 — CEO/CFO exits, shakeups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financial_distress 0–10 — losses, debt, downgrades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undervaluation_narrative 0–10 — “cheap”, lagging peers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sector_consolidation_wave 0–10 — peers merging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regulatory_antitrust_attention 0–10 — regulator scrutiny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divestiture_restructuring 0–10 — spin-offs, carve-outs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growth_expansion_tone 0–10 — ordinary growth (control)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acquisition_likelihood 0–100 — holistic judgment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headline_information_quality 0–10 — text usability</a:t>
            </a:r>
          </a:p>
          <a:p>
            <a:pPr algn="l">
              <a:lnSpc>
                <a:spcPct val="108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Audit fields — never model inputs: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dominant_theme · recognized_company · recognized_deal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evidence_quotes (verbatim) · rationale (≤ 40 words)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715000"/>
            <a:ext cx="11457432" cy="685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75157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A and B are computed from the IDENTICAL noise-filtered corpus. C = A ∪ B (40 candidates → top 16 by train-only mutual information).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What the Model Actually Reads — and Returns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Real example: Clearwater Analytics Holdings, Inc.* (pre window)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715000" cy="4297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6DB4"/>
                </a:solidFill>
                <a:latin typeface="Calibri"/>
              </a:rPr>
              <a:t>PROMPT (truncated)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486400" cy="3794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Company: Clearwater Analytics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Period: ~90 days ending 2025-12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SEC filings during the period: 8-K x2, DEFM14A x1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Headlines (28 of 28 kept after spam filtering, chronological; 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[d57] Clearwater launches CWAN GenAI for investment AI (idahob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[d58] Stocks making the biggest premarket moves : AMD , CWAN 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[d58] Clearwater Analytics : CWAN Report : Insurance Industry 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[d58] Soars 10 % on Bargain - Hunting After 52 - Week Low (biz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[d58] Clearwater ( CWAN ) Soars 10 % on Bargain - Hunting Afte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[d58] CWAN Report : Insurance Industry $2 . 7 Trillion Shift t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[d59] US close : Dow hits another high , but tech stocks still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[d59] Stocks mixed ahead of House vote on government shutdown 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[d61] Warburg Pincus , Permira said to be in talks to buy Clea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[d61] Clearwater Analytics Stock Surges 19 % After - Hours On 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[d61] Clearwater Analytics Surges 19 % After - Hours On Friday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5532120" cy="4297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1732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C000"/>
                </a:solidFill>
                <a:latin typeface="Calibri"/>
              </a:rPr>
              <a:t>RESPONSE (strict JSON, one call)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303520" cy="3794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{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"ma_rumor_intensity": 8,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"strategic_alternatives_review": 2,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"activist_pressure": 0,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"management_instability": 1,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"financial_distress": 1,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"acquisition_likelihood": 55,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"dominant_theme": "ma_speculation",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"recognized_company": true,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"recognized_deal": false,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"evidence_quotes": [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 "Warburg Pincus , Permira said to be in talks to \u2026",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 "Buyout firm Thoma Bravo has offered to buy Clear\u2026"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],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"rationale": "Multiple headlines report private-equity firm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Every score ships with verbatim evidence quotes — auditable, unlike a bare probability.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Results: Classic NLP vs LLM vs Combined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65 windows, identical rows &amp; time split (train ≤ 2023-06-12), bootstrap 95% CIs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338328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17320"/>
            <a:ext cx="329184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Feature 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40" y="1417320"/>
            <a:ext cx="274320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4760" y="1417320"/>
            <a:ext cx="26517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Best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417320"/>
            <a:ext cx="237744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417320"/>
            <a:ext cx="22860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Test ROC-AUC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1417320"/>
            <a:ext cx="265176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15400" y="1417320"/>
            <a:ext cx="25603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95% CI (bootstrap)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819656"/>
            <a:ext cx="33832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1819656"/>
            <a:ext cx="329184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A: classic NLP (week4)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0" y="1819656"/>
            <a:ext cx="2743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4760" y="1819656"/>
            <a:ext cx="26517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Logistic Regression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1819656"/>
            <a:ext cx="23774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1819656"/>
            <a:ext cx="22860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0.440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1819656"/>
            <a:ext cx="26517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1819656"/>
            <a:ext cx="25603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[0.111, 0.800]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221992"/>
            <a:ext cx="338328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221992"/>
            <a:ext cx="329184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B: LLM signals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2221992"/>
            <a:ext cx="274320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94760" y="2221992"/>
            <a:ext cx="26517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Gradient Boosting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2221992"/>
            <a:ext cx="237744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2221992"/>
            <a:ext cx="22860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0.536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2221992"/>
            <a:ext cx="265176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5400" y="2221992"/>
            <a:ext cx="25603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[0.167, 0.889]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624328"/>
            <a:ext cx="33832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2624328"/>
            <a:ext cx="329184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C: combined A+B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49040" y="2624328"/>
            <a:ext cx="2743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94760" y="2624328"/>
            <a:ext cx="26517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Logistic Regression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624328"/>
            <a:ext cx="23774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2624328"/>
            <a:ext cx="22860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0.452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69680" y="2624328"/>
            <a:ext cx="26517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2624328"/>
            <a:ext cx="25603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[0.119, 0.800]</a:t>
            </a:r>
          </a:p>
        </p:txBody>
      </p:sp>
      <p:pic>
        <p:nvPicPr>
          <p:cNvPr id="38" name="Picture 37" descr="fig_au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46120"/>
            <a:ext cx="6948066" cy="242316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FD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CIs overlap (Δ = +0.012): the LLM does not clearly beat the classic stack on pre-announcement prediction — consistent with week 3-4's null.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Why the AUC Is Flat: Two Companies Tell the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Same pipeline, same scoring — but deal chatter lands in the “right” window only half the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623560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35024"/>
            <a:ext cx="562356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SIGNAL — chatter in the run-up (ranked correctly)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09928"/>
            <a:ext cx="5623560" cy="333756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5349240" cy="31089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A3A5C"/>
                </a:solidFill>
                <a:latin typeface="Calibri"/>
              </a:rPr>
              <a:t>Clearwater Analytics Holdings, Inc.*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acquisition_likelihood:   </a:t>
            </a:r>
            <a:r>
              <a:rPr sz="1400" b="1">
                <a:solidFill>
                  <a:srgbClr val="1A3A5C"/>
                </a:solidFill>
                <a:latin typeface="Calibri"/>
              </a:rPr>
              <a:t>baseline 5   →   pre 55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run-up window evidence: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“Warburg Pincus , Permira said to be in talks to buy Clearwater Analytics ( CWAN : NYSE )”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quiet window evidence: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“Clearwater Analytics Promotes Key Executives to Accelerate Growth and Operational Excellence”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0488" y="1325880"/>
            <a:ext cx="5623560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0488" y="1335024"/>
            <a:ext cx="562356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INVERSION — chatter in the “quiet” window (wrong-way pair)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0488" y="1709928"/>
            <a:ext cx="5623560" cy="3337560"/>
          </a:xfrm>
          <a:prstGeom prst="rect">
            <a:avLst/>
          </a:prstGeom>
          <a:solidFill>
            <a:srgbClr val="FD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828800"/>
            <a:ext cx="5349240" cy="31089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A3A5C"/>
                </a:solidFill>
                <a:latin typeface="Calibri"/>
              </a:rPr>
              <a:t>Commercial Renewables business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acquisition_likelihood:   </a:t>
            </a:r>
            <a:r>
              <a:rPr sz="1400" b="1">
                <a:solidFill>
                  <a:srgbClr val="1A3A5C"/>
                </a:solidFill>
                <a:latin typeface="Calibri"/>
              </a:rPr>
              <a:t>baseline 60   →   pre 5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run-up window evidence: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“Duke Energy delivers sustainable value as it responsibly navigates clean energy transition , CEO tells shareholders”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quiet window evidence: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“Duke Energy hopes renewable biz sale makes stock more attractive”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349240"/>
            <a:ext cx="11457432" cy="777240"/>
          </a:xfrm>
          <a:prstGeom prst="rect">
            <a:avLst/>
          </a:prstGeom>
          <a:solidFill>
            <a:srgbClr val="FD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385816"/>
            <a:ext cx="11064240" cy="70408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Across 28 paired companies: 6 scored higher in the run-up · 8 lower · 14 unchanged — ups and downs balance, so the paired test stays ns and AUC ≈ 0.5.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Are the LLM Signals New Information?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Spearman rank correlation — LLM fields (rows) × classic-NLP features (columns), same windows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llm_vs_classic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6492240" cy="4565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1463040"/>
            <a:ext cx="4892040" cy="4206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How to read it:</a:t>
            </a:r>
          </a:p>
          <a:p>
            <a:pPr algn="l">
              <a:lnSpc>
                <a:spcPct val="118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• Each cell: across the same windows, do the two scores rank companies the same way? (+1 identical ranking · 0 unrelated · −1 opposite)</a:t>
            </a:r>
          </a:p>
          <a:p>
            <a:pPr algn="l">
              <a:lnSpc>
                <a:spcPct val="118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• A deep-red row = that LLM field re-derives a classic feature — redundant.</a:t>
            </a:r>
          </a:p>
          <a:p>
            <a:pPr algn="l">
              <a:lnSpc>
                <a:spcPct val="118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• A near-white row = information the classic stack does not capture — novel.</a:t>
            </a:r>
          </a:p>
          <a:p>
            <a:pPr algn="l">
              <a:lnSpc>
                <a:spcPct val="118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• Hottest cell: growth_expansion_tone × distinctive_term_ratio (ρ = +0.79) — the LLM's rumor read largely re-derives simple keyword matching.</a:t>
            </a:r>
          </a:p>
          <a:p>
            <a:pPr algn="l">
              <a:lnSpc>
                <a:spcPct val="118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• Mid/low rows (activist, distress, divestiture…) are genuinely new descriptive axes the keyword stack misses.</a:t>
            </a:r>
          </a:p>
          <a:p>
            <a:pPr algn="l">
              <a:lnSpc>
                <a:spcPct val="118000"/>
              </a:lnSpc>
            </a:pPr>
            <a:r>
              <a:rPr sz="1200" b="1">
                <a:solidFill>
                  <a:srgbClr val="1A3A5C"/>
                </a:solidFill>
                <a:latin typeface="Calibri"/>
              </a:rPr>
              <a:t>Takeaway: </a:t>
            </a:r>
            <a:r>
              <a:rPr sz="1200" b="0">
                <a:solidFill>
                  <a:srgbClr val="1A3A5C"/>
                </a:solidFill>
                <a:latin typeface="Calibri"/>
              </a:rPr>
              <a:t>partly redundant, partly novel — but §6 shows neither the redundant nor the novel parts separate pre from baseline on this corpus.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897880"/>
            <a:ext cx="11457432" cy="640080"/>
          </a:xfrm>
          <a:prstGeom prst="rect">
            <a:avLst/>
          </a:prstGeom>
          <a:solidFill>
            <a:srgbClr val="FD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934456"/>
            <a:ext cx="1106424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Novelty without predictivity: the LLM adds new ways to DESCRIBE the news — not new ability to PREDICT from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Does the Model Already Know These Deals?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Memorization probe: zero news shown — answer from training memory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5120640" cy="21031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Design (balanced, chance = 50%):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• “As of &lt;date&gt;: was &lt;company&gt; announced as a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   ≥$1B acquisition target within 120 days?”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• Asked at announcement−7d (truth = YES)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• Asked at announcement−187d (truth = NO)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• Same companies as the modeling sample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37160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2646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52%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08483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probe accuracy (50% = clean)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42832" y="137160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42832" y="142646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2832" y="208483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acquirer named correctly (17 recall claims)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2743200"/>
            <a:ext cx="2697480" cy="11887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279806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52%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45643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accuracy PRE-cutoff (&lt; 2024-06-01, memorizable)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42832" y="2743200"/>
            <a:ext cx="2697480" cy="1188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42832" y="279806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832" y="345643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accuracy POST-cutoff (unseen deals)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611880"/>
            <a:ext cx="5394960" cy="2011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Why this matters: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If the model recalls outcomes without any news, every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pre-cutoff “prediction” is potentially an act of memory,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not inference. The pre- vs post-cutoff gap isolates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Probe accuracy 52% ≈ chance — no strong evidence the model recalls these specific deals.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Masking &amp; Repeatability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Do the scores hold up? Testing recognition-vs-reading and run-to-run stability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mas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3151553" cy="2606040"/>
          </a:xfrm>
          <a:prstGeom prst="rect">
            <a:avLst/>
          </a:prstGeom>
        </p:spPr>
      </p:pic>
      <p:pic>
        <p:nvPicPr>
          <p:cNvPr id="7" name="Picture 6" descr="fig_repe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61872"/>
            <a:ext cx="3151553" cy="26060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96512"/>
            <a:ext cx="5943600" cy="3291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4096512"/>
            <a:ext cx="58521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Experiment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4096512"/>
            <a:ext cx="3291840" cy="3291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096512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What it tests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0" y="4096512"/>
            <a:ext cx="2194560" cy="3291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4096512"/>
            <a:ext cx="2103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25696"/>
            <a:ext cx="59436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4425696"/>
            <a:ext cx="58521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Name masking — ΔAUC (unmasked − masked)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4425696"/>
            <a:ext cx="32918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4425696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recognition vs reading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0" y="4425696"/>
            <a:ext cx="21945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425696"/>
            <a:ext cx="2103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+0.060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754880"/>
            <a:ext cx="594360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4754880"/>
            <a:ext cx="58521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Re-run consistency — mean Spearman ρ (12 fields)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4754880"/>
            <a:ext cx="329184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4754880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are scores stable?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0" y="4754880"/>
            <a:ext cx="219456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46920" y="4754880"/>
            <a:ext cx="2103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0.804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084064"/>
            <a:ext cx="59436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5084064"/>
            <a:ext cx="58521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Re-run drift — mean |Δ likelihood| (0–100 scale)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5084064"/>
            <a:ext cx="32918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5084064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how much they wobble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0" y="5084064"/>
            <a:ext cx="21945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46920" y="5084064"/>
            <a:ext cx="2103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1.2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577840"/>
            <a:ext cx="11457432" cy="868680"/>
          </a:xfrm>
          <a:prstGeom prst="rect">
            <a:avLst/>
          </a:prstGeom>
          <a:solidFill>
            <a:srgbClr val="FD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614416"/>
            <a:ext cx="11064240" cy="7955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Repeatable (ρ=0.80, drift ~1.2 pt on 0–100) — the scores are NOT arbitrary. But masking the company name lowers takeover scores (ΔAUC +0.06) — part of the 'signal' is recognizing the company, not reading the text.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Model Sensitivity &amp; What $100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gpt-5 vs gpt-5-mini on 65 shared windows — does ~10x price buy a different read?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7218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0.662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3055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score agreement (mean Spearman)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41732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47218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0.54 / 0.55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213055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subset AUC: mini / gpt-5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1417320"/>
            <a:ext cx="2697480" cy="11887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47218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4.3x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213055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cost ratio per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417320"/>
            <a:ext cx="2697480" cy="1188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47218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$0.36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13055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actual total spend this week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017520"/>
            <a:ext cx="566928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01752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Run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3017520"/>
            <a:ext cx="237744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301752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017520"/>
            <a:ext cx="338328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301752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Approx. cost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383280"/>
            <a:ext cx="5669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38328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Score ~1,400 windows (700 events × 2)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3383280"/>
            <a:ext cx="23774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0760" y="338328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gpt-5-mini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383280"/>
            <a:ext cx="3383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338328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≈ $2.50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749040"/>
            <a:ext cx="566928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74904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Same, company names masked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3749040"/>
            <a:ext cx="237744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374904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gpt-5-mini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3749040"/>
            <a:ext cx="338328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8200" y="374904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≈ $2.50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114800"/>
            <a:ext cx="5669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411480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Memorization probe (2 calls/event)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4114800"/>
            <a:ext cx="23774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80760" y="411480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gpt-5-mini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12480" y="4114800"/>
            <a:ext cx="3383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58200" y="411480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≈ $0.60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480560"/>
            <a:ext cx="566928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48056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100-event sensitivity subset ×2 variants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480560"/>
            <a:ext cx="237744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448056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gpt-5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0" y="4480560"/>
            <a:ext cx="338328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58200" y="448056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≈ $4.00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846320"/>
            <a:ext cx="5669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484632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Everything above at gpt-5 prices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4846320"/>
            <a:ext cx="23774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80760" y="484632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gpt-5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4846320"/>
            <a:ext cx="3383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≈ $45 — still inside $100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Cost is NOT the constraint — validity is. The binding limit is look-ahead bias and score stability, not the API bill.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Honest Read: Pre-Registered Verdict &amp; The Right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Thresholds fixed before the numbers came in — the narrative can't bend to flatter the result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8074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Look-ahead bias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55648"/>
            <a:ext cx="3703320" cy="16916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847088"/>
            <a:ext cx="3557016" cy="1508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LLM trained on news about these deals.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Fix: OpenRouter — pin models whose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training cutoff predates the eval window;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makes look-ahead structurally impossible.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37160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42816" y="138074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Arbitrary numbers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2816" y="1755648"/>
            <a:ext cx="3703320" cy="16916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1847088"/>
            <a:ext cx="3557016" cy="1508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'activist_pressure = 7' is a judgment.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Fix: average repeat scores, calibrate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against realized frequencies, keep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evidence quotes mandatory (auditable).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19872" y="137160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9872" y="138074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Thin data + API gate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9872" y="1755648"/>
            <a:ext cx="3703320" cy="16916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1847088"/>
            <a:ext cx="3557016" cy="1508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Only 37 events LLM-scored — an OpenAI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credit issue paused scaling (resolving now);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small test sets swing AUC ±0.05+.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Fix: fund credits (full run ≈ a few $),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scale scrape, add article bodies.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20440"/>
            <a:ext cx="4663440" cy="3291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520440"/>
            <a:ext cx="45720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Registered criterion (fixed in advance)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3520440"/>
            <a:ext cx="3291840" cy="3291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4920" y="3520440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Threshold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3520440"/>
            <a:ext cx="1828800" cy="3291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3520440"/>
            <a:ext cx="17373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Observed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0" y="3520440"/>
            <a:ext cx="1280160" cy="3291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5560" y="3520440"/>
            <a:ext cx="11887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Fired?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49624"/>
            <a:ext cx="46634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849624"/>
            <a:ext cx="45720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(1) Best AUC across A/B/C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0" y="3849624"/>
            <a:ext cx="32918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4920" y="3849624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&lt; 0.58 -&gt; null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3849624"/>
            <a:ext cx="18288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3849624"/>
            <a:ext cx="17373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0.536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0" y="3849624"/>
            <a:ext cx="12801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95560" y="3849624"/>
            <a:ext cx="11887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YES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178808"/>
            <a:ext cx="466344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4178808"/>
            <a:ext cx="45720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(2) LLM lift: best(B,C) - best(A)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0" y="4178808"/>
            <a:ext cx="329184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74920" y="4178808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&gt;= +0.05 -&gt; lift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21040" y="4178808"/>
            <a:ext cx="182880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6760" y="4178808"/>
            <a:ext cx="17373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+0.095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49840" y="4178808"/>
            <a:ext cx="128016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95560" y="4178808"/>
            <a:ext cx="11887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YES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507992"/>
            <a:ext cx="46634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507992"/>
            <a:ext cx="45720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(3) Probe accuracy (chance 50%)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0" y="4507992"/>
            <a:ext cx="32918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74920" y="4507992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&gt;= 60% -&gt; contaminated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21040" y="4507992"/>
            <a:ext cx="18288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66760" y="4507992"/>
            <a:ext cx="17373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51.7%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149840" y="4507992"/>
            <a:ext cx="12801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95560" y="4507992"/>
            <a:ext cx="11887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837176"/>
            <a:ext cx="466344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1480" y="4837176"/>
            <a:ext cx="45720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(4) Masking dAUC (unmasked-masked)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0" y="4837176"/>
            <a:ext cx="329184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74920" y="4837176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&gt;= +0.05 -&gt; contaminated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1040" y="4837176"/>
            <a:ext cx="182880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66760" y="4837176"/>
            <a:ext cx="17373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+0.060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149840" y="4837176"/>
            <a:ext cx="128016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195560" y="4837176"/>
            <a:ext cx="11887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YES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394960"/>
            <a:ext cx="11457432" cy="77724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431536"/>
            <a:ext cx="11064240" cy="70408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Week 7 recommendation: cutoff-matched backtest via OpenRouter on the full event set — the only version of this result an investor should trust.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651760"/>
            <a:ext cx="12191695" cy="1463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Calibri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09360"/>
            <a:ext cx="12191695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