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12191695" cy="457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17373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FFFFF"/>
                </a:solidFill>
                <a:latin typeface="Calibri"/>
              </a:rPr>
              <a:t>Can an LLM Read M&amp;A Intent</a:t>
            </a:r>
          </a:p>
          <a:p>
            <a:pPr algn="l">
              <a:lnSpc>
                <a:spcPct val="100000"/>
              </a:lnSpc>
            </a:pPr>
            <a:r>
              <a:rPr sz="4200" b="1">
                <a:solidFill>
                  <a:srgbClr val="FFFFFF"/>
                </a:solidFill>
                <a:latin typeface="Calibri"/>
              </a:rPr>
              <a:t>from Free News?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77639"/>
            <a:ext cx="1069848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B8860B"/>
                </a:solidFill>
                <a:latin typeface="Calibri"/>
              </a:rPr>
              <a:t>J.P.Morgan Industry Project | Week 6 Results — GenAI Feature Extraction | 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526280"/>
            <a:ext cx="1069848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D6E8F7"/>
                </a:solidFill>
                <a:latin typeface="Calibri"/>
              </a:rPr>
              <a:t>Dexin Fu, Ronald Liu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521440" cy="56692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libri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"/>
            <a:ext cx="1152144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B8860B"/>
                </a:solidFill>
                <a:latin typeface="Calibri"/>
              </a:rPr>
              <a:t>One structured LLM call per event-window — scored, stress-tested, priced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2697480" cy="1188720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380744"/>
            <a:ext cx="2697480" cy="6400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libri"/>
              </a:rPr>
              <a:t>250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039112"/>
            <a:ext cx="269748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D6E8F7"/>
                </a:solidFill>
                <a:latin typeface="Calibri"/>
              </a:rPr>
              <a:t>LLM calls scored OK</a:t>
            </a:r>
          </a:p>
        </p:txBody>
      </p:sp>
      <p:sp>
        <p:nvSpPr>
          <p:cNvPr id="9" name="Rectangle 8"/>
          <p:cNvSpPr/>
          <p:nvPr/>
        </p:nvSpPr>
        <p:spPr>
          <a:xfrm>
            <a:off x="3273552" y="1325880"/>
            <a:ext cx="2697480" cy="11887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73552" y="1380744"/>
            <a:ext cx="2697480" cy="6400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FFC000"/>
                </a:solidFill>
                <a:latin typeface="Calibri"/>
              </a:rPr>
              <a:t>$0.36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73552" y="2039112"/>
            <a:ext cx="269748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D6E8F7"/>
                </a:solidFill>
                <a:latin typeface="Calibri"/>
              </a:rPr>
              <a:t>total API spend (budget $100)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81344" y="1325880"/>
            <a:ext cx="2697480" cy="11887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81344" y="1380744"/>
            <a:ext cx="2697480" cy="6400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FFC000"/>
                </a:solidFill>
                <a:latin typeface="Calibri"/>
              </a:rPr>
              <a:t>0.49 vs 0.36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81344" y="2039112"/>
            <a:ext cx="269748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D6E8F7"/>
                </a:solidFill>
                <a:latin typeface="Calibri"/>
              </a:rPr>
              <a:t>test AUC: LLM-combined vs classic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89136" y="1325880"/>
            <a:ext cx="2697480" cy="1188720"/>
          </a:xfrm>
          <a:prstGeom prst="rect">
            <a:avLst/>
          </a:prstGeom>
          <a:solidFill>
            <a:srgbClr val="1A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89136" y="1380744"/>
            <a:ext cx="2697480" cy="6400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libri"/>
              </a:rPr>
              <a:t>52%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89136" y="2039112"/>
            <a:ext cx="269748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D6E8F7"/>
                </a:solidFill>
                <a:latin typeface="Calibri"/>
              </a:rPr>
              <a:t>memorization-probe accuracy (chance 50%)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880360"/>
            <a:ext cx="3703320" cy="384048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2889504"/>
            <a:ext cx="370332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1 · Built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264408"/>
            <a:ext cx="3703320" cy="237744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" y="3355848"/>
            <a:ext cx="3557016" cy="21945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• extract_llm_features.py — parallel,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  resumable, $-capped scorer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• 17 strict-JSON fields per window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  (rumor, strategic review, activist,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  distress, likelihood 0–100, …)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• gpt-5-mini everywhere + gpt-5 subset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42816" y="2880360"/>
            <a:ext cx="3703320" cy="384048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42816" y="2889504"/>
            <a:ext cx="370332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2 · Measured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42816" y="3264408"/>
            <a:ext cx="3703320" cy="237744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15968" y="3355848"/>
            <a:ext cx="3557016" cy="21945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• A (classic NLP) vs B (LLM) vs C (both)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  on identical rows, split &amp; models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• Bootstrap 95% CI on every AUC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• Paired Wilcoxon per LLM field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• Detection (day-0) replication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19872" y="2880360"/>
            <a:ext cx="3703320" cy="384048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19872" y="2889504"/>
            <a:ext cx="370332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3 · Stress-tested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19872" y="3264408"/>
            <a:ext cx="3703320" cy="237744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93024" y="3355848"/>
            <a:ext cx="3557016" cy="21945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• Memorization probe (no news shown)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• Company-name masking A/B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• Re-run consistency (are scores stable?)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• Post-training-cutoff holdout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  (2025–26 deals the model can't know)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5806440"/>
            <a:ext cx="11457432" cy="685800"/>
          </a:xfrm>
          <a:prstGeom prst="rect">
            <a:avLst/>
          </a:prstGeom>
          <a:solidFill>
            <a:srgbClr val="E8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5843016"/>
            <a:ext cx="11064240" cy="6126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A3A5C"/>
                </a:solidFill>
                <a:latin typeface="Calibri"/>
              </a:rPr>
              <a:t>NULL RESULT, CONSISTENT WITH WEEK 4: even a generative LLM reading the same free-news corpus cannot separate pre-announcement windows from quiet periods. This strengthens the week-4 conclusion — the information is absent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4320" y="6574536"/>
            <a:ext cx="8229600" cy="256032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BBBBBB"/>
                </a:solidFill>
                <a:latin typeface="Calibri"/>
              </a:rPr>
              <a:t>M&amp;A Prediction | JPMorgan Industry Project | July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521440" cy="56692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libri"/>
              </a:rPr>
              <a:t>Approach: One Structured Call per Event-Window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"/>
            <a:ext cx="1152144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B8860B"/>
                </a:solidFill>
                <a:latin typeface="Calibri"/>
              </a:rPr>
              <a:t>Same corpus, same windows, same models as week 3-4 — only the featurizer changes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371600"/>
            <a:ext cx="1755648" cy="86868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389888"/>
            <a:ext cx="1755648" cy="83210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Cached headlines</a:t>
            </a:r>
          </a:p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(GDELT + EDGAR)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93976" y="1481328"/>
            <a:ext cx="219456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B8860B"/>
                </a:solidFill>
                <a:latin typeface="Calibri"/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2249424" y="1371600"/>
            <a:ext cx="1755648" cy="86868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49424" y="1389888"/>
            <a:ext cx="1755648" cy="83210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Spam filter</a:t>
            </a:r>
          </a:p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(same as week4)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77640" y="1481328"/>
            <a:ext cx="219456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B8860B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33088" y="1371600"/>
            <a:ext cx="1755648" cy="86868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33088" y="1389888"/>
            <a:ext cx="1755648" cy="83210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1 LLM call / window</a:t>
            </a:r>
          </a:p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strict JSON schema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61304" y="1481328"/>
            <a:ext cx="219456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B8860B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16752" y="1371600"/>
            <a:ext cx="1755648" cy="86868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16752" y="1389888"/>
            <a:ext cx="1755648" cy="83210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17 fields parsed</a:t>
            </a:r>
          </a:p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+ clamped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4968" y="1481328"/>
            <a:ext cx="219456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B8860B"/>
                </a:solidFill>
                <a:latin typeface="Calibr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00416" y="1371600"/>
            <a:ext cx="1755648" cy="86868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00416" y="1389888"/>
            <a:ext cx="1755648" cy="83210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Feature sets</a:t>
            </a:r>
          </a:p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A / B / 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28632" y="1481328"/>
            <a:ext cx="219456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B8860B"/>
                </a:solidFill>
                <a:latin typeface="Calibri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784080" y="1371600"/>
            <a:ext cx="1755648" cy="86868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0" y="1389888"/>
            <a:ext cx="1755648" cy="83210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Same 3 models</a:t>
            </a:r>
          </a:p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+ bootstrap CIs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606040"/>
            <a:ext cx="6309360" cy="347472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2606040"/>
            <a:ext cx="6217920" cy="347472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Signal fields (0–10 each)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75120" y="2606040"/>
            <a:ext cx="5120640" cy="347472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20840" y="2606040"/>
            <a:ext cx="5029200" cy="347472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Judgment fields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2953512"/>
            <a:ext cx="6309360" cy="3474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2953512"/>
            <a:ext cx="6217920" cy="347472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ma_rumor_intensity · strategic_alternatives_review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75120" y="2953512"/>
            <a:ext cx="5120640" cy="3474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20840" y="2953512"/>
            <a:ext cx="5029200" cy="347472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acquisition_likelihood (0–100)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300984"/>
            <a:ext cx="6309360" cy="34747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" y="3300984"/>
            <a:ext cx="6217920" cy="347472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activist_pressure · management_instability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75120" y="3300984"/>
            <a:ext cx="5120640" cy="34747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720840" y="3300984"/>
            <a:ext cx="5029200" cy="347472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headline_information_quality (0–10)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648456"/>
            <a:ext cx="6309360" cy="3474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3648456"/>
            <a:ext cx="6217920" cy="347472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financial_distress · undervaluation_narrative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675120" y="3648456"/>
            <a:ext cx="5120640" cy="3474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720840" y="3648456"/>
            <a:ext cx="5029200" cy="347472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dominant_theme (8-way enum)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3995928"/>
            <a:ext cx="6309360" cy="34747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3995928"/>
            <a:ext cx="6217920" cy="347472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sector_consolidation_wave · regulatory_antitrust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75120" y="3995928"/>
            <a:ext cx="5120640" cy="34747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20840" y="3995928"/>
            <a:ext cx="5029200" cy="347472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recognized_company / recognized_deal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4343400"/>
            <a:ext cx="6309360" cy="3474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4343400"/>
            <a:ext cx="6217920" cy="347472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divestiture_restructuring · growth_expansion_tone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675120" y="4343400"/>
            <a:ext cx="5120640" cy="3474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720840" y="4343400"/>
            <a:ext cx="5029200" cy="347472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evidence_quotes (verbatim) + rationale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5806440"/>
            <a:ext cx="11457432" cy="685800"/>
          </a:xfrm>
          <a:prstGeom prst="rect">
            <a:avLst/>
          </a:prstGeom>
          <a:solidFill>
            <a:srgbClr val="E8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8640" y="5843016"/>
            <a:ext cx="11064240" cy="6126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A3A5C"/>
                </a:solidFill>
                <a:latin typeface="Calibri"/>
              </a:rPr>
              <a:t>Leakage rules: announcement date never sent · window described only by end-month · pre/baseline identity never revealed · resumable cache, hard $ cap per run.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4320" y="6574536"/>
            <a:ext cx="8229600" cy="256032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BBBBBB"/>
                </a:solidFill>
                <a:latin typeface="Calibri"/>
              </a:rPr>
              <a:t>M&amp;A Prediction | JPMorgan Industry Project | July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521440" cy="56692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libri"/>
              </a:rPr>
              <a:t>What the Model Actually Reads — and Returns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"/>
            <a:ext cx="1152144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B8860B"/>
                </a:solidFill>
                <a:latin typeface="Calibri"/>
              </a:rPr>
              <a:t>Real example: Clearwater Analytics Holdings, Inc.* (pre window)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5715000" cy="429768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41732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E6DB4"/>
                </a:solidFill>
                <a:latin typeface="Calibri"/>
              </a:rPr>
              <a:t>PROMPT (truncated)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37360"/>
            <a:ext cx="5486400" cy="3794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A3A5C"/>
                </a:solidFill>
                <a:latin typeface="Calibri"/>
              </a:rPr>
              <a:t>Company: Clearwater Analytics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1A3A5C"/>
                </a:solidFill>
                <a:latin typeface="Calibri"/>
              </a:rPr>
              <a:t>Period: ~90 days ending 2025-12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1A3A5C"/>
                </a:solidFill>
                <a:latin typeface="Calibri"/>
              </a:rPr>
              <a:t>SEC filings during the period: 8-K x2, DEFM14A x1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1A3A5C"/>
                </a:solidFill>
                <a:latin typeface="Calibri"/>
              </a:rPr>
              <a:t/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1A3A5C"/>
                </a:solidFill>
                <a:latin typeface="Calibri"/>
              </a:rPr>
              <a:t>Headlines (28 of 28 kept after spam filtering, chronological; 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1A3A5C"/>
                </a:solidFill>
                <a:latin typeface="Calibri"/>
              </a:rPr>
              <a:t>[d57] Clearwater launches CWAN GenAI for investment AI (idahob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1A3A5C"/>
                </a:solidFill>
                <a:latin typeface="Calibri"/>
              </a:rPr>
              <a:t>[d58] Stocks making the biggest premarket moves : AMD , CWAN ,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1A3A5C"/>
                </a:solidFill>
                <a:latin typeface="Calibri"/>
              </a:rPr>
              <a:t>[d58] Clearwater Analytics : CWAN Report : Insurance Industry 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1A3A5C"/>
                </a:solidFill>
                <a:latin typeface="Calibri"/>
              </a:rPr>
              <a:t>[d58] Soars 10 % on Bargain - Hunting After 52 - Week Low (biz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1A3A5C"/>
                </a:solidFill>
                <a:latin typeface="Calibri"/>
              </a:rPr>
              <a:t>[d58] Clearwater ( CWAN ) Soars 10 % on Bargain - Hunting Afte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1A3A5C"/>
                </a:solidFill>
                <a:latin typeface="Calibri"/>
              </a:rPr>
              <a:t>[d58] CWAN Report : Insurance Industry $2 . 7 Trillion Shift t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1A3A5C"/>
                </a:solidFill>
                <a:latin typeface="Calibri"/>
              </a:rPr>
              <a:t>[d59] US close : Dow hits another high , but tech stocks still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1A3A5C"/>
                </a:solidFill>
                <a:latin typeface="Calibri"/>
              </a:rPr>
              <a:t>[d59] Stocks mixed ahead of House vote on government shutdown 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1A3A5C"/>
                </a:solidFill>
                <a:latin typeface="Calibri"/>
              </a:rPr>
              <a:t>[d61] Warburg Pincus , Permira said to be in talks to buy Clea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1A3A5C"/>
                </a:solidFill>
                <a:latin typeface="Calibri"/>
              </a:rPr>
              <a:t>[d61] Clearwater Analytics Stock Surges 19 % After - Hours On 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1A3A5C"/>
                </a:solidFill>
                <a:latin typeface="Calibri"/>
              </a:rPr>
              <a:t>[d61] Clearwater Analytics Surges 19 % After - Hours On Friday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325880"/>
            <a:ext cx="5532120" cy="429768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417320"/>
            <a:ext cx="5303520" cy="3200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C000"/>
                </a:solidFill>
                <a:latin typeface="Calibri"/>
              </a:rPr>
              <a:t>RESPONSE (strict JSON, one call)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737360"/>
            <a:ext cx="5303520" cy="3794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D6E8F7"/>
                </a:solidFill>
                <a:latin typeface="Calibri"/>
              </a:rPr>
              <a:t>{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D6E8F7"/>
                </a:solidFill>
                <a:latin typeface="Calibri"/>
              </a:rPr>
              <a:t> "ma_rumor_intensity": 8,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D6E8F7"/>
                </a:solidFill>
                <a:latin typeface="Calibri"/>
              </a:rPr>
              <a:t> "strategic_alternatives_review": 2,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D6E8F7"/>
                </a:solidFill>
                <a:latin typeface="Calibri"/>
              </a:rPr>
              <a:t> "activist_pressure": 0,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D6E8F7"/>
                </a:solidFill>
                <a:latin typeface="Calibri"/>
              </a:rPr>
              <a:t> "management_instability": 1,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D6E8F7"/>
                </a:solidFill>
                <a:latin typeface="Calibri"/>
              </a:rPr>
              <a:t> "financial_distress": 1,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D6E8F7"/>
                </a:solidFill>
                <a:latin typeface="Calibri"/>
              </a:rPr>
              <a:t> "acquisition_likelihood": 55,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D6E8F7"/>
                </a:solidFill>
                <a:latin typeface="Calibri"/>
              </a:rPr>
              <a:t> "dominant_theme": "ma_speculation",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D6E8F7"/>
                </a:solidFill>
                <a:latin typeface="Calibri"/>
              </a:rPr>
              <a:t> "recognized_company": true,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D6E8F7"/>
                </a:solidFill>
                <a:latin typeface="Calibri"/>
              </a:rPr>
              <a:t> "recognized_deal": false,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D6E8F7"/>
                </a:solidFill>
                <a:latin typeface="Calibri"/>
              </a:rPr>
              <a:t> "evidence_quotes": [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D6E8F7"/>
                </a:solidFill>
                <a:latin typeface="Calibri"/>
              </a:rPr>
              <a:t>  "Warburg Pincus , Permira said to be in talks to \u2026",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D6E8F7"/>
                </a:solidFill>
                <a:latin typeface="Calibri"/>
              </a:rPr>
              <a:t>  "Buyout firm Thoma Bravo has offered to buy Clear\u2026"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D6E8F7"/>
                </a:solidFill>
                <a:latin typeface="Calibri"/>
              </a:rPr>
              <a:t> ],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D6E8F7"/>
                </a:solidFill>
                <a:latin typeface="Calibri"/>
              </a:rPr>
              <a:t> "rationale": "Multiple headlines report private-equity firm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D6E8F7"/>
                </a:solidFill>
                <a:latin typeface="Calibri"/>
              </a:rPr>
              <a:t>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5806440"/>
            <a:ext cx="11457432" cy="685800"/>
          </a:xfrm>
          <a:prstGeom prst="rect">
            <a:avLst/>
          </a:prstGeom>
          <a:solidFill>
            <a:srgbClr val="E8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5843016"/>
            <a:ext cx="11064240" cy="6126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A3A5C"/>
                </a:solidFill>
                <a:latin typeface="Calibri"/>
              </a:rPr>
              <a:t>Every score ships with verbatim evidence quotes — auditable, unlike a bare probability.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6574536"/>
            <a:ext cx="8229600" cy="256032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BBBBBB"/>
                </a:solidFill>
                <a:latin typeface="Calibri"/>
              </a:rPr>
              <a:t>M&amp;A Prediction | JPMorgan Industry Project | July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521440" cy="56692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libri"/>
              </a:rPr>
              <a:t>Results: Classic NLP vs LLM vs Combined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"/>
            <a:ext cx="1152144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B8860B"/>
                </a:solidFill>
                <a:latin typeface="Calibri"/>
              </a:rPr>
              <a:t>65 windows, identical rows &amp; time split (train ≤ 2023-06-12), bootstrap 95% CIs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3108960" cy="402336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417320"/>
            <a:ext cx="3017520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Feature set</a:t>
            </a:r>
          </a:p>
        </p:txBody>
      </p:sp>
      <p:sp>
        <p:nvSpPr>
          <p:cNvPr id="8" name="Rectangle 7"/>
          <p:cNvSpPr/>
          <p:nvPr/>
        </p:nvSpPr>
        <p:spPr>
          <a:xfrm>
            <a:off x="3474720" y="1417320"/>
            <a:ext cx="2194560" cy="402336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0440" y="1417320"/>
            <a:ext cx="2103120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Best model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0" y="1417320"/>
            <a:ext cx="1737360" cy="402336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15000" y="1417320"/>
            <a:ext cx="1645920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Test ROC-AUC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06640" y="1417320"/>
            <a:ext cx="2103120" cy="402336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2360" y="1417320"/>
            <a:ext cx="2011680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95% CI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509760" y="1417320"/>
            <a:ext cx="1371600" cy="402336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55480" y="1417320"/>
            <a:ext cx="1280160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PR-AUC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1819656"/>
            <a:ext cx="310896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1819656"/>
            <a:ext cx="3017520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A: classic NLP (week4)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720" y="1819656"/>
            <a:ext cx="219456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0440" y="1819656"/>
            <a:ext cx="2103120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Random Forest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0" y="1819656"/>
            <a:ext cx="173736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15000" y="1819656"/>
            <a:ext cx="1645920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0.357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06640" y="1819656"/>
            <a:ext cx="210312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52360" y="1819656"/>
            <a:ext cx="2011680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[0.059, 0.700]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509760" y="1819656"/>
            <a:ext cx="137160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55480" y="1819656"/>
            <a:ext cx="1280160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0.475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221992"/>
            <a:ext cx="3108960" cy="402336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2221992"/>
            <a:ext cx="3017520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B: LLM signals only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474720" y="2221992"/>
            <a:ext cx="2194560" cy="402336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20440" y="2221992"/>
            <a:ext cx="2103120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Gradient Boosting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0" y="2221992"/>
            <a:ext cx="1737360" cy="402336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15000" y="2221992"/>
            <a:ext cx="1645920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0.536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406640" y="2221992"/>
            <a:ext cx="2103120" cy="402336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52360" y="2221992"/>
            <a:ext cx="2011680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[0.167, 0.889]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509760" y="2221992"/>
            <a:ext cx="1371600" cy="402336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555480" y="2221992"/>
            <a:ext cx="1280160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0.616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2624328"/>
            <a:ext cx="310896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2624328"/>
            <a:ext cx="3017520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C: combined A+B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720" y="2624328"/>
            <a:ext cx="219456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20440" y="2624328"/>
            <a:ext cx="2103120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Random Forest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669280" y="2624328"/>
            <a:ext cx="173736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715000" y="2624328"/>
            <a:ext cx="1645920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0.488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406640" y="2624328"/>
            <a:ext cx="210312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452360" y="2624328"/>
            <a:ext cx="2011680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[0.138, 0.833]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509760" y="2624328"/>
            <a:ext cx="137160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555480" y="2624328"/>
            <a:ext cx="1280160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0.654</a:t>
            </a:r>
          </a:p>
        </p:txBody>
      </p:sp>
      <p:pic>
        <p:nvPicPr>
          <p:cNvPr id="46" name="Picture 45" descr="fig_auc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246120"/>
            <a:ext cx="6948066" cy="2423160"/>
          </a:xfrm>
          <a:prstGeom prst="rect">
            <a:avLst/>
          </a:prstGeom>
        </p:spPr>
      </p:pic>
      <p:sp>
        <p:nvSpPr>
          <p:cNvPr id="47" name="Rectangle 46"/>
          <p:cNvSpPr/>
          <p:nvPr/>
        </p:nvSpPr>
        <p:spPr>
          <a:xfrm>
            <a:off x="365760" y="5806440"/>
            <a:ext cx="11457432" cy="685800"/>
          </a:xfrm>
          <a:prstGeom prst="rect">
            <a:avLst/>
          </a:prstGeom>
          <a:solidFill>
            <a:srgbClr val="FDE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8640" y="5843016"/>
            <a:ext cx="11064240" cy="6126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A3A5C"/>
                </a:solidFill>
                <a:latin typeface="Calibri"/>
              </a:rPr>
              <a:t>CIs overlap (Δ = +0.131): the LLM does not clearly beat the classic stack on pre-announcement prediction — consistent with week 3-4's null.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4320" y="6574536"/>
            <a:ext cx="8229600" cy="256032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BBBBBB"/>
                </a:solidFill>
                <a:latin typeface="Calibri"/>
              </a:rPr>
              <a:t>M&amp;A Prediction | JPMorgan Industry Project | July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521440" cy="56692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libri"/>
              </a:rPr>
              <a:t>Does the Model Already Know These Deals?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"/>
            <a:ext cx="1152144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B8860B"/>
                </a:solidFill>
                <a:latin typeface="Calibri"/>
              </a:rPr>
              <a:t>Memorization probe: zero news shown — answer from training memory alone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325880"/>
            <a:ext cx="5120640" cy="21031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3A5C"/>
                </a:solidFill>
                <a:latin typeface="Calibri"/>
              </a:rPr>
              <a:t>Design (balanced, chance = 50%):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3A5C"/>
                </a:solidFill>
                <a:latin typeface="Calibri"/>
              </a:rPr>
              <a:t>• “As of &lt;date&gt;: was &lt;company&gt; announced as a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3A5C"/>
                </a:solidFill>
                <a:latin typeface="Calibri"/>
              </a:rPr>
              <a:t>   ≥$1B acquisition target within 120 days?”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3A5C"/>
                </a:solidFill>
                <a:latin typeface="Calibri"/>
              </a:rPr>
              <a:t>• Asked at announcement−7d (truth = YES)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3A5C"/>
                </a:solidFill>
                <a:latin typeface="Calibri"/>
              </a:rPr>
              <a:t>• Asked at announcement−187d (truth = NO)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3A5C"/>
                </a:solidFill>
                <a:latin typeface="Calibri"/>
              </a:rPr>
              <a:t>• Same companies as the modeling sample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0" y="1371600"/>
            <a:ext cx="2697480" cy="11887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0" y="1426464"/>
            <a:ext cx="2697480" cy="6400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FFC000"/>
                </a:solidFill>
                <a:latin typeface="Calibri"/>
              </a:rPr>
              <a:t>52%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2084832"/>
            <a:ext cx="269748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D6E8F7"/>
                </a:solidFill>
                <a:latin typeface="Calibri"/>
              </a:rPr>
              <a:t>probe accuracy (50% = clean)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42832" y="1371600"/>
            <a:ext cx="2697480" cy="11887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42832" y="1426464"/>
            <a:ext cx="2697480" cy="6400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FFC000"/>
                </a:solidFill>
                <a:latin typeface="Calibri"/>
              </a:rPr>
              <a:t>71%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42832" y="2084832"/>
            <a:ext cx="269748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D6E8F7"/>
                </a:solidFill>
                <a:latin typeface="Calibri"/>
              </a:rPr>
              <a:t>acquirer named correctly (17 recall claims)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0" y="2743200"/>
            <a:ext cx="2697480" cy="1188720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0" y="2798064"/>
            <a:ext cx="2697480" cy="6400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libri"/>
              </a:rPr>
              <a:t>52%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3456432"/>
            <a:ext cx="269748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D6E8F7"/>
                </a:solidFill>
                <a:latin typeface="Calibri"/>
              </a:rPr>
              <a:t>accuracy PRE-cutoff (&lt; 2024-06-01, memorizable)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42832" y="2743200"/>
            <a:ext cx="2697480" cy="1188720"/>
          </a:xfrm>
          <a:prstGeom prst="rect">
            <a:avLst/>
          </a:prstGeom>
          <a:solidFill>
            <a:srgbClr val="1A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42832" y="2798064"/>
            <a:ext cx="2697480" cy="6400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libri"/>
              </a:rPr>
              <a:t>50%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42832" y="3456432"/>
            <a:ext cx="269748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D6E8F7"/>
                </a:solidFill>
                <a:latin typeface="Calibri"/>
              </a:rPr>
              <a:t>accuracy POST-cutoff (unseen deals)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3611880"/>
            <a:ext cx="5394960" cy="20116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3A5C"/>
                </a:solidFill>
                <a:latin typeface="Calibri"/>
              </a:rPr>
              <a:t>Why this matters: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3A5C"/>
                </a:solidFill>
                <a:latin typeface="Calibri"/>
              </a:rPr>
              <a:t>If the model recalls outcomes without any news, every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3A5C"/>
                </a:solidFill>
                <a:latin typeface="Calibri"/>
              </a:rPr>
              <a:t>pre-cutoff “prediction” is potentially an act of memory,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3A5C"/>
                </a:solidFill>
                <a:latin typeface="Calibri"/>
              </a:rPr>
              <a:t>not inference. The pre- vs post-cutoff gap isolates it.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5806440"/>
            <a:ext cx="11457432" cy="685800"/>
          </a:xfrm>
          <a:prstGeom prst="rect">
            <a:avLst/>
          </a:prstGeom>
          <a:solidFill>
            <a:srgbClr val="E8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5843016"/>
            <a:ext cx="11064240" cy="6126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A3A5C"/>
                </a:solidFill>
                <a:latin typeface="Calibri"/>
              </a:rPr>
              <a:t>Probe accuracy 52% ≈ chance — no strong evidence the model recalls these specific deals.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4320" y="6574536"/>
            <a:ext cx="8229600" cy="256032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BBBBBB"/>
                </a:solidFill>
                <a:latin typeface="Calibri"/>
              </a:rPr>
              <a:t>M&amp;A Prediction | JPMorgan Industry Project | July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521440" cy="56692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libri"/>
              </a:rPr>
              <a:t>Masking &amp; Repeatability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"/>
            <a:ext cx="1152144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B8860B"/>
                </a:solidFill>
                <a:latin typeface="Calibri"/>
              </a:rPr>
              <a:t>Two cheap experiments that price in the 'numbers are arbitrary' critique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mas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417320"/>
            <a:ext cx="3759747" cy="3108960"/>
          </a:xfrm>
          <a:prstGeom prst="rect">
            <a:avLst/>
          </a:prstGeom>
        </p:spPr>
      </p:pic>
      <p:pic>
        <p:nvPicPr>
          <p:cNvPr id="7" name="Picture 6" descr="fig_repe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417320"/>
            <a:ext cx="3759747" cy="31089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65760" y="4663440"/>
            <a:ext cx="7589520" cy="329184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4663440"/>
            <a:ext cx="749808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Experiment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80" y="4663440"/>
            <a:ext cx="3840480" cy="329184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01000" y="4663440"/>
            <a:ext cx="374904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Result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4992624"/>
            <a:ext cx="75895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4992624"/>
            <a:ext cx="749808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3A5C"/>
                </a:solidFill>
                <a:latin typeface="Calibri"/>
              </a:rPr>
              <a:t>Name masking — ΔAUC (unmasked − masked)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0" y="4992624"/>
            <a:ext cx="384048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01000" y="4992624"/>
            <a:ext cx="374904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3A5C"/>
                </a:solidFill>
                <a:latin typeface="Calibri"/>
              </a:rPr>
              <a:t>+0.060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5321808"/>
            <a:ext cx="7589520" cy="329184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5321808"/>
            <a:ext cx="749808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3A5C"/>
                </a:solidFill>
                <a:latin typeface="Calibri"/>
              </a:rPr>
              <a:t>Re-run consistency — mean Spearman ρ across 12 fields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55280" y="5321808"/>
            <a:ext cx="3840480" cy="329184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1000" y="5321808"/>
            <a:ext cx="374904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3A5C"/>
                </a:solidFill>
                <a:latin typeface="Calibri"/>
              </a:rPr>
              <a:t>0.804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5650992"/>
            <a:ext cx="75895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5650992"/>
            <a:ext cx="749808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3A5C"/>
                </a:solidFill>
                <a:latin typeface="Calibri"/>
              </a:rPr>
              <a:t>Re-run drift — mean |Δ acquisition_likelihood| (0–100 scale)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55280" y="5650992"/>
            <a:ext cx="384048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01000" y="5650992"/>
            <a:ext cx="374904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3A5C"/>
                </a:solidFill>
                <a:latin typeface="Calibri"/>
              </a:rPr>
              <a:t>1.2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5806440"/>
            <a:ext cx="11457432" cy="685800"/>
          </a:xfrm>
          <a:prstGeom prst="rect">
            <a:avLst/>
          </a:prstGeom>
          <a:solidFill>
            <a:srgbClr val="FDE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5843016"/>
            <a:ext cx="11064240" cy="6126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A3A5C"/>
                </a:solidFill>
                <a:latin typeface="Calibri"/>
              </a:rPr>
              <a:t>Scores drop when the company is anonymized — part of the signal was recognition, not reading.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4320" y="6574536"/>
            <a:ext cx="8229600" cy="256032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BBBBBB"/>
                </a:solidFill>
                <a:latin typeface="Calibri"/>
              </a:rPr>
              <a:t>M&amp;A Prediction | JPMorgan Industry Project | July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521440" cy="56692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libri"/>
              </a:rPr>
              <a:t>Model Sensitivity &amp; What $100 Buys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"/>
            <a:ext cx="1152144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B8860B"/>
                </a:solidFill>
                <a:latin typeface="Calibri"/>
              </a:rPr>
              <a:t>gpt-5 vs gpt-5-mini on a nested subset — does 10x price buy a different read?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2697480" cy="11887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472184"/>
            <a:ext cx="2697480" cy="6400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FFC000"/>
                </a:solidFill>
                <a:latin typeface="Calibri"/>
              </a:rPr>
              <a:t>0.662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130552"/>
            <a:ext cx="269748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D6E8F7"/>
                </a:solidFill>
                <a:latin typeface="Calibri"/>
              </a:rPr>
              <a:t>score agreement (mean Spearman)</a:t>
            </a:r>
          </a:p>
        </p:txBody>
      </p:sp>
      <p:sp>
        <p:nvSpPr>
          <p:cNvPr id="9" name="Rectangle 8"/>
          <p:cNvSpPr/>
          <p:nvPr/>
        </p:nvSpPr>
        <p:spPr>
          <a:xfrm>
            <a:off x="3273552" y="1417320"/>
            <a:ext cx="2697480" cy="11887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73552" y="1472184"/>
            <a:ext cx="2697480" cy="6400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FFC000"/>
                </a:solidFill>
                <a:latin typeface="Calibri"/>
              </a:rPr>
              <a:t>0.54 / 0.55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73552" y="2130552"/>
            <a:ext cx="269748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D6E8F7"/>
                </a:solidFill>
                <a:latin typeface="Calibri"/>
              </a:rPr>
              <a:t>subset AUC: mini / gpt-5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81344" y="1417320"/>
            <a:ext cx="2697480" cy="1188720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81344" y="1472184"/>
            <a:ext cx="2697480" cy="6400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libri"/>
              </a:rPr>
              <a:t>4.3x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81344" y="2130552"/>
            <a:ext cx="269748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D6E8F7"/>
                </a:solidFill>
                <a:latin typeface="Calibri"/>
              </a:rPr>
              <a:t>cost ratio per window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89136" y="1417320"/>
            <a:ext cx="2697480" cy="1188720"/>
          </a:xfrm>
          <a:prstGeom prst="rect">
            <a:avLst/>
          </a:prstGeom>
          <a:solidFill>
            <a:srgbClr val="1A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89136" y="1472184"/>
            <a:ext cx="2697480" cy="6400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libri"/>
              </a:rPr>
              <a:t>$0.36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89136" y="2130552"/>
            <a:ext cx="269748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D6E8F7"/>
                </a:solidFill>
                <a:latin typeface="Calibri"/>
              </a:rPr>
              <a:t>actual total spend this week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017520"/>
            <a:ext cx="5669280" cy="36576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3017520"/>
            <a:ext cx="557784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Run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5040" y="3017520"/>
            <a:ext cx="2377440" cy="36576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80760" y="3017520"/>
            <a:ext cx="228600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12480" y="3017520"/>
            <a:ext cx="3383280" cy="36576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58200" y="3017520"/>
            <a:ext cx="329184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Approx. cost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383280"/>
            <a:ext cx="566928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3383280"/>
            <a:ext cx="557784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Score ~1,400 windows (700 events × 2)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35040" y="3383280"/>
            <a:ext cx="237744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80760" y="3383280"/>
            <a:ext cx="228600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gpt-5-mini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12480" y="3383280"/>
            <a:ext cx="338328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58200" y="3383280"/>
            <a:ext cx="329184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≈ $2.50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3749040"/>
            <a:ext cx="5669280" cy="36576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3749040"/>
            <a:ext cx="557784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Same, company names masked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35040" y="3749040"/>
            <a:ext cx="2377440" cy="36576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80760" y="3749040"/>
            <a:ext cx="228600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gpt-5-mini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412480" y="3749040"/>
            <a:ext cx="3383280" cy="36576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58200" y="3749040"/>
            <a:ext cx="329184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≈ $2.50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4114800"/>
            <a:ext cx="566928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4114800"/>
            <a:ext cx="557784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Memorization probe (2 calls/event)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35040" y="4114800"/>
            <a:ext cx="237744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80760" y="4114800"/>
            <a:ext cx="228600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gpt-5-mini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412480" y="4114800"/>
            <a:ext cx="338328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458200" y="4114800"/>
            <a:ext cx="329184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≈ $0.60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4480560"/>
            <a:ext cx="5669280" cy="36576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11480" y="4480560"/>
            <a:ext cx="557784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100-event sensitivity subset ×2 variants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35040" y="4480560"/>
            <a:ext cx="2377440" cy="36576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80760" y="4480560"/>
            <a:ext cx="228600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gpt-5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412480" y="4480560"/>
            <a:ext cx="3383280" cy="36576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58200" y="4480560"/>
            <a:ext cx="329184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≈ $4.00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4846320"/>
            <a:ext cx="566928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11480" y="4846320"/>
            <a:ext cx="557784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Everything above at gpt-5 prices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035040" y="4846320"/>
            <a:ext cx="237744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80760" y="4846320"/>
            <a:ext cx="228600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gpt-5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412480" y="4846320"/>
            <a:ext cx="338328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458200" y="4846320"/>
            <a:ext cx="329184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≈ $45 — still inside $100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5806440"/>
            <a:ext cx="11457432" cy="685800"/>
          </a:xfrm>
          <a:prstGeom prst="rect">
            <a:avLst/>
          </a:prstGeom>
          <a:solidFill>
            <a:srgbClr val="E8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8640" y="5843016"/>
            <a:ext cx="11064240" cy="6126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A3A5C"/>
                </a:solidFill>
                <a:latin typeface="Calibri"/>
              </a:rPr>
              <a:t>Cost is NOT the constraint — validity is. The binding limit is look-ahead bias and score stability, not the API bill.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4320" y="6574536"/>
            <a:ext cx="8229600" cy="256032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BBBBBB"/>
                </a:solidFill>
                <a:latin typeface="Calibri"/>
              </a:rPr>
              <a:t>M&amp;A Prediction | JPMorgan Industry Project | July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521440" cy="56692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libri"/>
              </a:rPr>
              <a:t>Honest Read &amp; The Right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"/>
            <a:ext cx="1152144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B8860B"/>
                </a:solidFill>
                <a:latin typeface="Calibri"/>
              </a:rPr>
              <a:t>Problems we can name → fixes we can execute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3703320" cy="384048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426464"/>
            <a:ext cx="370332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Look-ahead bias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801368"/>
            <a:ext cx="3703320" cy="274320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1892808"/>
            <a:ext cx="3557016" cy="2560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Problem: the LLM trained on news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about most of these very deals.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Fix: OpenRouter — pin models with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training cutoffs BEFORE the eval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window (e.g. score 2022–26 windows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with a 2021-cutoff model). Makes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look-ahead structurally impossible.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42816" y="1417320"/>
            <a:ext cx="3703320" cy="384048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42816" y="1426464"/>
            <a:ext cx="370332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Arbitrary numbers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42816" y="1801368"/>
            <a:ext cx="3703320" cy="274320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15968" y="1892808"/>
            <a:ext cx="3557016" cy="2560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Problem: 'activist_pressure = 7' is a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judgment with run-to-run drift and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no ground truth.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Fix: average 2–3 repeat scores,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calibrate against realized frequencies,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keep evidence quotes mandatory so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every score stays auditable.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19872" y="1417320"/>
            <a:ext cx="3703320" cy="384048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19872" y="1426464"/>
            <a:ext cx="370332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Thin, noisy data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19872" y="1801368"/>
            <a:ext cx="3703320" cy="274320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93024" y="1892808"/>
            <a:ext cx="3557016" cy="2560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Problem: free headlines are sparse for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most events; a few hundred test rows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swing AUC by ±0.05.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Fix: scale the resumable scrape,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add full article bodies &amp; filings text,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walk-forward validation instead of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one static split.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5120640"/>
            <a:ext cx="11457432" cy="868680"/>
          </a:xfrm>
          <a:prstGeom prst="rect">
            <a:avLst/>
          </a:prstGeom>
          <a:solidFill>
            <a:srgbClr val="E8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5157216"/>
            <a:ext cx="11064240" cy="79552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A3A5C"/>
                </a:solidFill>
                <a:latin typeface="Calibri"/>
              </a:rPr>
              <a:t>Week 7 recommendation: cutoff-matched backtest via OpenRouter on the full event set — the only version of this result an investor should trust.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" y="6574536"/>
            <a:ext cx="8229600" cy="256032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BBBBBB"/>
                </a:solidFill>
                <a:latin typeface="Calibri"/>
              </a:rPr>
              <a:t>M&amp;A Prediction | JPMorgan Industry Project | July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91695" cy="457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2651760"/>
            <a:ext cx="12191695" cy="14630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0" b="1">
                <a:solidFill>
                  <a:srgbClr val="FFFFFF"/>
                </a:solidFill>
                <a:latin typeface="Calibri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6309360"/>
            <a:ext cx="12191695" cy="3200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BBBBBB"/>
                </a:solidFill>
                <a:latin typeface="Calibri"/>
              </a:rPr>
              <a:t>M&amp;A Prediction | JPMorgan Industry Project | July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