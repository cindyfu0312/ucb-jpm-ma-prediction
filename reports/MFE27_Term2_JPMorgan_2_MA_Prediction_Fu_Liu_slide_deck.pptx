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24528"/>
            <a:ext cx="12191695" cy="54864"/>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cb_wordmark_gold.png"/>
          <p:cNvPicPr>
            <a:picLocks noChangeAspect="1"/>
          </p:cNvPicPr>
          <p:nvPr/>
        </p:nvPicPr>
        <p:blipFill>
          <a:blip r:embed="rId2"/>
          <a:stretch>
            <a:fillRect/>
          </a:stretch>
        </p:blipFill>
        <p:spPr>
          <a:xfrm>
            <a:off x="685800" y="640080"/>
            <a:ext cx="2834640" cy="396753"/>
          </a:xfrm>
          <a:prstGeom prst="rect">
            <a:avLst/>
          </a:prstGeom>
        </p:spPr>
      </p:pic>
      <p:sp>
        <p:nvSpPr>
          <p:cNvPr id="5" name="TextBox 4"/>
          <p:cNvSpPr txBox="1"/>
          <p:nvPr/>
        </p:nvSpPr>
        <p:spPr>
          <a:xfrm>
            <a:off x="640080" y="1691640"/>
            <a:ext cx="10881360" cy="1463040"/>
          </a:xfrm>
          <a:prstGeom prst="rect">
            <a:avLst/>
          </a:prstGeom>
          <a:noFill/>
        </p:spPr>
        <p:txBody>
          <a:bodyPr wrap="square" anchor="t" lIns="45720" rIns="45720" tIns="22860" bIns="22860">
            <a:spAutoFit/>
          </a:bodyPr>
          <a:lstStyle/>
          <a:p>
            <a:pPr algn="l">
              <a:lnSpc>
                <a:spcPct val="115000"/>
              </a:lnSpc>
            </a:pPr>
            <a:r>
              <a:rPr sz="4400" b="1">
                <a:solidFill>
                  <a:srgbClr val="FFFFFF"/>
                </a:solidFill>
                <a:latin typeface="Arial"/>
              </a:rPr>
              <a:t>Predicting M&amp;A from Free News</a:t>
            </a:r>
          </a:p>
          <a:p>
            <a:pPr algn="l">
              <a:lnSpc>
                <a:spcPct val="115000"/>
              </a:lnSpc>
            </a:pPr>
            <a:r>
              <a:rPr sz="2600" b="1">
                <a:solidFill>
                  <a:srgbClr val="FDB515"/>
                </a:solidFill>
                <a:latin typeface="Arial"/>
              </a:rPr>
              <a:t>Classic NLP vs a Large Language Model</a:t>
            </a:r>
          </a:p>
        </p:txBody>
      </p:sp>
      <p:sp>
        <p:nvSpPr>
          <p:cNvPr id="6" name="TextBox 5"/>
          <p:cNvSpPr txBox="1"/>
          <p:nvPr/>
        </p:nvSpPr>
        <p:spPr>
          <a:xfrm>
            <a:off x="685800" y="4526280"/>
            <a:ext cx="10881360" cy="1280160"/>
          </a:xfrm>
          <a:prstGeom prst="rect">
            <a:avLst/>
          </a:prstGeom>
          <a:noFill/>
        </p:spPr>
        <p:txBody>
          <a:bodyPr wrap="square" anchor="t" lIns="45720" rIns="45720" tIns="22860" bIns="22860">
            <a:spAutoFit/>
          </a:bodyPr>
          <a:lstStyle/>
          <a:p>
            <a:pPr algn="l">
              <a:lnSpc>
                <a:spcPct val="160000"/>
              </a:lnSpc>
            </a:pPr>
            <a:r>
              <a:rPr sz="1500" b="0">
                <a:solidFill>
                  <a:srgbClr val="D6E8F7"/>
                </a:solidFill>
                <a:latin typeface="Arial"/>
              </a:rPr>
              <a:t>J.P. Morgan Industry Project  |  Group 2  |  MFE 27, Term 2  |  July 2026</a:t>
            </a:r>
          </a:p>
          <a:p>
            <a:pPr algn="l">
              <a:lnSpc>
                <a:spcPct val="160000"/>
              </a:lnSpc>
            </a:pPr>
            <a:r>
              <a:rPr sz="1600" b="1">
                <a:solidFill>
                  <a:srgbClr val="FDB515"/>
                </a:solidFill>
                <a:latin typeface="Arial"/>
              </a:rPr>
              <a:t>Dexin Fu   ·   Ronald Liu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The Question</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Can free news flag a company as a takeover target before the deal is public?</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1 · BACKGROUND</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a:t>
            </a:r>
          </a:p>
        </p:txBody>
      </p:sp>
      <p:sp>
        <p:nvSpPr>
          <p:cNvPr id="10" name="Rectangle 9"/>
          <p:cNvSpPr/>
          <p:nvPr/>
        </p:nvSpPr>
        <p:spPr>
          <a:xfrm>
            <a:off x="365760" y="1325880"/>
            <a:ext cx="562356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350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WHAT WE WANT</a:t>
            </a:r>
          </a:p>
        </p:txBody>
      </p:sp>
      <p:sp>
        <p:nvSpPr>
          <p:cNvPr id="12" name="Rectangle 11"/>
          <p:cNvSpPr/>
          <p:nvPr/>
        </p:nvSpPr>
        <p:spPr>
          <a:xfrm>
            <a:off x="365760" y="1709928"/>
            <a:ext cx="5623560" cy="30632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783080"/>
            <a:ext cx="5477256" cy="291693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Spot likely $1B+ takeover targets 3 to 6 months early, using only free public data.</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When a deal is announced, the target's stock usually jumps 20 to 30% overnight. Ranking companies by takeover odds before that jump is worth real money for event-driven and merger-arb desks.</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We stick to free data on purpose. No paid rumor feeds. That keeps the work easy to repeat, and it asks a sharper question: is the signal even in the public record?</a:t>
            </a:r>
          </a:p>
        </p:txBody>
      </p:sp>
      <p:sp>
        <p:nvSpPr>
          <p:cNvPr id="14" name="Rectangle 13"/>
          <p:cNvSpPr/>
          <p:nvPr/>
        </p:nvSpPr>
        <p:spPr>
          <a:xfrm>
            <a:off x="6199632" y="1325880"/>
            <a:ext cx="562356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13350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WHY IT IS HARD</a:t>
            </a:r>
          </a:p>
        </p:txBody>
      </p:sp>
      <p:sp>
        <p:nvSpPr>
          <p:cNvPr id="16" name="Rectangle 15"/>
          <p:cNvSpPr/>
          <p:nvPr/>
        </p:nvSpPr>
        <p:spPr>
          <a:xfrm>
            <a:off x="6199632" y="1709928"/>
            <a:ext cx="5623560" cy="30632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1783080"/>
            <a:ext cx="5477256" cy="291693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Takeovers are rare. </a:t>
            </a:r>
            <a:r>
              <a:rPr sz="1250" b="0">
                <a:solidFill>
                  <a:srgbClr val="003262"/>
                </a:solidFill>
                <a:latin typeface="Arial"/>
              </a:rPr>
              <a:t>About 250 US deals this size a year, against 7,600 listed companies. A base rate near 3%.</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The talks are secret. </a:t>
            </a:r>
            <a:r>
              <a:rPr sz="1250" b="0">
                <a:solidFill>
                  <a:srgbClr val="003262"/>
                </a:solidFill>
                <a:latin typeface="Arial"/>
              </a:rPr>
              <a:t>Negotiations sit under NDAs, and leaking is a legal problem. Quiet press before a deal may just be the system working as intended.</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It is easy to fool yourself. </a:t>
            </a:r>
            <a:r>
              <a:rPr sz="1250" b="0">
                <a:solidFill>
                  <a:srgbClr val="003262"/>
                </a:solidFill>
                <a:latin typeface="Arial"/>
              </a:rPr>
              <a:t>Old news already holds the answer. An honest test has to show it is not peeking at the future. For an LLM, also that it is not recalling the deal from training.</a:t>
            </a:r>
          </a:p>
        </p:txBody>
      </p:sp>
      <p:sp>
        <p:nvSpPr>
          <p:cNvPr id="18" name="Rectangle 17"/>
          <p:cNvSpPr/>
          <p:nvPr/>
        </p:nvSpPr>
        <p:spPr>
          <a:xfrm>
            <a:off x="365760" y="5806440"/>
            <a:ext cx="11457432" cy="65836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843016"/>
            <a:ext cx="11064240" cy="585216"/>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The test, stated plainly: given 90 days of a company's free news ending a week before a deal, can we tell it apart from a quiet 90-day stretch for the same company months earlier?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How We Set It Up</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Each company is compared against itself, so size and popularity cannot explain the result</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2 · METHOD</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2</a:t>
            </a:r>
          </a:p>
        </p:txBody>
      </p:sp>
      <p:sp>
        <p:nvSpPr>
          <p:cNvPr id="10" name="Rectangle 9"/>
          <p:cNvSpPr/>
          <p:nvPr/>
        </p:nvSpPr>
        <p:spPr>
          <a:xfrm>
            <a:off x="640080" y="2606040"/>
            <a:ext cx="10881360" cy="45720"/>
          </a:xfrm>
          <a:prstGeom prst="rect">
            <a:avLst/>
          </a:prstGeom>
          <a:solidFill>
            <a:srgbClr val="60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947672"/>
            <a:ext cx="2971800" cy="621792"/>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965960"/>
            <a:ext cx="2971800" cy="585216"/>
          </a:xfrm>
          <a:prstGeom prst="rect">
            <a:avLst/>
          </a:prstGeom>
          <a:noFill/>
        </p:spPr>
        <p:txBody>
          <a:bodyPr wrap="square" anchor="ctr" lIns="45720" rIns="45720" tIns="22860" bIns="22860">
            <a:spAutoFit/>
          </a:bodyPr>
          <a:lstStyle/>
          <a:p>
            <a:pPr algn="ctr">
              <a:lnSpc>
                <a:spcPct val="100000"/>
              </a:lnSpc>
            </a:pPr>
            <a:r>
              <a:rPr sz="1250" b="1">
                <a:solidFill>
                  <a:srgbClr val="FFFFFF"/>
                </a:solidFill>
                <a:latin typeface="Arial"/>
              </a:rPr>
              <a:t>QUIET WINDOW  (label 0)</a:t>
            </a:r>
          </a:p>
          <a:p>
            <a:pPr algn="ctr">
              <a:lnSpc>
                <a:spcPct val="100000"/>
              </a:lnSpc>
            </a:pPr>
            <a:r>
              <a:rPr sz="1100" b="0">
                <a:solidFill>
                  <a:srgbClr val="FFFFFF"/>
                </a:solidFill>
                <a:latin typeface="Arial"/>
              </a:rPr>
              <a:t>90 days, 180 days earlier</a:t>
            </a:r>
          </a:p>
        </p:txBody>
      </p:sp>
      <p:sp>
        <p:nvSpPr>
          <p:cNvPr id="13" name="Rectangle 12"/>
          <p:cNvSpPr/>
          <p:nvPr/>
        </p:nvSpPr>
        <p:spPr>
          <a:xfrm>
            <a:off x="5532120" y="1947672"/>
            <a:ext cx="2971800" cy="621792"/>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1965960"/>
            <a:ext cx="2971800" cy="585216"/>
          </a:xfrm>
          <a:prstGeom prst="rect">
            <a:avLst/>
          </a:prstGeom>
          <a:noFill/>
        </p:spPr>
        <p:txBody>
          <a:bodyPr wrap="square" anchor="ctr" lIns="45720" rIns="45720" tIns="22860" bIns="22860">
            <a:spAutoFit/>
          </a:bodyPr>
          <a:lstStyle/>
          <a:p>
            <a:pPr algn="ctr">
              <a:lnSpc>
                <a:spcPct val="100000"/>
              </a:lnSpc>
            </a:pPr>
            <a:r>
              <a:rPr sz="1250" b="1">
                <a:solidFill>
                  <a:srgbClr val="FFFFFF"/>
                </a:solidFill>
                <a:latin typeface="Arial"/>
              </a:rPr>
              <a:t>RUN-UP WINDOW  (label 1)</a:t>
            </a:r>
          </a:p>
          <a:p>
            <a:pPr algn="ctr">
              <a:lnSpc>
                <a:spcPct val="100000"/>
              </a:lnSpc>
            </a:pPr>
            <a:r>
              <a:rPr sz="1100" b="0">
                <a:solidFill>
                  <a:srgbClr val="FFFFFF"/>
                </a:solidFill>
                <a:latin typeface="Arial"/>
              </a:rPr>
              <a:t>90 days before the deal</a:t>
            </a:r>
          </a:p>
        </p:txBody>
      </p:sp>
      <p:sp>
        <p:nvSpPr>
          <p:cNvPr id="15" name="Rectangle 14"/>
          <p:cNvSpPr/>
          <p:nvPr/>
        </p:nvSpPr>
        <p:spPr>
          <a:xfrm>
            <a:off x="8503920" y="1947672"/>
            <a:ext cx="868680" cy="621792"/>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1965960"/>
            <a:ext cx="868680" cy="585216"/>
          </a:xfrm>
          <a:prstGeom prst="rect">
            <a:avLst/>
          </a:prstGeom>
          <a:noFill/>
        </p:spPr>
        <p:txBody>
          <a:bodyPr wrap="square" anchor="ctr" lIns="45720" rIns="45720" tIns="22860" bIns="22860">
            <a:spAutoFit/>
          </a:bodyPr>
          <a:lstStyle/>
          <a:p>
            <a:pPr algn="ctr">
              <a:lnSpc>
                <a:spcPct val="100000"/>
              </a:lnSpc>
            </a:pPr>
            <a:r>
              <a:rPr sz="1000" b="1">
                <a:solidFill>
                  <a:srgbClr val="003262"/>
                </a:solidFill>
                <a:latin typeface="Arial"/>
              </a:rPr>
              <a:t>SKIP</a:t>
            </a:r>
          </a:p>
          <a:p>
            <a:pPr algn="ctr">
              <a:lnSpc>
                <a:spcPct val="100000"/>
              </a:lnSpc>
            </a:pPr>
            <a:r>
              <a:rPr sz="1000" b="1">
                <a:solidFill>
                  <a:srgbClr val="003262"/>
                </a:solidFill>
                <a:latin typeface="Arial"/>
              </a:rPr>
              <a:t>7 days</a:t>
            </a:r>
          </a:p>
        </p:txBody>
      </p:sp>
      <p:sp>
        <p:nvSpPr>
          <p:cNvPr id="17" name="Rectangle 16"/>
          <p:cNvSpPr/>
          <p:nvPr/>
        </p:nvSpPr>
        <p:spPr>
          <a:xfrm>
            <a:off x="9372600" y="1737360"/>
            <a:ext cx="41148" cy="91440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20" y="1307592"/>
            <a:ext cx="2377440" cy="411480"/>
          </a:xfrm>
          <a:prstGeom prst="rect">
            <a:avLst/>
          </a:prstGeom>
          <a:noFill/>
        </p:spPr>
        <p:txBody>
          <a:bodyPr wrap="square" anchor="t" lIns="45720" rIns="45720" tIns="22860" bIns="22860">
            <a:spAutoFit/>
          </a:bodyPr>
          <a:lstStyle/>
          <a:p>
            <a:pPr algn="ctr">
              <a:lnSpc>
                <a:spcPct val="100000"/>
              </a:lnSpc>
            </a:pPr>
            <a:r>
              <a:rPr sz="1250" b="1">
                <a:solidFill>
                  <a:srgbClr val="C4820E"/>
                </a:solidFill>
                <a:latin typeface="Arial"/>
              </a:rPr>
              <a:t>DEAL ANNOUNCED</a:t>
            </a:r>
          </a:p>
          <a:p>
            <a:pPr algn="ctr">
              <a:lnSpc>
                <a:spcPct val="100000"/>
              </a:lnSpc>
            </a:pPr>
            <a:r>
              <a:rPr sz="1100" b="0">
                <a:solidFill>
                  <a:srgbClr val="606A75"/>
                </a:solidFill>
                <a:latin typeface="Arial"/>
              </a:rPr>
              <a:t>day 0</a:t>
            </a:r>
          </a:p>
        </p:txBody>
      </p:sp>
      <p:sp>
        <p:nvSpPr>
          <p:cNvPr id="19" name="Rectangle 18"/>
          <p:cNvSpPr/>
          <p:nvPr/>
        </p:nvSpPr>
        <p:spPr>
          <a:xfrm>
            <a:off x="960120" y="2606040"/>
            <a:ext cx="27432" cy="146304"/>
          </a:xfrm>
          <a:prstGeom prst="rect">
            <a:avLst/>
          </a:prstGeom>
          <a:solidFill>
            <a:srgbClr val="60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70632"/>
            <a:ext cx="868680" cy="274320"/>
          </a:xfrm>
          <a:prstGeom prst="rect">
            <a:avLst/>
          </a:prstGeom>
          <a:noFill/>
        </p:spPr>
        <p:txBody>
          <a:bodyPr wrap="square" anchor="t" lIns="45720" rIns="45720" tIns="22860" bIns="22860">
            <a:spAutoFit/>
          </a:bodyPr>
          <a:lstStyle/>
          <a:p>
            <a:pPr algn="ctr">
              <a:lnSpc>
                <a:spcPct val="100000"/>
              </a:lnSpc>
            </a:pPr>
            <a:r>
              <a:rPr sz="1100" b="0">
                <a:solidFill>
                  <a:srgbClr val="606A75"/>
                </a:solidFill>
                <a:latin typeface="Arial"/>
              </a:rPr>
              <a:t>-277d</a:t>
            </a:r>
          </a:p>
        </p:txBody>
      </p:sp>
      <p:sp>
        <p:nvSpPr>
          <p:cNvPr id="21" name="Rectangle 20"/>
          <p:cNvSpPr/>
          <p:nvPr/>
        </p:nvSpPr>
        <p:spPr>
          <a:xfrm>
            <a:off x="5532120" y="2606040"/>
            <a:ext cx="27432" cy="146304"/>
          </a:xfrm>
          <a:prstGeom prst="rect">
            <a:avLst/>
          </a:prstGeom>
          <a:solidFill>
            <a:srgbClr val="60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2770632"/>
            <a:ext cx="868680" cy="274320"/>
          </a:xfrm>
          <a:prstGeom prst="rect">
            <a:avLst/>
          </a:prstGeom>
          <a:noFill/>
        </p:spPr>
        <p:txBody>
          <a:bodyPr wrap="square" anchor="t" lIns="45720" rIns="45720" tIns="22860" bIns="22860">
            <a:spAutoFit/>
          </a:bodyPr>
          <a:lstStyle/>
          <a:p>
            <a:pPr algn="ctr">
              <a:lnSpc>
                <a:spcPct val="100000"/>
              </a:lnSpc>
            </a:pPr>
            <a:r>
              <a:rPr sz="1100" b="0">
                <a:solidFill>
                  <a:srgbClr val="606A75"/>
                </a:solidFill>
                <a:latin typeface="Arial"/>
              </a:rPr>
              <a:t>-97d</a:t>
            </a:r>
          </a:p>
        </p:txBody>
      </p:sp>
      <p:sp>
        <p:nvSpPr>
          <p:cNvPr id="23" name="Rectangle 22"/>
          <p:cNvSpPr/>
          <p:nvPr/>
        </p:nvSpPr>
        <p:spPr>
          <a:xfrm>
            <a:off x="8503920" y="2606040"/>
            <a:ext cx="27432" cy="146304"/>
          </a:xfrm>
          <a:prstGeom prst="rect">
            <a:avLst/>
          </a:prstGeom>
          <a:solidFill>
            <a:srgbClr val="60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2770632"/>
            <a:ext cx="868680" cy="274320"/>
          </a:xfrm>
          <a:prstGeom prst="rect">
            <a:avLst/>
          </a:prstGeom>
          <a:noFill/>
        </p:spPr>
        <p:txBody>
          <a:bodyPr wrap="square" anchor="t" lIns="45720" rIns="45720" tIns="22860" bIns="22860">
            <a:spAutoFit/>
          </a:bodyPr>
          <a:lstStyle/>
          <a:p>
            <a:pPr algn="ctr">
              <a:lnSpc>
                <a:spcPct val="100000"/>
              </a:lnSpc>
            </a:pPr>
            <a:r>
              <a:rPr sz="1100" b="0">
                <a:solidFill>
                  <a:srgbClr val="606A75"/>
                </a:solidFill>
                <a:latin typeface="Arial"/>
              </a:rPr>
              <a:t>-7d</a:t>
            </a:r>
          </a:p>
        </p:txBody>
      </p:sp>
      <p:sp>
        <p:nvSpPr>
          <p:cNvPr id="25" name="Rectangle 24"/>
          <p:cNvSpPr/>
          <p:nvPr/>
        </p:nvSpPr>
        <p:spPr>
          <a:xfrm>
            <a:off x="9372600" y="2606040"/>
            <a:ext cx="27432" cy="146304"/>
          </a:xfrm>
          <a:prstGeom prst="rect">
            <a:avLst/>
          </a:prstGeom>
          <a:solidFill>
            <a:srgbClr val="606A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0" y="2770632"/>
            <a:ext cx="868680" cy="274320"/>
          </a:xfrm>
          <a:prstGeom prst="rect">
            <a:avLst/>
          </a:prstGeom>
          <a:noFill/>
        </p:spPr>
        <p:txBody>
          <a:bodyPr wrap="square" anchor="t" lIns="45720" rIns="45720" tIns="22860" bIns="22860">
            <a:spAutoFit/>
          </a:bodyPr>
          <a:lstStyle/>
          <a:p>
            <a:pPr algn="ctr">
              <a:lnSpc>
                <a:spcPct val="100000"/>
              </a:lnSpc>
            </a:pPr>
            <a:r>
              <a:rPr sz="1100" b="0">
                <a:solidFill>
                  <a:srgbClr val="606A75"/>
                </a:solidFill>
                <a:latin typeface="Arial"/>
              </a:rPr>
              <a:t>0</a:t>
            </a:r>
          </a:p>
        </p:txBody>
      </p:sp>
      <p:sp>
        <p:nvSpPr>
          <p:cNvPr id="27" name="Rectangle 26"/>
          <p:cNvSpPr/>
          <p:nvPr/>
        </p:nvSpPr>
        <p:spPr>
          <a:xfrm>
            <a:off x="365760" y="3429000"/>
            <a:ext cx="3703320"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343814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SAME COMPANY, BOTH SIDES</a:t>
            </a:r>
          </a:p>
        </p:txBody>
      </p:sp>
      <p:sp>
        <p:nvSpPr>
          <p:cNvPr id="29" name="Rectangle 28"/>
          <p:cNvSpPr/>
          <p:nvPr/>
        </p:nvSpPr>
        <p:spPr>
          <a:xfrm>
            <a:off x="365760" y="3813048"/>
            <a:ext cx="3703320" cy="1874519"/>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3886200"/>
            <a:ext cx="3557016" cy="1728215"/>
          </a:xfrm>
          <a:prstGeom prst="rect">
            <a:avLst/>
          </a:prstGeom>
          <a:noFill/>
        </p:spPr>
        <p:txBody>
          <a:bodyPr wrap="square" anchor="t" lIns="45720" rIns="45720" tIns="22860" bIns="22860">
            <a:spAutoFit/>
          </a:bodyPr>
          <a:lstStyle/>
          <a:p>
            <a:pPr algn="l">
              <a:lnSpc>
                <a:spcPct val="100000"/>
              </a:lnSpc>
            </a:pPr>
            <a:r>
              <a:rPr sz="1250" b="0">
                <a:solidFill>
                  <a:srgbClr val="003262"/>
                </a:solidFill>
                <a:latin typeface="Arial"/>
              </a:rPr>
              <a:t>Each deal gives one run-up window and one quiet window for the same firm.</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So a model cannot win just by spotting big, well-covered companies. Size, sector and press coverage stay fixed.</a:t>
            </a:r>
          </a:p>
        </p:txBody>
      </p:sp>
      <p:sp>
        <p:nvSpPr>
          <p:cNvPr id="31" name="Rectangle 30"/>
          <p:cNvSpPr/>
          <p:nvPr/>
        </p:nvSpPr>
        <p:spPr>
          <a:xfrm>
            <a:off x="4233672" y="3429000"/>
            <a:ext cx="37033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33672" y="343814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WHY SKIP THE LAST WEEK</a:t>
            </a:r>
          </a:p>
        </p:txBody>
      </p:sp>
      <p:sp>
        <p:nvSpPr>
          <p:cNvPr id="33" name="Rectangle 32"/>
          <p:cNvSpPr/>
          <p:nvPr/>
        </p:nvSpPr>
        <p:spPr>
          <a:xfrm>
            <a:off x="4233672" y="3813048"/>
            <a:ext cx="3703320" cy="1874519"/>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06824" y="3886200"/>
            <a:ext cx="3557016" cy="1728215"/>
          </a:xfrm>
          <a:prstGeom prst="rect">
            <a:avLst/>
          </a:prstGeom>
          <a:noFill/>
        </p:spPr>
        <p:txBody>
          <a:bodyPr wrap="square" anchor="t" lIns="45720" rIns="45720" tIns="22860" bIns="22860">
            <a:spAutoFit/>
          </a:bodyPr>
          <a:lstStyle/>
          <a:p>
            <a:pPr algn="l">
              <a:lnSpc>
                <a:spcPct val="100000"/>
              </a:lnSpc>
            </a:pPr>
            <a:r>
              <a:rPr sz="1250" b="0">
                <a:solidFill>
                  <a:srgbClr val="003262"/>
                </a:solidFill>
                <a:latin typeface="Arial"/>
              </a:rPr>
              <a:t>Leaks and 'sources say' stories bunch up in the final days before a deal.</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Keeping them gives a high score that is useless in practice, since the stock has already moved. Dropping them keeps this real prediction.</a:t>
            </a:r>
          </a:p>
        </p:txBody>
      </p:sp>
      <p:sp>
        <p:nvSpPr>
          <p:cNvPr id="35" name="Rectangle 34"/>
          <p:cNvSpPr/>
          <p:nvPr/>
        </p:nvSpPr>
        <p:spPr>
          <a:xfrm>
            <a:off x="8101583" y="3429000"/>
            <a:ext cx="3721608"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01583" y="3438144"/>
            <a:ext cx="3721608"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WHAT THE MODEL NEVER SEES</a:t>
            </a:r>
          </a:p>
        </p:txBody>
      </p:sp>
      <p:sp>
        <p:nvSpPr>
          <p:cNvPr id="37" name="Rectangle 36"/>
          <p:cNvSpPr/>
          <p:nvPr/>
        </p:nvSpPr>
        <p:spPr>
          <a:xfrm>
            <a:off x="8101583" y="3813048"/>
            <a:ext cx="3721608" cy="1874519"/>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74735" y="3886200"/>
            <a:ext cx="3575304" cy="1728215"/>
          </a:xfrm>
          <a:prstGeom prst="rect">
            <a:avLst/>
          </a:prstGeom>
          <a:noFill/>
        </p:spPr>
        <p:txBody>
          <a:bodyPr wrap="square" anchor="t" lIns="45720" rIns="45720" tIns="22860" bIns="22860">
            <a:spAutoFit/>
          </a:bodyPr>
          <a:lstStyle/>
          <a:p>
            <a:pPr algn="l">
              <a:lnSpc>
                <a:spcPct val="100000"/>
              </a:lnSpc>
            </a:pPr>
            <a:r>
              <a:rPr sz="1250" b="0">
                <a:solidFill>
                  <a:srgbClr val="003262"/>
                </a:solidFill>
                <a:latin typeface="Arial"/>
              </a:rPr>
              <a:t>· the announcement date</a:t>
            </a:r>
          </a:p>
          <a:p>
            <a:pPr algn="l">
              <a:lnSpc>
                <a:spcPct val="100000"/>
              </a:lnSpc>
            </a:pPr>
            <a:r>
              <a:rPr sz="1250" b="0">
                <a:solidFill>
                  <a:srgbClr val="003262"/>
                </a:solidFill>
                <a:latin typeface="Arial"/>
              </a:rPr>
              <a:t>· which window is which</a:t>
            </a:r>
          </a:p>
          <a:p>
            <a:pPr algn="l">
              <a:lnSpc>
                <a:spcPct val="100000"/>
              </a:lnSpc>
            </a:pPr>
            <a:r>
              <a:rPr sz="1250" b="0">
                <a:solidFill>
                  <a:srgbClr val="003262"/>
                </a:solidFill>
                <a:latin typeface="Arial"/>
              </a:rPr>
              <a:t>· the answer (the label)</a:t>
            </a:r>
          </a:p>
          <a:p>
            <a:pPr algn="l">
              <a:lnSpc>
                <a:spcPct val="100000"/>
              </a:lnSpc>
            </a:pPr>
            <a:r>
              <a:rPr sz="1250" b="0">
                <a:solidFill>
                  <a:srgbClr val="003262"/>
                </a:solidFill>
                <a:latin typeface="Arial"/>
              </a:rPr>
              <a:t>· any news after the window ends</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It sees only headlines, tagged with a day offset and the month.</a:t>
            </a:r>
          </a:p>
        </p:txBody>
      </p:sp>
      <p:sp>
        <p:nvSpPr>
          <p:cNvPr id="39" name="Rectangle 38"/>
          <p:cNvSpPr/>
          <p:nvPr/>
        </p:nvSpPr>
        <p:spPr>
          <a:xfrm>
            <a:off x="365760" y="5870448"/>
            <a:ext cx="11457432" cy="5486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907024"/>
            <a:ext cx="11064240" cy="47548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Both methods run on these same windows, the same companies, and the same time split. The only thing that changes is how the news becomes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The Data</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2,673 large US deals and about 40,000 free news items and filings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3 · DATA</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3</a:t>
            </a:r>
          </a:p>
        </p:txBody>
      </p:sp>
      <p:sp>
        <p:nvSpPr>
          <p:cNvPr id="10" name="Rectangle 9"/>
          <p:cNvSpPr/>
          <p:nvPr/>
        </p:nvSpPr>
        <p:spPr>
          <a:xfrm>
            <a:off x="365760" y="1417320"/>
            <a:ext cx="2011680" cy="13258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481328"/>
            <a:ext cx="2011680" cy="566928"/>
          </a:xfrm>
          <a:prstGeom prst="rect">
            <a:avLst/>
          </a:prstGeom>
          <a:noFill/>
        </p:spPr>
        <p:txBody>
          <a:bodyPr wrap="square" anchor="t" lIns="45720" rIns="45720" tIns="22860" bIns="22860">
            <a:spAutoFit/>
          </a:bodyPr>
          <a:lstStyle/>
          <a:p>
            <a:pPr algn="ctr">
              <a:lnSpc>
                <a:spcPct val="100000"/>
              </a:lnSpc>
            </a:pPr>
            <a:r>
              <a:rPr sz="2500" b="1">
                <a:solidFill>
                  <a:srgbClr val="FDB515"/>
                </a:solidFill>
                <a:latin typeface="Arial"/>
              </a:rPr>
              <a:t>2,673</a:t>
            </a:r>
          </a:p>
        </p:txBody>
      </p:sp>
      <p:sp>
        <p:nvSpPr>
          <p:cNvPr id="12" name="TextBox 11"/>
          <p:cNvSpPr txBox="1"/>
          <p:nvPr/>
        </p:nvSpPr>
        <p:spPr>
          <a:xfrm>
            <a:off x="365760" y="2048256"/>
            <a:ext cx="2011680" cy="658368"/>
          </a:xfrm>
          <a:prstGeom prst="rect">
            <a:avLst/>
          </a:prstGeom>
          <a:noFill/>
        </p:spPr>
        <p:txBody>
          <a:bodyPr wrap="square" anchor="t" lIns="45720" rIns="45720" tIns="22860" bIns="22860">
            <a:spAutoFit/>
          </a:bodyPr>
          <a:lstStyle/>
          <a:p>
            <a:pPr algn="ctr">
              <a:lnSpc>
                <a:spcPct val="100000"/>
              </a:lnSpc>
            </a:pPr>
            <a:r>
              <a:rPr sz="1050" b="0">
                <a:solidFill>
                  <a:srgbClr val="FFFFFF"/>
                </a:solidFill>
                <a:latin typeface="Arial"/>
              </a:rPr>
              <a:t>US deals</a:t>
            </a:r>
          </a:p>
          <a:p>
            <a:pPr algn="ctr">
              <a:lnSpc>
                <a:spcPct val="100000"/>
              </a:lnSpc>
            </a:pPr>
            <a:r>
              <a:rPr sz="1050" b="0">
                <a:solidFill>
                  <a:srgbClr val="FFFFFF"/>
                </a:solidFill>
                <a:latin typeface="Arial"/>
              </a:rPr>
              <a:t>$1B+, 2016-2026</a:t>
            </a:r>
          </a:p>
        </p:txBody>
      </p:sp>
      <p:sp>
        <p:nvSpPr>
          <p:cNvPr id="13" name="TextBox 12"/>
          <p:cNvSpPr txBox="1"/>
          <p:nvPr/>
        </p:nvSpPr>
        <p:spPr>
          <a:xfrm>
            <a:off x="2377440" y="1828800"/>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4" name="Rectangle 13"/>
          <p:cNvSpPr/>
          <p:nvPr/>
        </p:nvSpPr>
        <p:spPr>
          <a:xfrm>
            <a:off x="2761488" y="1417320"/>
            <a:ext cx="2011680" cy="132588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1488" y="1481328"/>
            <a:ext cx="2011680" cy="566928"/>
          </a:xfrm>
          <a:prstGeom prst="rect">
            <a:avLst/>
          </a:prstGeom>
          <a:noFill/>
        </p:spPr>
        <p:txBody>
          <a:bodyPr wrap="square" anchor="t" lIns="45720" rIns="45720" tIns="22860" bIns="22860">
            <a:spAutoFit/>
          </a:bodyPr>
          <a:lstStyle/>
          <a:p>
            <a:pPr algn="ctr">
              <a:lnSpc>
                <a:spcPct val="100000"/>
              </a:lnSpc>
            </a:pPr>
            <a:r>
              <a:rPr sz="2500" b="1">
                <a:solidFill>
                  <a:srgbClr val="FDB515"/>
                </a:solidFill>
                <a:latin typeface="Arial"/>
              </a:rPr>
              <a:t>~40k</a:t>
            </a:r>
          </a:p>
        </p:txBody>
      </p:sp>
      <p:sp>
        <p:nvSpPr>
          <p:cNvPr id="16" name="TextBox 15"/>
          <p:cNvSpPr txBox="1"/>
          <p:nvPr/>
        </p:nvSpPr>
        <p:spPr>
          <a:xfrm>
            <a:off x="2761488" y="2048256"/>
            <a:ext cx="2011680" cy="658368"/>
          </a:xfrm>
          <a:prstGeom prst="rect">
            <a:avLst/>
          </a:prstGeom>
          <a:noFill/>
        </p:spPr>
        <p:txBody>
          <a:bodyPr wrap="square" anchor="t" lIns="45720" rIns="45720" tIns="22860" bIns="22860">
            <a:spAutoFit/>
          </a:bodyPr>
          <a:lstStyle/>
          <a:p>
            <a:pPr algn="ctr">
              <a:lnSpc>
                <a:spcPct val="100000"/>
              </a:lnSpc>
            </a:pPr>
            <a:r>
              <a:rPr sz="1050" b="0">
                <a:solidFill>
                  <a:srgbClr val="FFFFFF"/>
                </a:solidFill>
                <a:latin typeface="Arial"/>
              </a:rPr>
              <a:t>news + filings</a:t>
            </a:r>
          </a:p>
          <a:p>
            <a:pPr algn="ctr">
              <a:lnSpc>
                <a:spcPct val="100000"/>
              </a:lnSpc>
            </a:pPr>
            <a:r>
              <a:rPr sz="1050" b="0">
                <a:solidFill>
                  <a:srgbClr val="FFFFFF"/>
                </a:solidFill>
                <a:latin typeface="Arial"/>
              </a:rPr>
              <a:t>collected free</a:t>
            </a:r>
          </a:p>
        </p:txBody>
      </p:sp>
      <p:sp>
        <p:nvSpPr>
          <p:cNvPr id="17" name="TextBox 16"/>
          <p:cNvSpPr txBox="1"/>
          <p:nvPr/>
        </p:nvSpPr>
        <p:spPr>
          <a:xfrm>
            <a:off x="4773168" y="1828800"/>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8" name="Rectangle 17"/>
          <p:cNvSpPr/>
          <p:nvPr/>
        </p:nvSpPr>
        <p:spPr>
          <a:xfrm>
            <a:off x="5157216" y="1417320"/>
            <a:ext cx="2011680" cy="13258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57216" y="1481328"/>
            <a:ext cx="2011680" cy="566928"/>
          </a:xfrm>
          <a:prstGeom prst="rect">
            <a:avLst/>
          </a:prstGeom>
          <a:noFill/>
        </p:spPr>
        <p:txBody>
          <a:bodyPr wrap="square" anchor="t" lIns="45720" rIns="45720" tIns="22860" bIns="22860">
            <a:spAutoFit/>
          </a:bodyPr>
          <a:lstStyle/>
          <a:p>
            <a:pPr algn="ctr">
              <a:lnSpc>
                <a:spcPct val="100000"/>
              </a:lnSpc>
            </a:pPr>
            <a:r>
              <a:rPr sz="2500" b="1">
                <a:solidFill>
                  <a:srgbClr val="FDB515"/>
                </a:solidFill>
                <a:latin typeface="Arial"/>
              </a:rPr>
              <a:t>1,156</a:t>
            </a:r>
          </a:p>
        </p:txBody>
      </p:sp>
      <p:sp>
        <p:nvSpPr>
          <p:cNvPr id="20" name="TextBox 19"/>
          <p:cNvSpPr txBox="1"/>
          <p:nvPr/>
        </p:nvSpPr>
        <p:spPr>
          <a:xfrm>
            <a:off x="5157216" y="2048256"/>
            <a:ext cx="2011680" cy="658368"/>
          </a:xfrm>
          <a:prstGeom prst="rect">
            <a:avLst/>
          </a:prstGeom>
          <a:noFill/>
        </p:spPr>
        <p:txBody>
          <a:bodyPr wrap="square" anchor="t" lIns="45720" rIns="45720" tIns="22860" bIns="22860">
            <a:spAutoFit/>
          </a:bodyPr>
          <a:lstStyle/>
          <a:p>
            <a:pPr algn="ctr">
              <a:lnSpc>
                <a:spcPct val="100000"/>
              </a:lnSpc>
            </a:pPr>
            <a:r>
              <a:rPr sz="1050" b="0">
                <a:solidFill>
                  <a:srgbClr val="FFFFFF"/>
                </a:solidFill>
                <a:latin typeface="Arial"/>
              </a:rPr>
              <a:t>companies with</a:t>
            </a:r>
          </a:p>
          <a:p>
            <a:pPr algn="ctr">
              <a:lnSpc>
                <a:spcPct val="100000"/>
              </a:lnSpc>
            </a:pPr>
            <a:r>
              <a:rPr sz="1050" b="0">
                <a:solidFill>
                  <a:srgbClr val="FFFFFF"/>
                </a:solidFill>
                <a:latin typeface="Arial"/>
              </a:rPr>
              <a:t>enough news</a:t>
            </a:r>
          </a:p>
        </p:txBody>
      </p:sp>
      <p:sp>
        <p:nvSpPr>
          <p:cNvPr id="21" name="TextBox 20"/>
          <p:cNvSpPr txBox="1"/>
          <p:nvPr/>
        </p:nvSpPr>
        <p:spPr>
          <a:xfrm>
            <a:off x="7168896" y="1828800"/>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22" name="Rectangle 21"/>
          <p:cNvSpPr/>
          <p:nvPr/>
        </p:nvSpPr>
        <p:spPr>
          <a:xfrm>
            <a:off x="7552944" y="1417320"/>
            <a:ext cx="2011680" cy="1325880"/>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52944" y="1481328"/>
            <a:ext cx="2011680" cy="566928"/>
          </a:xfrm>
          <a:prstGeom prst="rect">
            <a:avLst/>
          </a:prstGeom>
          <a:noFill/>
        </p:spPr>
        <p:txBody>
          <a:bodyPr wrap="square" anchor="t" lIns="45720" rIns="45720" tIns="22860" bIns="22860">
            <a:spAutoFit/>
          </a:bodyPr>
          <a:lstStyle/>
          <a:p>
            <a:pPr algn="ctr">
              <a:lnSpc>
                <a:spcPct val="100000"/>
              </a:lnSpc>
            </a:pPr>
            <a:r>
              <a:rPr sz="2500" b="1">
                <a:solidFill>
                  <a:srgbClr val="FDB515"/>
                </a:solidFill>
                <a:latin typeface="Arial"/>
              </a:rPr>
              <a:t>2,002</a:t>
            </a:r>
          </a:p>
        </p:txBody>
      </p:sp>
      <p:sp>
        <p:nvSpPr>
          <p:cNvPr id="24" name="TextBox 23"/>
          <p:cNvSpPr txBox="1"/>
          <p:nvPr/>
        </p:nvSpPr>
        <p:spPr>
          <a:xfrm>
            <a:off x="7552944" y="2048256"/>
            <a:ext cx="2011680" cy="658368"/>
          </a:xfrm>
          <a:prstGeom prst="rect">
            <a:avLst/>
          </a:prstGeom>
          <a:noFill/>
        </p:spPr>
        <p:txBody>
          <a:bodyPr wrap="square" anchor="t" lIns="45720" rIns="45720" tIns="22860" bIns="22860">
            <a:spAutoFit/>
          </a:bodyPr>
          <a:lstStyle/>
          <a:p>
            <a:pPr algn="ctr">
              <a:lnSpc>
                <a:spcPct val="100000"/>
              </a:lnSpc>
            </a:pPr>
            <a:r>
              <a:rPr sz="1050" b="0">
                <a:solidFill>
                  <a:srgbClr val="FFFFFF"/>
                </a:solidFill>
                <a:latin typeface="Arial"/>
              </a:rPr>
              <a:t>windows</a:t>
            </a:r>
          </a:p>
          <a:p>
            <a:pPr algn="ctr">
              <a:lnSpc>
                <a:spcPct val="100000"/>
              </a:lnSpc>
            </a:pPr>
            <a:r>
              <a:rPr sz="1050" b="0">
                <a:solidFill>
                  <a:srgbClr val="FFFFFF"/>
                </a:solidFill>
                <a:latin typeface="Arial"/>
              </a:rPr>
              <a:t>(run-up + quiet)</a:t>
            </a:r>
          </a:p>
        </p:txBody>
      </p:sp>
      <p:sp>
        <p:nvSpPr>
          <p:cNvPr id="25" name="TextBox 24"/>
          <p:cNvSpPr txBox="1"/>
          <p:nvPr/>
        </p:nvSpPr>
        <p:spPr>
          <a:xfrm>
            <a:off x="9564624" y="1828800"/>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26" name="Rectangle 25"/>
          <p:cNvSpPr/>
          <p:nvPr/>
        </p:nvSpPr>
        <p:spPr>
          <a:xfrm>
            <a:off x="9948672" y="1417320"/>
            <a:ext cx="2011680" cy="132588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48672" y="1481328"/>
            <a:ext cx="2011680" cy="566928"/>
          </a:xfrm>
          <a:prstGeom prst="rect">
            <a:avLst/>
          </a:prstGeom>
          <a:noFill/>
        </p:spPr>
        <p:txBody>
          <a:bodyPr wrap="square" anchor="t" lIns="45720" rIns="45720" tIns="22860" bIns="22860">
            <a:spAutoFit/>
          </a:bodyPr>
          <a:lstStyle/>
          <a:p>
            <a:pPr algn="ctr">
              <a:lnSpc>
                <a:spcPct val="100000"/>
              </a:lnSpc>
            </a:pPr>
            <a:r>
              <a:rPr sz="2500" b="1">
                <a:solidFill>
                  <a:srgbClr val="FDB515"/>
                </a:solidFill>
                <a:latin typeface="Arial"/>
              </a:rPr>
              <a:t>400</a:t>
            </a:r>
          </a:p>
        </p:txBody>
      </p:sp>
      <p:sp>
        <p:nvSpPr>
          <p:cNvPr id="28" name="TextBox 27"/>
          <p:cNvSpPr txBox="1"/>
          <p:nvPr/>
        </p:nvSpPr>
        <p:spPr>
          <a:xfrm>
            <a:off x="9948672" y="2048256"/>
            <a:ext cx="2011680" cy="658368"/>
          </a:xfrm>
          <a:prstGeom prst="rect">
            <a:avLst/>
          </a:prstGeom>
          <a:noFill/>
        </p:spPr>
        <p:txBody>
          <a:bodyPr wrap="square" anchor="t" lIns="45720" rIns="45720" tIns="22860" bIns="22860">
            <a:spAutoFit/>
          </a:bodyPr>
          <a:lstStyle/>
          <a:p>
            <a:pPr algn="ctr">
              <a:lnSpc>
                <a:spcPct val="100000"/>
              </a:lnSpc>
            </a:pPr>
            <a:r>
              <a:rPr sz="1050" b="0">
                <a:solidFill>
                  <a:srgbClr val="FFFFFF"/>
                </a:solidFill>
                <a:latin typeface="Arial"/>
              </a:rPr>
              <a:t>held back to</a:t>
            </a:r>
          </a:p>
          <a:p>
            <a:pPr algn="ctr">
              <a:lnSpc>
                <a:spcPct val="100000"/>
              </a:lnSpc>
            </a:pPr>
            <a:r>
              <a:rPr sz="1050" b="0">
                <a:solidFill>
                  <a:srgbClr val="FFFFFF"/>
                </a:solidFill>
                <a:latin typeface="Arial"/>
              </a:rPr>
              <a:t>test on</a:t>
            </a:r>
          </a:p>
        </p:txBody>
      </p:sp>
      <p:sp>
        <p:nvSpPr>
          <p:cNvPr id="29" name="Rectangle 28"/>
          <p:cNvSpPr/>
          <p:nvPr/>
        </p:nvSpPr>
        <p:spPr>
          <a:xfrm>
            <a:off x="365760" y="3154680"/>
            <a:ext cx="562356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1638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WHERE THE REST WENT</a:t>
            </a:r>
          </a:p>
        </p:txBody>
      </p:sp>
      <p:sp>
        <p:nvSpPr>
          <p:cNvPr id="31" name="Rectangle 30"/>
          <p:cNvSpPr/>
          <p:nvPr/>
        </p:nvSpPr>
        <p:spPr>
          <a:xfrm>
            <a:off x="365760" y="3538728"/>
            <a:ext cx="5623560" cy="21488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3611880"/>
            <a:ext cx="5477256" cy="200253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About a third of the deals had no free news at all. </a:t>
            </a:r>
            <a:r>
              <a:rPr sz="1250" b="0">
                <a:solidFill>
                  <a:srgbClr val="003262"/>
                </a:solidFill>
                <a:latin typeface="Arial"/>
              </a:rPr>
              <a:t>That is not a scraping bug. Looking through them, they are:</a:t>
            </a:r>
          </a:p>
          <a:p>
            <a:pPr algn="l">
              <a:lnSpc>
                <a:spcPct val="100000"/>
              </a:lnSpc>
            </a:pPr>
            <a:r>
              <a:rPr sz="1250" b="0">
                <a:solidFill>
                  <a:srgbClr val="003262"/>
                </a:solidFill>
                <a:latin typeface="Arial"/>
              </a:rPr>
              <a:t>· asset and carve-out sales (a portfolio of buildings, a business unit)</a:t>
            </a:r>
          </a:p>
          <a:p>
            <a:pPr algn="l">
              <a:lnSpc>
                <a:spcPct val="100000"/>
              </a:lnSpc>
            </a:pPr>
            <a:r>
              <a:rPr sz="1250" b="0">
                <a:solidFill>
                  <a:srgbClr val="003262"/>
                </a:solidFill>
                <a:latin typeface="Arial"/>
              </a:rPr>
              <a:t>· blank-cheque shells and SPACs</a:t>
            </a:r>
          </a:p>
          <a:p>
            <a:pPr algn="l">
              <a:lnSpc>
                <a:spcPct val="100000"/>
              </a:lnSpc>
            </a:pPr>
            <a:r>
              <a:rPr sz="1250" b="0">
                <a:solidFill>
                  <a:srgbClr val="003262"/>
                </a:solidFill>
                <a:latin typeface="Arial"/>
              </a:rPr>
              <a:t>· private or foreign targets the US press never covered</a:t>
            </a:r>
          </a:p>
        </p:txBody>
      </p:sp>
      <p:sp>
        <p:nvSpPr>
          <p:cNvPr id="33" name="Rectangle 32"/>
          <p:cNvSpPr/>
          <p:nvPr/>
        </p:nvSpPr>
        <p:spPr>
          <a:xfrm>
            <a:off x="6199632" y="3154680"/>
            <a:ext cx="5623560"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99632" y="31638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WHY ONLY $1B AND UP</a:t>
            </a:r>
          </a:p>
        </p:txBody>
      </p:sp>
      <p:sp>
        <p:nvSpPr>
          <p:cNvPr id="35" name="Rectangle 34"/>
          <p:cNvSpPr/>
          <p:nvPr/>
        </p:nvSpPr>
        <p:spPr>
          <a:xfrm>
            <a:off x="6199632" y="3538728"/>
            <a:ext cx="5623560" cy="21488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72784" y="3611880"/>
            <a:ext cx="5477256" cy="200253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On purpose, not for convenience. </a:t>
            </a:r>
            <a:r>
              <a:rPr sz="1250" b="0">
                <a:solidFill>
                  <a:srgbClr val="003262"/>
                </a:solidFill>
                <a:latin typeface="Arial"/>
              </a:rPr>
              <a:t>Big targets are almost always public, well-known companies. That is the only place free news coverage exists at all.</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Below $1B the news mostly is not there, so the question would be unanswerable rather than answered.</a:t>
            </a:r>
          </a:p>
        </p:txBody>
      </p:sp>
      <p:sp>
        <p:nvSpPr>
          <p:cNvPr id="37" name="Rectangle 36"/>
          <p:cNvSpPr/>
          <p:nvPr/>
        </p:nvSpPr>
        <p:spPr>
          <a:xfrm>
            <a:off x="365760" y="5870448"/>
            <a:ext cx="11457432" cy="5486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907024"/>
            <a:ext cx="11064240" cy="47548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Cost of the whole evidence base: $0 for news and filings, $2.10 for 4,450 LLM calls.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Two Ways to Read the Same News</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Classic NLP and an LLM, over one shared set of headlines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2 · METHOD</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4</a:t>
            </a:r>
          </a:p>
        </p:txBody>
      </p:sp>
      <p:sp>
        <p:nvSpPr>
          <p:cNvPr id="10" name="Rectangle 9"/>
          <p:cNvSpPr/>
          <p:nvPr/>
        </p:nvSpPr>
        <p:spPr>
          <a:xfrm>
            <a:off x="365760" y="1371600"/>
            <a:ext cx="2331720" cy="1417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435608"/>
            <a:ext cx="2331720" cy="1325880"/>
          </a:xfrm>
          <a:prstGeom prst="rect">
            <a:avLst/>
          </a:prstGeom>
          <a:noFill/>
        </p:spPr>
        <p:txBody>
          <a:bodyPr wrap="square" anchor="ctr" lIns="45720" rIns="45720" tIns="22860" bIns="22860">
            <a:spAutoFit/>
          </a:bodyPr>
          <a:lstStyle/>
          <a:p>
            <a:pPr algn="ctr">
              <a:lnSpc>
                <a:spcPct val="125000"/>
              </a:lnSpc>
            </a:pPr>
            <a:r>
              <a:rPr sz="1200" b="1">
                <a:solidFill>
                  <a:srgbClr val="FDB515"/>
                </a:solidFill>
                <a:latin typeface="Arial"/>
              </a:rPr>
              <a:t>SHARED INPUT</a:t>
            </a:r>
          </a:p>
          <a:p>
            <a:pPr algn="ctr">
              <a:lnSpc>
                <a:spcPct val="125000"/>
              </a:lnSpc>
            </a:pPr>
            <a:r>
              <a:rPr sz="1250" b="1">
                <a:solidFill>
                  <a:srgbClr val="FFFFFF"/>
                </a:solidFill>
                <a:latin typeface="Arial"/>
              </a:rPr>
              <a:t>1,156 companies</a:t>
            </a:r>
          </a:p>
          <a:p>
            <a:pPr algn="ctr">
              <a:lnSpc>
                <a:spcPct val="125000"/>
              </a:lnSpc>
            </a:pPr>
            <a:r>
              <a:rPr sz="1150" b="0">
                <a:solidFill>
                  <a:srgbClr val="D6E8F7"/>
                </a:solidFill>
                <a:latin typeface="Arial"/>
              </a:rPr>
              <a:t>x 2 windows</a:t>
            </a:r>
          </a:p>
          <a:p>
            <a:pPr algn="ctr">
              <a:lnSpc>
                <a:spcPct val="125000"/>
              </a:lnSpc>
            </a:pPr>
            <a:r>
              <a:rPr sz="1250" b="1">
                <a:solidFill>
                  <a:srgbClr val="FFFFFF"/>
                </a:solidFill>
                <a:latin typeface="Arial"/>
              </a:rPr>
              <a:t>= 2,002 rows</a:t>
            </a:r>
          </a:p>
          <a:p>
            <a:pPr algn="ctr">
              <a:lnSpc>
                <a:spcPct val="125000"/>
              </a:lnSpc>
            </a:pPr>
            <a:r>
              <a:rPr sz="1050" b="0">
                <a:solidFill>
                  <a:srgbClr val="D6E8F7"/>
                </a:solidFill>
                <a:latin typeface="Arial"/>
              </a:rPr>
              <a:t>cleaned headlines</a:t>
            </a:r>
          </a:p>
        </p:txBody>
      </p:sp>
      <p:sp>
        <p:nvSpPr>
          <p:cNvPr id="12" name="TextBox 11"/>
          <p:cNvSpPr txBox="1"/>
          <p:nvPr/>
        </p:nvSpPr>
        <p:spPr>
          <a:xfrm>
            <a:off x="2788920" y="1874519"/>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3" name="Rectangle 12"/>
          <p:cNvSpPr/>
          <p:nvPr/>
        </p:nvSpPr>
        <p:spPr>
          <a:xfrm>
            <a:off x="3291840" y="1371600"/>
            <a:ext cx="3977639" cy="64008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0" y="1399032"/>
            <a:ext cx="3977639" cy="585216"/>
          </a:xfrm>
          <a:prstGeom prst="rect">
            <a:avLst/>
          </a:prstGeom>
          <a:noFill/>
        </p:spPr>
        <p:txBody>
          <a:bodyPr wrap="square" anchor="ctr" lIns="45720" rIns="45720" tIns="22860" bIns="22860">
            <a:spAutoFit/>
          </a:bodyPr>
          <a:lstStyle/>
          <a:p>
            <a:pPr algn="ctr">
              <a:lnSpc>
                <a:spcPct val="100000"/>
              </a:lnSpc>
            </a:pPr>
            <a:r>
              <a:rPr sz="1400" b="1">
                <a:solidFill>
                  <a:srgbClr val="FFFFFF"/>
                </a:solidFill>
                <a:latin typeface="Arial"/>
              </a:rPr>
              <a:t>A. Classic NLP</a:t>
            </a:r>
          </a:p>
          <a:p>
            <a:pPr algn="ctr">
              <a:lnSpc>
                <a:spcPct val="100000"/>
              </a:lnSpc>
            </a:pPr>
            <a:r>
              <a:rPr sz="1100" b="0">
                <a:solidFill>
                  <a:srgbClr val="FFFFFF"/>
                </a:solidFill>
                <a:latin typeface="Arial"/>
              </a:rPr>
              <a:t>hand-built word statistics</a:t>
            </a:r>
          </a:p>
        </p:txBody>
      </p:sp>
      <p:sp>
        <p:nvSpPr>
          <p:cNvPr id="15" name="Rectangle 14"/>
          <p:cNvSpPr/>
          <p:nvPr/>
        </p:nvSpPr>
        <p:spPr>
          <a:xfrm>
            <a:off x="3291840" y="2011680"/>
            <a:ext cx="3977639" cy="7772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057400"/>
            <a:ext cx="3794760" cy="713232"/>
          </a:xfrm>
          <a:prstGeom prst="rect">
            <a:avLst/>
          </a:prstGeom>
          <a:noFill/>
        </p:spPr>
        <p:txBody>
          <a:bodyPr wrap="square" anchor="t" lIns="45720" rIns="45720" tIns="22860" bIns="22860">
            <a:spAutoFit/>
          </a:bodyPr>
          <a:lstStyle/>
          <a:p>
            <a:pPr algn="l">
              <a:lnSpc>
                <a:spcPct val="100000"/>
              </a:lnSpc>
            </a:pPr>
            <a:r>
              <a:rPr sz="1100" b="0">
                <a:solidFill>
                  <a:srgbClr val="003262"/>
                </a:solidFill>
                <a:latin typeface="Arial"/>
              </a:rPr>
              <a:t>VADER + FinBERT tone · M&amp;A keyword counts · distinctive terms · topics · volume · filing mix</a:t>
            </a:r>
          </a:p>
        </p:txBody>
      </p:sp>
      <p:sp>
        <p:nvSpPr>
          <p:cNvPr id="17" name="Rectangle 16"/>
          <p:cNvSpPr/>
          <p:nvPr/>
        </p:nvSpPr>
        <p:spPr>
          <a:xfrm>
            <a:off x="7863840" y="1371600"/>
            <a:ext cx="3959352" cy="640080"/>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1399032"/>
            <a:ext cx="3959352" cy="585216"/>
          </a:xfrm>
          <a:prstGeom prst="rect">
            <a:avLst/>
          </a:prstGeom>
          <a:noFill/>
        </p:spPr>
        <p:txBody>
          <a:bodyPr wrap="square" anchor="ctr" lIns="45720" rIns="45720" tIns="22860" bIns="22860">
            <a:spAutoFit/>
          </a:bodyPr>
          <a:lstStyle/>
          <a:p>
            <a:pPr algn="ctr">
              <a:lnSpc>
                <a:spcPct val="100000"/>
              </a:lnSpc>
            </a:pPr>
            <a:r>
              <a:rPr sz="1400" b="1">
                <a:solidFill>
                  <a:srgbClr val="FFFFFF"/>
                </a:solidFill>
                <a:latin typeface="Arial"/>
              </a:rPr>
              <a:t>B. The LLM</a:t>
            </a:r>
          </a:p>
          <a:p>
            <a:pPr algn="ctr">
              <a:lnSpc>
                <a:spcPct val="100000"/>
              </a:lnSpc>
            </a:pPr>
            <a:r>
              <a:rPr sz="1050" b="0">
                <a:solidFill>
                  <a:srgbClr val="FFFFFF"/>
                </a:solidFill>
                <a:latin typeface="Arial"/>
              </a:rPr>
              <a:t>one call per window (openai/gpt-4o-mini)</a:t>
            </a:r>
          </a:p>
        </p:txBody>
      </p:sp>
      <p:sp>
        <p:nvSpPr>
          <p:cNvPr id="19" name="Rectangle 18"/>
          <p:cNvSpPr/>
          <p:nvPr/>
        </p:nvSpPr>
        <p:spPr>
          <a:xfrm>
            <a:off x="7863840" y="2011680"/>
            <a:ext cx="3959352" cy="7772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79" y="2057400"/>
            <a:ext cx="3776472" cy="713232"/>
          </a:xfrm>
          <a:prstGeom prst="rect">
            <a:avLst/>
          </a:prstGeom>
          <a:noFill/>
        </p:spPr>
        <p:txBody>
          <a:bodyPr wrap="square" anchor="t" lIns="45720" rIns="45720" tIns="22860" bIns="22860">
            <a:spAutoFit/>
          </a:bodyPr>
          <a:lstStyle/>
          <a:p>
            <a:pPr algn="l">
              <a:lnSpc>
                <a:spcPct val="100000"/>
              </a:lnSpc>
            </a:pPr>
            <a:r>
              <a:rPr sz="1100" b="0">
                <a:solidFill>
                  <a:srgbClr val="003262"/>
                </a:solidFill>
                <a:latin typeface="Arial"/>
              </a:rPr>
              <a:t>ten takeover warning signs (0 to 10) · an overall takeover score (0 to 100) · short evidence quotes</a:t>
            </a:r>
          </a:p>
        </p:txBody>
      </p:sp>
      <p:sp>
        <p:nvSpPr>
          <p:cNvPr id="21" name="Rectangle 20"/>
          <p:cNvSpPr/>
          <p:nvPr/>
        </p:nvSpPr>
        <p:spPr>
          <a:xfrm>
            <a:off x="3291840" y="3017520"/>
            <a:ext cx="8531352" cy="54864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3044952"/>
            <a:ext cx="8531352" cy="493776"/>
          </a:xfrm>
          <a:prstGeom prst="rect">
            <a:avLst/>
          </a:prstGeom>
          <a:noFill/>
        </p:spPr>
        <p:txBody>
          <a:bodyPr wrap="square" anchor="ctr" lIns="45720" rIns="45720" tIns="22860" bIns="22860">
            <a:spAutoFit/>
          </a:bodyPr>
          <a:lstStyle/>
          <a:p>
            <a:pPr algn="ctr">
              <a:lnSpc>
                <a:spcPct val="100000"/>
              </a:lnSpc>
            </a:pPr>
            <a:r>
              <a:rPr sz="1400" b="1">
                <a:solidFill>
                  <a:srgbClr val="FFFFFF"/>
                </a:solidFill>
                <a:latin typeface="Arial"/>
              </a:rPr>
              <a:t>C. Both sets together</a:t>
            </a:r>
          </a:p>
        </p:txBody>
      </p:sp>
      <p:sp>
        <p:nvSpPr>
          <p:cNvPr id="23" name="Rectangle 22"/>
          <p:cNvSpPr/>
          <p:nvPr/>
        </p:nvSpPr>
        <p:spPr>
          <a:xfrm>
            <a:off x="365760" y="3749039"/>
            <a:ext cx="562356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58183"/>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IDENTICAL AFTER THAT</a:t>
            </a:r>
          </a:p>
        </p:txBody>
      </p:sp>
      <p:sp>
        <p:nvSpPr>
          <p:cNvPr id="25" name="Rectangle 24"/>
          <p:cNvSpPr/>
          <p:nvPr/>
        </p:nvSpPr>
        <p:spPr>
          <a:xfrm>
            <a:off x="365760" y="4133087"/>
            <a:ext cx="5623560" cy="178308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4206239"/>
            <a:ext cx="5477256" cy="1636776"/>
          </a:xfrm>
          <a:prstGeom prst="rect">
            <a:avLst/>
          </a:prstGeom>
          <a:noFill/>
        </p:spPr>
        <p:txBody>
          <a:bodyPr wrap="square" anchor="t" lIns="45720" rIns="45720" tIns="22860" bIns="22860">
            <a:spAutoFit/>
          </a:bodyPr>
          <a:lstStyle/>
          <a:p>
            <a:pPr algn="l">
              <a:lnSpc>
                <a:spcPct val="100000"/>
              </a:lnSpc>
            </a:pPr>
            <a:r>
              <a:rPr sz="1250" b="0">
                <a:solidFill>
                  <a:srgbClr val="003262"/>
                </a:solidFill>
                <a:latin typeface="Arial"/>
              </a:rPr>
              <a:t>· top 16 features, picked on the training data only</a:t>
            </a:r>
          </a:p>
          <a:p>
            <a:pPr algn="l">
              <a:lnSpc>
                <a:spcPct val="100000"/>
              </a:lnSpc>
            </a:pPr>
            <a:r>
              <a:rPr sz="1250" b="0">
                <a:solidFill>
                  <a:srgbClr val="003262"/>
                </a:solidFill>
                <a:latin typeface="Arial"/>
              </a:rPr>
              <a:t>· same three models (logistic regression, random forest, gradient boosting)</a:t>
            </a:r>
          </a:p>
          <a:p>
            <a:pPr algn="l">
              <a:lnSpc>
                <a:spcPct val="100000"/>
              </a:lnSpc>
            </a:pPr>
            <a:r>
              <a:rPr sz="1250" b="0">
                <a:solidFill>
                  <a:srgbClr val="003262"/>
                </a:solidFill>
                <a:latin typeface="Arial"/>
              </a:rPr>
              <a:t>· same time split, 400 rows held back</a:t>
            </a:r>
          </a:p>
          <a:p>
            <a:pPr algn="l">
              <a:lnSpc>
                <a:spcPct val="100000"/>
              </a:lnSpc>
            </a:pPr>
            <a:r>
              <a:rPr sz="1250" b="0">
                <a:solidFill>
                  <a:srgbClr val="003262"/>
                </a:solidFill>
                <a:latin typeface="Arial"/>
              </a:rPr>
              <a:t>· same bootstrap confidence intervals</a:t>
            </a:r>
          </a:p>
        </p:txBody>
      </p:sp>
      <p:sp>
        <p:nvSpPr>
          <p:cNvPr id="27" name="Rectangle 26"/>
          <p:cNvSpPr/>
          <p:nvPr/>
        </p:nvSpPr>
        <p:spPr>
          <a:xfrm>
            <a:off x="6199632" y="3749039"/>
            <a:ext cx="5623560"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3758183"/>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WHY THIS IS A FAIR TEST</a:t>
            </a:r>
          </a:p>
        </p:txBody>
      </p:sp>
      <p:sp>
        <p:nvSpPr>
          <p:cNvPr id="29" name="Rectangle 28"/>
          <p:cNvSpPr/>
          <p:nvPr/>
        </p:nvSpPr>
        <p:spPr>
          <a:xfrm>
            <a:off x="6199632" y="4133087"/>
            <a:ext cx="5623560" cy="178308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2784" y="4206239"/>
            <a:ext cx="5477256" cy="163677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Everything after the features is the same. </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So any gap in the scores comes from how the news was read, not from the data, the split, or the tuning. That is what makes the comparison mean something.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Pipeline A: Classic NLP in Detail</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The established baseline from weeks 2 to 4: four layers of hand-built text features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2 · METHOD</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5</a:t>
            </a:r>
          </a:p>
        </p:txBody>
      </p:sp>
      <p:sp>
        <p:nvSpPr>
          <p:cNvPr id="10" name="Rectangle 9"/>
          <p:cNvSpPr/>
          <p:nvPr/>
        </p:nvSpPr>
        <p:spPr>
          <a:xfrm>
            <a:off x="365760" y="1280160"/>
            <a:ext cx="2514600" cy="93268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53312"/>
            <a:ext cx="2514600" cy="822960"/>
          </a:xfrm>
          <a:prstGeom prst="rect">
            <a:avLst/>
          </a:prstGeom>
          <a:noFill/>
        </p:spPr>
        <p:txBody>
          <a:bodyPr wrap="square" anchor="ctr" lIns="45720" rIns="45720" tIns="22860" bIns="22860">
            <a:spAutoFit/>
          </a:bodyPr>
          <a:lstStyle/>
          <a:p>
            <a:pPr algn="ctr">
              <a:lnSpc>
                <a:spcPct val="112000"/>
              </a:lnSpc>
            </a:pPr>
            <a:r>
              <a:rPr sz="1300" b="1">
                <a:solidFill>
                  <a:srgbClr val="FDB515"/>
                </a:solidFill>
                <a:latin typeface="Arial"/>
              </a:rPr>
              <a:t>NEWS</a:t>
            </a:r>
          </a:p>
          <a:p>
            <a:pPr algn="ctr">
              <a:lnSpc>
                <a:spcPct val="112000"/>
              </a:lnSpc>
            </a:pPr>
            <a:r>
              <a:rPr sz="1150" b="0">
                <a:solidFill>
                  <a:srgbClr val="FFFFFF"/>
                </a:solidFill>
                <a:latin typeface="Arial"/>
              </a:rPr>
              <a:t>GDELT + SEC EDGAR</a:t>
            </a:r>
          </a:p>
        </p:txBody>
      </p:sp>
      <p:sp>
        <p:nvSpPr>
          <p:cNvPr id="12" name="TextBox 11"/>
          <p:cNvSpPr txBox="1"/>
          <p:nvPr/>
        </p:nvSpPr>
        <p:spPr>
          <a:xfrm>
            <a:off x="2880360" y="1444752"/>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3" name="Rectangle 12"/>
          <p:cNvSpPr/>
          <p:nvPr/>
        </p:nvSpPr>
        <p:spPr>
          <a:xfrm>
            <a:off x="3264408" y="1280160"/>
            <a:ext cx="2514600" cy="93268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4408" y="1353312"/>
            <a:ext cx="2514600" cy="822960"/>
          </a:xfrm>
          <a:prstGeom prst="rect">
            <a:avLst/>
          </a:prstGeom>
          <a:noFill/>
        </p:spPr>
        <p:txBody>
          <a:bodyPr wrap="square" anchor="ctr" lIns="45720" rIns="45720" tIns="22860" bIns="22860">
            <a:spAutoFit/>
          </a:bodyPr>
          <a:lstStyle/>
          <a:p>
            <a:pPr algn="ctr">
              <a:lnSpc>
                <a:spcPct val="112000"/>
              </a:lnSpc>
            </a:pPr>
            <a:r>
              <a:rPr sz="1300" b="1">
                <a:solidFill>
                  <a:srgbClr val="FDB515"/>
                </a:solidFill>
                <a:latin typeface="Arial"/>
              </a:rPr>
              <a:t>NLP LAYERS</a:t>
            </a:r>
          </a:p>
          <a:p>
            <a:pPr algn="ctr">
              <a:lnSpc>
                <a:spcPct val="112000"/>
              </a:lnSpc>
            </a:pPr>
            <a:r>
              <a:rPr sz="1150" b="0">
                <a:solidFill>
                  <a:srgbClr val="FFFFFF"/>
                </a:solidFill>
                <a:latin typeface="Arial"/>
              </a:rPr>
              <a:t>VADER · FinBERT</a:t>
            </a:r>
          </a:p>
          <a:p>
            <a:pPr algn="ctr">
              <a:lnSpc>
                <a:spcPct val="112000"/>
              </a:lnSpc>
            </a:pPr>
            <a:r>
              <a:rPr sz="1150" b="0">
                <a:solidFill>
                  <a:srgbClr val="FFFFFF"/>
                </a:solidFill>
                <a:latin typeface="Arial"/>
              </a:rPr>
              <a:t>log-odds · NMF</a:t>
            </a:r>
          </a:p>
        </p:txBody>
      </p:sp>
      <p:sp>
        <p:nvSpPr>
          <p:cNvPr id="15" name="TextBox 14"/>
          <p:cNvSpPr txBox="1"/>
          <p:nvPr/>
        </p:nvSpPr>
        <p:spPr>
          <a:xfrm>
            <a:off x="5779008" y="1444752"/>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6" name="Rectangle 15"/>
          <p:cNvSpPr/>
          <p:nvPr/>
        </p:nvSpPr>
        <p:spPr>
          <a:xfrm>
            <a:off x="6163056" y="1280160"/>
            <a:ext cx="2514600" cy="93268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63056" y="1353312"/>
            <a:ext cx="2514600" cy="822960"/>
          </a:xfrm>
          <a:prstGeom prst="rect">
            <a:avLst/>
          </a:prstGeom>
          <a:noFill/>
        </p:spPr>
        <p:txBody>
          <a:bodyPr wrap="square" anchor="ctr" lIns="45720" rIns="45720" tIns="22860" bIns="22860">
            <a:spAutoFit/>
          </a:bodyPr>
          <a:lstStyle/>
          <a:p>
            <a:pPr algn="ctr">
              <a:lnSpc>
                <a:spcPct val="112000"/>
              </a:lnSpc>
            </a:pPr>
            <a:r>
              <a:rPr sz="1300" b="1">
                <a:solidFill>
                  <a:srgbClr val="FDB515"/>
                </a:solidFill>
                <a:latin typeface="Arial"/>
              </a:rPr>
              <a:t>FEATURES</a:t>
            </a:r>
          </a:p>
          <a:p>
            <a:pPr algn="ctr">
              <a:lnSpc>
                <a:spcPct val="112000"/>
              </a:lnSpc>
            </a:pPr>
            <a:r>
              <a:rPr sz="1150" b="0">
                <a:solidFill>
                  <a:srgbClr val="FFFFFF"/>
                </a:solidFill>
                <a:latin typeface="Arial"/>
              </a:rPr>
              <a:t>28 per window</a:t>
            </a:r>
          </a:p>
        </p:txBody>
      </p:sp>
      <p:sp>
        <p:nvSpPr>
          <p:cNvPr id="18" name="TextBox 17"/>
          <p:cNvSpPr txBox="1"/>
          <p:nvPr/>
        </p:nvSpPr>
        <p:spPr>
          <a:xfrm>
            <a:off x="8677656" y="1444752"/>
            <a:ext cx="384048" cy="54864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&gt;</a:t>
            </a:r>
          </a:p>
        </p:txBody>
      </p:sp>
      <p:sp>
        <p:nvSpPr>
          <p:cNvPr id="19" name="Rectangle 18"/>
          <p:cNvSpPr/>
          <p:nvPr/>
        </p:nvSpPr>
        <p:spPr>
          <a:xfrm>
            <a:off x="9061704" y="1280160"/>
            <a:ext cx="2514600" cy="93268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61704" y="1353312"/>
            <a:ext cx="2514600" cy="822960"/>
          </a:xfrm>
          <a:prstGeom prst="rect">
            <a:avLst/>
          </a:prstGeom>
          <a:noFill/>
        </p:spPr>
        <p:txBody>
          <a:bodyPr wrap="square" anchor="ctr" lIns="45720" rIns="45720" tIns="22860" bIns="22860">
            <a:spAutoFit/>
          </a:bodyPr>
          <a:lstStyle/>
          <a:p>
            <a:pPr algn="ctr">
              <a:lnSpc>
                <a:spcPct val="112000"/>
              </a:lnSpc>
            </a:pPr>
            <a:r>
              <a:rPr sz="1300" b="1">
                <a:solidFill>
                  <a:srgbClr val="FDB515"/>
                </a:solidFill>
                <a:latin typeface="Arial"/>
              </a:rPr>
              <a:t>SAME MODELS</a:t>
            </a:r>
          </a:p>
          <a:p>
            <a:pPr algn="ctr">
              <a:lnSpc>
                <a:spcPct val="112000"/>
              </a:lnSpc>
            </a:pPr>
            <a:r>
              <a:rPr sz="1150" b="0">
                <a:solidFill>
                  <a:srgbClr val="FFFFFF"/>
                </a:solidFill>
                <a:latin typeface="Arial"/>
              </a:rPr>
              <a:t>LR · RF · GB</a:t>
            </a:r>
          </a:p>
        </p:txBody>
      </p:sp>
      <p:sp>
        <p:nvSpPr>
          <p:cNvPr id="21" name="Rectangle 20"/>
          <p:cNvSpPr/>
          <p:nvPr/>
        </p:nvSpPr>
        <p:spPr>
          <a:xfrm>
            <a:off x="365760" y="2697480"/>
            <a:ext cx="278892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706624"/>
            <a:ext cx="27889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VOLUME &amp; TONE</a:t>
            </a:r>
          </a:p>
        </p:txBody>
      </p:sp>
      <p:sp>
        <p:nvSpPr>
          <p:cNvPr id="23" name="Rectangle 22"/>
          <p:cNvSpPr/>
          <p:nvPr/>
        </p:nvSpPr>
        <p:spPr>
          <a:xfrm>
            <a:off x="365760" y="3081528"/>
            <a:ext cx="2788920" cy="23317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 y="3154680"/>
            <a:ext cx="2642616" cy="2185416"/>
          </a:xfrm>
          <a:prstGeom prst="rect">
            <a:avLst/>
          </a:prstGeom>
          <a:noFill/>
        </p:spPr>
        <p:txBody>
          <a:bodyPr wrap="square" anchor="t" lIns="45720" rIns="45720" tIns="22860" bIns="22860">
            <a:spAutoFit/>
          </a:bodyPr>
          <a:lstStyle/>
          <a:p>
            <a:pPr algn="l">
              <a:lnSpc>
                <a:spcPct val="100000"/>
              </a:lnSpc>
            </a:pPr>
            <a:r>
              <a:rPr sz="1150" b="0">
                <a:solidFill>
                  <a:srgbClr val="003262"/>
                </a:solidFill>
                <a:latin typeface="Arial"/>
              </a:rPr>
              <a:t>- article counts, articles per day</a:t>
            </a:r>
          </a:p>
          <a:p>
            <a:pPr algn="l">
              <a:lnSpc>
                <a:spcPct val="100000"/>
              </a:lnSpc>
            </a:pPr>
            <a:r>
              <a:rPr sz="1150" b="0">
                <a:solidFill>
                  <a:srgbClr val="003262"/>
                </a:solidFill>
                <a:latin typeface="Arial"/>
              </a:rPr>
              <a:t>- VADER tone: average, spread, extremes</a:t>
            </a:r>
          </a:p>
          <a:p>
            <a:pPr algn="l">
              <a:lnSpc>
                <a:spcPct val="100000"/>
              </a:lnSpc>
            </a:pPr>
            <a:r>
              <a:rPr sz="1150" b="0">
                <a:solidFill>
                  <a:srgbClr val="003262"/>
                </a:solidFill>
                <a:latin typeface="Arial"/>
              </a:rPr>
              <a:t>- positive / negative ratio</a:t>
            </a:r>
          </a:p>
          <a:p>
            <a:pPr algn="l">
              <a:lnSpc>
                <a:spcPct val="100000"/>
              </a:lnSpc>
            </a:pPr>
            <a:r>
              <a:rPr sz="1150" b="0">
                <a:solidFill>
                  <a:srgbClr val="003262"/>
                </a:solidFill>
                <a:latin typeface="Arial"/>
              </a:rPr>
              <a:t>- M&amp;A keyword hits</a:t>
            </a:r>
          </a:p>
        </p:txBody>
      </p:sp>
      <p:sp>
        <p:nvSpPr>
          <p:cNvPr id="25" name="Rectangle 24"/>
          <p:cNvSpPr/>
          <p:nvPr/>
        </p:nvSpPr>
        <p:spPr>
          <a:xfrm>
            <a:off x="3273552" y="2697480"/>
            <a:ext cx="278892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73552" y="2706624"/>
            <a:ext cx="27889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FINBERT</a:t>
            </a:r>
          </a:p>
        </p:txBody>
      </p:sp>
      <p:sp>
        <p:nvSpPr>
          <p:cNvPr id="27" name="Rectangle 26"/>
          <p:cNvSpPr/>
          <p:nvPr/>
        </p:nvSpPr>
        <p:spPr>
          <a:xfrm>
            <a:off x="3273552" y="3081528"/>
            <a:ext cx="2788920" cy="23317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46704" y="3154680"/>
            <a:ext cx="2642616" cy="2185416"/>
          </a:xfrm>
          <a:prstGeom prst="rect">
            <a:avLst/>
          </a:prstGeom>
          <a:noFill/>
        </p:spPr>
        <p:txBody>
          <a:bodyPr wrap="square" anchor="t" lIns="45720" rIns="45720" tIns="22860" bIns="22860">
            <a:spAutoFit/>
          </a:bodyPr>
          <a:lstStyle/>
          <a:p>
            <a:pPr algn="l">
              <a:lnSpc>
                <a:spcPct val="100000"/>
              </a:lnSpc>
            </a:pPr>
            <a:r>
              <a:rPr sz="1150" b="0">
                <a:solidFill>
                  <a:srgbClr val="003262"/>
                </a:solidFill>
                <a:latin typeface="Arial"/>
              </a:rPr>
              <a:t>- finance-tuned sentiment model</a:t>
            </a:r>
          </a:p>
          <a:p>
            <a:pPr algn="l">
              <a:lnSpc>
                <a:spcPct val="100000"/>
              </a:lnSpc>
            </a:pPr>
            <a:r>
              <a:rPr sz="1150" b="0">
                <a:solidFill>
                  <a:srgbClr val="003262"/>
                </a:solidFill>
                <a:latin typeface="Arial"/>
              </a:rPr>
              <a:t>- P(positive) / P(negative)</a:t>
            </a:r>
          </a:p>
          <a:p>
            <a:pPr algn="l">
              <a:lnSpc>
                <a:spcPct val="100000"/>
              </a:lnSpc>
            </a:pPr>
            <a:r>
              <a:rPr sz="1150" b="0">
                <a:solidFill>
                  <a:srgbClr val="003262"/>
                </a:solidFill>
                <a:latin typeface="Arial"/>
              </a:rPr>
              <a:t>- net finance tone per window</a:t>
            </a:r>
          </a:p>
          <a:p>
            <a:pPr algn="l">
              <a:lnSpc>
                <a:spcPct val="100000"/>
              </a:lnSpc>
            </a:pPr>
            <a:r>
              <a:rPr sz="1150" b="0">
                <a:solidFill>
                  <a:srgbClr val="003262"/>
                </a:solidFill>
                <a:latin typeface="Arial"/>
              </a:rPr>
              <a:t>- reads 'rejected bid' vs 'agreed deal'</a:t>
            </a:r>
          </a:p>
        </p:txBody>
      </p:sp>
      <p:sp>
        <p:nvSpPr>
          <p:cNvPr id="29" name="Rectangle 28"/>
          <p:cNvSpPr/>
          <p:nvPr/>
        </p:nvSpPr>
        <p:spPr>
          <a:xfrm>
            <a:off x="6181344" y="2697480"/>
            <a:ext cx="27889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81344" y="2706624"/>
            <a:ext cx="27889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DISTINCTIVE TERMS</a:t>
            </a:r>
          </a:p>
        </p:txBody>
      </p:sp>
      <p:sp>
        <p:nvSpPr>
          <p:cNvPr id="31" name="Rectangle 30"/>
          <p:cNvSpPr/>
          <p:nvPr/>
        </p:nvSpPr>
        <p:spPr>
          <a:xfrm>
            <a:off x="6181344" y="3081528"/>
            <a:ext cx="2788920" cy="23317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54496" y="3154680"/>
            <a:ext cx="2642616" cy="2185416"/>
          </a:xfrm>
          <a:prstGeom prst="rect">
            <a:avLst/>
          </a:prstGeom>
          <a:noFill/>
        </p:spPr>
        <p:txBody>
          <a:bodyPr wrap="square" anchor="t" lIns="45720" rIns="45720" tIns="22860" bIns="22860">
            <a:spAutoFit/>
          </a:bodyPr>
          <a:lstStyle/>
          <a:p>
            <a:pPr algn="l">
              <a:lnSpc>
                <a:spcPct val="100000"/>
              </a:lnSpc>
            </a:pPr>
            <a:r>
              <a:rPr sz="1150" b="0">
                <a:solidFill>
                  <a:srgbClr val="003262"/>
                </a:solidFill>
                <a:latin typeface="Arial"/>
              </a:rPr>
              <a:t>- TF-IDF over the headlines</a:t>
            </a:r>
          </a:p>
          <a:p>
            <a:pPr algn="l">
              <a:lnSpc>
                <a:spcPct val="100000"/>
              </a:lnSpc>
            </a:pPr>
            <a:r>
              <a:rPr sz="1150" b="0">
                <a:solidFill>
                  <a:srgbClr val="003262"/>
                </a:solidFill>
                <a:latin typeface="Arial"/>
              </a:rPr>
              <a:t>- log-odds against the quiet windows</a:t>
            </a:r>
          </a:p>
          <a:p>
            <a:pPr algn="l">
              <a:lnSpc>
                <a:spcPct val="100000"/>
              </a:lnSpc>
            </a:pPr>
            <a:r>
              <a:rPr sz="1150" b="0">
                <a:solidFill>
                  <a:srgbClr val="003262"/>
                </a:solidFill>
                <a:latin typeface="Arial"/>
              </a:rPr>
              <a:t>- company names masked out first</a:t>
            </a:r>
          </a:p>
          <a:p>
            <a:pPr algn="l">
              <a:lnSpc>
                <a:spcPct val="100000"/>
              </a:lnSpc>
            </a:pPr>
            <a:r>
              <a:rPr sz="1150" b="0">
                <a:solidFill>
                  <a:srgbClr val="003262"/>
                </a:solidFill>
                <a:latin typeface="Arial"/>
              </a:rPr>
              <a:t>- terms that separate the two windows</a:t>
            </a:r>
          </a:p>
        </p:txBody>
      </p:sp>
      <p:sp>
        <p:nvSpPr>
          <p:cNvPr id="33" name="Rectangle 32"/>
          <p:cNvSpPr/>
          <p:nvPr/>
        </p:nvSpPr>
        <p:spPr>
          <a:xfrm>
            <a:off x="9089136" y="2697480"/>
            <a:ext cx="27889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89136" y="2706624"/>
            <a:ext cx="27889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TOPICS &amp; STRUCTURE</a:t>
            </a:r>
          </a:p>
        </p:txBody>
      </p:sp>
      <p:sp>
        <p:nvSpPr>
          <p:cNvPr id="35" name="Rectangle 34"/>
          <p:cNvSpPr/>
          <p:nvPr/>
        </p:nvSpPr>
        <p:spPr>
          <a:xfrm>
            <a:off x="9089136" y="3081528"/>
            <a:ext cx="2788920" cy="23317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62288" y="3154680"/>
            <a:ext cx="2642616" cy="2185416"/>
          </a:xfrm>
          <a:prstGeom prst="rect">
            <a:avLst/>
          </a:prstGeom>
          <a:noFill/>
        </p:spPr>
        <p:txBody>
          <a:bodyPr wrap="square" anchor="t" lIns="45720" rIns="45720" tIns="22860" bIns="22860">
            <a:spAutoFit/>
          </a:bodyPr>
          <a:lstStyle/>
          <a:p>
            <a:pPr algn="l">
              <a:lnSpc>
                <a:spcPct val="100000"/>
              </a:lnSpc>
            </a:pPr>
            <a:r>
              <a:rPr sz="1150" b="0">
                <a:solidFill>
                  <a:srgbClr val="003262"/>
                </a:solidFill>
                <a:latin typeface="Arial"/>
              </a:rPr>
              <a:t>- NMF topic model, 8 topics</a:t>
            </a:r>
          </a:p>
          <a:p>
            <a:pPr algn="l">
              <a:lnSpc>
                <a:spcPct val="100000"/>
              </a:lnSpc>
            </a:pPr>
            <a:r>
              <a:rPr sz="1150" b="0">
                <a:solidFill>
                  <a:srgbClr val="003262"/>
                </a:solidFill>
                <a:latin typeface="Arial"/>
              </a:rPr>
              <a:t>- topic weights per window</a:t>
            </a:r>
          </a:p>
          <a:p>
            <a:pPr algn="l">
              <a:lnSpc>
                <a:spcPct val="100000"/>
              </a:lnSpc>
            </a:pPr>
            <a:r>
              <a:rPr sz="1150" b="0">
                <a:solidFill>
                  <a:srgbClr val="003262"/>
                </a:solidFill>
                <a:latin typeface="Arial"/>
              </a:rPr>
              <a:t>- price momentum joins</a:t>
            </a:r>
          </a:p>
          <a:p>
            <a:pPr algn="l">
              <a:lnSpc>
                <a:spcPct val="100000"/>
              </a:lnSpc>
            </a:pPr>
            <a:r>
              <a:rPr sz="1150" b="0">
                <a:solidFill>
                  <a:srgbClr val="003262"/>
                </a:solidFill>
                <a:latin typeface="Arial"/>
              </a:rPr>
              <a:t>- the mix of SEC filing types</a:t>
            </a:r>
          </a:p>
        </p:txBody>
      </p:sp>
      <p:sp>
        <p:nvSpPr>
          <p:cNvPr id="37" name="Rectangle 36"/>
          <p:cNvSpPr/>
          <p:nvPr/>
        </p:nvSpPr>
        <p:spPr>
          <a:xfrm>
            <a:off x="365760" y="5870448"/>
            <a:ext cx="11457432" cy="5486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907024"/>
            <a:ext cx="11064240" cy="47548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Twenty-eight features per window in all. They feed the exact same models and split as the LLM, so the two pipelines are judged on equal footing.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Pipeline B: The LLM Call</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One call per window: fixed instructions, plus that window's headlines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2 · METHOD</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6</a:t>
            </a:r>
          </a:p>
        </p:txBody>
      </p:sp>
      <p:sp>
        <p:nvSpPr>
          <p:cNvPr id="10" name="TextBox 9"/>
          <p:cNvSpPr txBox="1"/>
          <p:nvPr/>
        </p:nvSpPr>
        <p:spPr>
          <a:xfrm>
            <a:off x="365760" y="1188720"/>
            <a:ext cx="11430000" cy="365760"/>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The model sees the headlines and nothing else. </a:t>
            </a:r>
            <a:r>
              <a:rPr sz="1250" b="0">
                <a:solidFill>
                  <a:srgbClr val="606A75"/>
                </a:solidFill>
                <a:latin typeface="Arial"/>
              </a:rPr>
              <a:t>Not the date, not which window it is, not the outcome.</a:t>
            </a:r>
          </a:p>
        </p:txBody>
      </p:sp>
      <p:sp>
        <p:nvSpPr>
          <p:cNvPr id="11" name="Rectangle 10"/>
          <p:cNvSpPr/>
          <p:nvPr/>
        </p:nvSpPr>
        <p:spPr>
          <a:xfrm>
            <a:off x="365760" y="1645920"/>
            <a:ext cx="5623560" cy="347472"/>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55064"/>
            <a:ext cx="5623560" cy="329184"/>
          </a:xfrm>
          <a:prstGeom prst="rect">
            <a:avLst/>
          </a:prstGeom>
          <a:noFill/>
        </p:spPr>
        <p:txBody>
          <a:bodyPr wrap="square" anchor="ctr" lIns="45720" rIns="45720" tIns="22860" bIns="22860">
            <a:spAutoFit/>
          </a:bodyPr>
          <a:lstStyle/>
          <a:p>
            <a:pPr algn="ctr">
              <a:lnSpc>
                <a:spcPct val="100000"/>
              </a:lnSpc>
            </a:pPr>
            <a:r>
              <a:rPr sz="1200" b="1">
                <a:solidFill>
                  <a:srgbClr val="FFFFFF"/>
                </a:solidFill>
                <a:latin typeface="Arial"/>
              </a:rPr>
              <a:t>WHAT GOES IN  ·  rules + this window's headlines</a:t>
            </a:r>
          </a:p>
        </p:txBody>
      </p:sp>
      <p:sp>
        <p:nvSpPr>
          <p:cNvPr id="13" name="Rectangle 12"/>
          <p:cNvSpPr/>
          <p:nvPr/>
        </p:nvSpPr>
        <p:spPr>
          <a:xfrm>
            <a:off x="365760" y="1993392"/>
            <a:ext cx="5623560" cy="3246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2066543"/>
            <a:ext cx="5394960" cy="3127248"/>
          </a:xfrm>
          <a:prstGeom prst="rect">
            <a:avLst/>
          </a:prstGeom>
          <a:noFill/>
        </p:spPr>
        <p:txBody>
          <a:bodyPr wrap="square" anchor="t" lIns="45720" rIns="45720" tIns="22860" bIns="22860">
            <a:spAutoFit/>
          </a:bodyPr>
          <a:lstStyle/>
          <a:p>
            <a:pPr algn="l">
              <a:lnSpc>
                <a:spcPct val="118000"/>
              </a:lnSpc>
            </a:pPr>
            <a:r>
              <a:rPr sz="1050" b="0">
                <a:solidFill>
                  <a:srgbClr val="003262"/>
                </a:solidFill>
                <a:latin typeface="Arial"/>
              </a:rPr>
              <a:t>Company: ANSYS</a:t>
            </a:r>
          </a:p>
          <a:p>
            <a:pPr algn="l">
              <a:lnSpc>
                <a:spcPct val="118000"/>
              </a:lnSpc>
            </a:pPr>
            <a:r>
              <a:rPr sz="1050" b="0">
                <a:solidFill>
                  <a:srgbClr val="003262"/>
                </a:solidFill>
                <a:latin typeface="Arial"/>
              </a:rPr>
              <a:t>Period: ~90 days ending 2024-01</a:t>
            </a:r>
          </a:p>
          <a:p>
            <a:pPr algn="l">
              <a:lnSpc>
                <a:spcPct val="118000"/>
              </a:lnSpc>
            </a:pPr>
            <a:r>
              <a:rPr sz="1050" b="0">
                <a:solidFill>
                  <a:srgbClr val="003262"/>
                </a:solidFill>
                <a:latin typeface="Arial"/>
              </a:rPr>
              <a:t>SEC filings during the period: 8-K x3</a:t>
            </a:r>
          </a:p>
          <a:p>
            <a:pPr algn="l">
              <a:lnSpc>
                <a:spcPct val="118000"/>
              </a:lnSpc>
            </a:pPr>
          </a:p>
          <a:p>
            <a:pPr algn="l">
              <a:lnSpc>
                <a:spcPct val="118000"/>
              </a:lnSpc>
            </a:pPr>
            <a:r>
              <a:rPr sz="1050" b="0">
                <a:solidFill>
                  <a:srgbClr val="003262"/>
                </a:solidFill>
                <a:latin typeface="Arial"/>
              </a:rPr>
              <a:t>Headlines (40 of 40 kept after spam filtering, chronological; </a:t>
            </a:r>
          </a:p>
          <a:p>
            <a:pPr algn="l">
              <a:lnSpc>
                <a:spcPct val="118000"/>
              </a:lnSpc>
            </a:pPr>
            <a:r>
              <a:rPr sz="1050" b="0">
                <a:solidFill>
                  <a:srgbClr val="003262"/>
                </a:solidFill>
                <a:latin typeface="Arial"/>
              </a:rPr>
              <a:t>[d72] S &amp; P 500 Gains and Losses Today : Nike Warns of Soft Sa</a:t>
            </a:r>
          </a:p>
          <a:p>
            <a:pPr algn="l">
              <a:lnSpc>
                <a:spcPct val="118000"/>
              </a:lnSpc>
            </a:pPr>
            <a:r>
              <a:rPr sz="1050" b="0">
                <a:solidFill>
                  <a:srgbClr val="003262"/>
                </a:solidFill>
                <a:latin typeface="Arial"/>
              </a:rPr>
              <a:t>[d72] Stocks meander into Christmas after cool PCE - Newsquawk</a:t>
            </a:r>
          </a:p>
          <a:p>
            <a:pPr algn="l">
              <a:lnSpc>
                <a:spcPct val="118000"/>
              </a:lnSpc>
            </a:pPr>
            <a:r>
              <a:rPr sz="1050" b="0">
                <a:solidFill>
                  <a:srgbClr val="003262"/>
                </a:solidFill>
                <a:latin typeface="Arial"/>
              </a:rPr>
              <a:t>[d72] Ansys Shares Climb 17 % After Reports of Possible Sale (</a:t>
            </a:r>
          </a:p>
          <a:p>
            <a:pPr algn="l">
              <a:lnSpc>
                <a:spcPct val="118000"/>
              </a:lnSpc>
            </a:pPr>
            <a:r>
              <a:rPr sz="1050" b="0">
                <a:solidFill>
                  <a:srgbClr val="003262"/>
                </a:solidFill>
                <a:latin typeface="Arial"/>
              </a:rPr>
              <a:t>[d72] Why AAR Shares Are Trading Lower By 7 %? Here Are Other </a:t>
            </a:r>
          </a:p>
          <a:p>
            <a:pPr algn="l">
              <a:lnSpc>
                <a:spcPct val="118000"/>
              </a:lnSpc>
            </a:pPr>
            <a:r>
              <a:rPr sz="1050" b="0">
                <a:solidFill>
                  <a:srgbClr val="003262"/>
                </a:solidFill>
                <a:latin typeface="Arial"/>
              </a:rPr>
              <a:t>[d73] Tech Giants In Talks : Synopsys Reportedly Aims For Bloc</a:t>
            </a:r>
          </a:p>
          <a:p>
            <a:pPr algn="l">
              <a:lnSpc>
                <a:spcPct val="118000"/>
              </a:lnSpc>
            </a:pPr>
            <a:r>
              <a:rPr sz="1050" b="0">
                <a:solidFill>
                  <a:srgbClr val="003262"/>
                </a:solidFill>
                <a:latin typeface="Arial"/>
              </a:rPr>
              <a:t>[d73] Synopsys To Acquire Engineering Software Firm Ansys (bus</a:t>
            </a:r>
          </a:p>
          <a:p>
            <a:pPr algn="l">
              <a:lnSpc>
                <a:spcPct val="118000"/>
              </a:lnSpc>
            </a:pPr>
            <a:r>
              <a:rPr sz="1050" b="0">
                <a:solidFill>
                  <a:srgbClr val="003262"/>
                </a:solidFill>
                <a:latin typeface="Arial"/>
              </a:rPr>
              <a:t>[d73] Synopsys and Ansys in talks to merge : report (biztoc.co</a:t>
            </a:r>
          </a:p>
          <a:p>
            <a:pPr algn="l">
              <a:lnSpc>
                <a:spcPct val="118000"/>
              </a:lnSpc>
            </a:pPr>
            <a:r>
              <a:rPr sz="1050" b="0">
                <a:solidFill>
                  <a:srgbClr val="003262"/>
                </a:solidFill>
                <a:latin typeface="Arial"/>
              </a:rPr>
              <a:t>[d73] Synopsys Submits Offer to Acquire Ansys (marketscreener.</a:t>
            </a:r>
          </a:p>
          <a:p>
            <a:pPr algn="l">
              <a:lnSpc>
                <a:spcPct val="118000"/>
              </a:lnSpc>
            </a:pPr>
            <a:r>
              <a:rPr sz="1050" b="0">
                <a:solidFill>
                  <a:srgbClr val="003262"/>
                </a:solidFill>
                <a:latin typeface="Arial"/>
              </a:rPr>
              <a:t>[d73] Ansys explores sale amid takeover interest - sources (ke</a:t>
            </a:r>
          </a:p>
        </p:txBody>
      </p:sp>
      <p:sp>
        <p:nvSpPr>
          <p:cNvPr id="15" name="Rectangle 14"/>
          <p:cNvSpPr/>
          <p:nvPr/>
        </p:nvSpPr>
        <p:spPr>
          <a:xfrm>
            <a:off x="6199632" y="1645920"/>
            <a:ext cx="5623560" cy="347472"/>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9632" y="1655064"/>
            <a:ext cx="5623560" cy="329184"/>
          </a:xfrm>
          <a:prstGeom prst="rect">
            <a:avLst/>
          </a:prstGeom>
          <a:noFill/>
        </p:spPr>
        <p:txBody>
          <a:bodyPr wrap="square" anchor="ctr" lIns="45720" rIns="45720" tIns="22860" bIns="22860">
            <a:spAutoFit/>
          </a:bodyPr>
          <a:lstStyle/>
          <a:p>
            <a:pPr algn="ctr">
              <a:lnSpc>
                <a:spcPct val="100000"/>
              </a:lnSpc>
            </a:pPr>
            <a:r>
              <a:rPr sz="1200" b="1">
                <a:solidFill>
                  <a:srgbClr val="FFFFFF"/>
                </a:solidFill>
                <a:latin typeface="Arial"/>
              </a:rPr>
              <a:t>WHAT COMES BACK  ·  fixed-format JSON</a:t>
            </a:r>
          </a:p>
        </p:txBody>
      </p:sp>
      <p:sp>
        <p:nvSpPr>
          <p:cNvPr id="17" name="Rectangle 16"/>
          <p:cNvSpPr/>
          <p:nvPr/>
        </p:nvSpPr>
        <p:spPr>
          <a:xfrm>
            <a:off x="6199632" y="1993392"/>
            <a:ext cx="5623560" cy="3246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2066543"/>
            <a:ext cx="5394960" cy="3127248"/>
          </a:xfrm>
          <a:prstGeom prst="rect">
            <a:avLst/>
          </a:prstGeom>
          <a:noFill/>
        </p:spPr>
        <p:txBody>
          <a:bodyPr wrap="square" anchor="t" lIns="45720" rIns="45720" tIns="22860" bIns="22860">
            <a:spAutoFit/>
          </a:bodyPr>
          <a:lstStyle/>
          <a:p>
            <a:pPr algn="l">
              <a:lnSpc>
                <a:spcPct val="118000"/>
              </a:lnSpc>
            </a:pPr>
            <a:r>
              <a:rPr sz="1050" b="0">
                <a:solidFill>
                  <a:srgbClr val="003262"/>
                </a:solidFill>
                <a:latin typeface="Arial"/>
              </a:rPr>
              <a:t>{</a:t>
            </a:r>
          </a:p>
          <a:p>
            <a:pPr algn="l">
              <a:lnSpc>
                <a:spcPct val="118000"/>
              </a:lnSpc>
            </a:pPr>
            <a:r>
              <a:rPr sz="1050" b="0">
                <a:solidFill>
                  <a:srgbClr val="003262"/>
                </a:solidFill>
                <a:latin typeface="Arial"/>
              </a:rPr>
              <a:t> "ma_rumor_intensity": 10,</a:t>
            </a:r>
          </a:p>
          <a:p>
            <a:pPr algn="l">
              <a:lnSpc>
                <a:spcPct val="118000"/>
              </a:lnSpc>
            </a:pPr>
            <a:r>
              <a:rPr sz="1050" b="0">
                <a:solidFill>
                  <a:srgbClr val="003262"/>
                </a:solidFill>
                <a:latin typeface="Arial"/>
              </a:rPr>
              <a:t> "strategic_alternatives_review": 0,</a:t>
            </a:r>
          </a:p>
          <a:p>
            <a:pPr algn="l">
              <a:lnSpc>
                <a:spcPct val="118000"/>
              </a:lnSpc>
            </a:pPr>
            <a:r>
              <a:rPr sz="1050" b="0">
                <a:solidFill>
                  <a:srgbClr val="003262"/>
                </a:solidFill>
                <a:latin typeface="Arial"/>
              </a:rPr>
              <a:t> "activist_pressure": 0,</a:t>
            </a:r>
          </a:p>
          <a:p>
            <a:pPr algn="l">
              <a:lnSpc>
                <a:spcPct val="118000"/>
              </a:lnSpc>
            </a:pPr>
            <a:r>
              <a:rPr sz="1050" b="0">
                <a:solidFill>
                  <a:srgbClr val="003262"/>
                </a:solidFill>
                <a:latin typeface="Arial"/>
              </a:rPr>
              <a:t> "management_instability": 0,</a:t>
            </a:r>
          </a:p>
          <a:p>
            <a:pPr algn="l">
              <a:lnSpc>
                <a:spcPct val="118000"/>
              </a:lnSpc>
            </a:pPr>
            <a:r>
              <a:rPr sz="1050" b="0">
                <a:solidFill>
                  <a:srgbClr val="003262"/>
                </a:solidFill>
                <a:latin typeface="Arial"/>
              </a:rPr>
              <a:t> "financial_distress": 0,</a:t>
            </a:r>
          </a:p>
          <a:p>
            <a:pPr algn="l">
              <a:lnSpc>
                <a:spcPct val="118000"/>
              </a:lnSpc>
            </a:pPr>
            <a:r>
              <a:rPr sz="1050" b="0">
                <a:solidFill>
                  <a:srgbClr val="003262"/>
                </a:solidFill>
                <a:latin typeface="Arial"/>
              </a:rPr>
              <a:t> "acquisition_likelihood": 90,</a:t>
            </a:r>
          </a:p>
          <a:p>
            <a:pPr algn="l">
              <a:lnSpc>
                <a:spcPct val="118000"/>
              </a:lnSpc>
            </a:pPr>
            <a:r>
              <a:rPr sz="1050" b="0">
                <a:solidFill>
                  <a:srgbClr val="003262"/>
                </a:solidFill>
                <a:latin typeface="Arial"/>
              </a:rPr>
              <a:t> "dominant_theme": "ma_speculation",</a:t>
            </a:r>
          </a:p>
          <a:p>
            <a:pPr algn="l">
              <a:lnSpc>
                <a:spcPct val="118000"/>
              </a:lnSpc>
            </a:pPr>
            <a:r>
              <a:rPr sz="1050" b="0">
                <a:solidFill>
                  <a:srgbClr val="003262"/>
                </a:solidFill>
                <a:latin typeface="Arial"/>
              </a:rPr>
              <a:t> "recognized_company": true,</a:t>
            </a:r>
          </a:p>
          <a:p>
            <a:pPr algn="l">
              <a:lnSpc>
                <a:spcPct val="118000"/>
              </a:lnSpc>
            </a:pPr>
            <a:r>
              <a:rPr sz="1050" b="0">
                <a:solidFill>
                  <a:srgbClr val="003262"/>
                </a:solidFill>
                <a:latin typeface="Arial"/>
              </a:rPr>
              <a:t> "recognized_deal": true,</a:t>
            </a:r>
          </a:p>
          <a:p>
            <a:pPr algn="l">
              <a:lnSpc>
                <a:spcPct val="118000"/>
              </a:lnSpc>
            </a:pPr>
            <a:r>
              <a:rPr sz="1050" b="0">
                <a:solidFill>
                  <a:srgbClr val="003262"/>
                </a:solidFill>
                <a:latin typeface="Arial"/>
              </a:rPr>
              <a:t> "evidence_quotes": [</a:t>
            </a:r>
          </a:p>
          <a:p>
            <a:pPr algn="l">
              <a:lnSpc>
                <a:spcPct val="118000"/>
              </a:lnSpc>
            </a:pPr>
            <a:r>
              <a:rPr sz="1050" b="0">
                <a:solidFill>
                  <a:srgbClr val="003262"/>
                </a:solidFill>
                <a:latin typeface="Arial"/>
              </a:rPr>
              <a:t>  "Ansys Shares Climb 17 % After Reports of Possibl...",</a:t>
            </a:r>
          </a:p>
          <a:p>
            <a:pPr algn="l">
              <a:lnSpc>
                <a:spcPct val="118000"/>
              </a:lnSpc>
            </a:pPr>
            <a:r>
              <a:rPr sz="1050" b="0">
                <a:solidFill>
                  <a:srgbClr val="003262"/>
                </a:solidFill>
                <a:latin typeface="Arial"/>
              </a:rPr>
              <a:t>  "Synopsys Reportedly in Advanced Talks to Acquire..."</a:t>
            </a:r>
          </a:p>
          <a:p>
            <a:pPr algn="l">
              <a:lnSpc>
                <a:spcPct val="118000"/>
              </a:lnSpc>
            </a:pPr>
            <a:r>
              <a:rPr sz="1050" b="0">
                <a:solidFill>
                  <a:srgbClr val="003262"/>
                </a:solidFill>
                <a:latin typeface="Arial"/>
              </a:rPr>
              <a:t> ],</a:t>
            </a:r>
          </a:p>
          <a:p>
            <a:pPr algn="l">
              <a:lnSpc>
                <a:spcPct val="118000"/>
              </a:lnSpc>
            </a:pPr>
            <a:r>
              <a:rPr sz="1050" b="0">
                <a:solidFill>
                  <a:srgbClr val="003262"/>
                </a:solidFill>
                <a:latin typeface="Arial"/>
              </a:rPr>
              <a:t> "rationale": "The coverage primarily discusses potential ac</a:t>
            </a:r>
          </a:p>
          <a:p>
            <a:pPr algn="l">
              <a:lnSpc>
                <a:spcPct val="118000"/>
              </a:lnSpc>
            </a:pPr>
            <a:r>
              <a:rPr sz="1050" b="0">
                <a:solidFill>
                  <a:srgbClr val="003262"/>
                </a:solidFill>
                <a:latin typeface="Arial"/>
              </a:rPr>
              <a:t>}</a:t>
            </a:r>
          </a:p>
        </p:txBody>
      </p:sp>
      <p:sp>
        <p:nvSpPr>
          <p:cNvPr id="19" name="Rectangle 18"/>
          <p:cNvSpPr/>
          <p:nvPr/>
        </p:nvSpPr>
        <p:spPr>
          <a:xfrm>
            <a:off x="365760" y="5349240"/>
            <a:ext cx="11457432"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385816"/>
            <a:ext cx="11064240" cy="493776"/>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The format is enforced, so all 4,450 calls return the same 17 fields in the same shape. No parsing guesswork, no missing values to patch.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Result: Head to Head</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Best model for each method, same rows and split (2,002 windows, 400 test rows)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4 · RESULTS</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7</a:t>
            </a:r>
          </a:p>
        </p:txBody>
      </p:sp>
      <p:sp>
        <p:nvSpPr>
          <p:cNvPr id="10" name="Rectangle 9"/>
          <p:cNvSpPr/>
          <p:nvPr/>
        </p:nvSpPr>
        <p:spPr>
          <a:xfrm>
            <a:off x="365760" y="1298448"/>
            <a:ext cx="2788920" cy="329184"/>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298448"/>
            <a:ext cx="2697480" cy="329184"/>
          </a:xfrm>
          <a:prstGeom prst="rect">
            <a:avLst/>
          </a:prstGeom>
          <a:noFill/>
        </p:spPr>
        <p:txBody>
          <a:bodyPr wrap="square" anchor="ctr" lIns="45720" rIns="45720" tIns="22860" bIns="22860">
            <a:spAutoFit/>
          </a:bodyPr>
          <a:lstStyle/>
          <a:p>
            <a:pPr algn="l">
              <a:lnSpc>
                <a:spcPct val="100000"/>
              </a:lnSpc>
            </a:pPr>
            <a:r>
              <a:rPr sz="1200" b="1">
                <a:solidFill>
                  <a:srgbClr val="FFFFFF"/>
                </a:solidFill>
                <a:latin typeface="Arial"/>
              </a:rPr>
              <a:t>Method</a:t>
            </a:r>
          </a:p>
        </p:txBody>
      </p:sp>
      <p:sp>
        <p:nvSpPr>
          <p:cNvPr id="12" name="Rectangle 11"/>
          <p:cNvSpPr/>
          <p:nvPr/>
        </p:nvSpPr>
        <p:spPr>
          <a:xfrm>
            <a:off x="3154680" y="1298448"/>
            <a:ext cx="2514600" cy="329184"/>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1298448"/>
            <a:ext cx="2423160" cy="329184"/>
          </a:xfrm>
          <a:prstGeom prst="rect">
            <a:avLst/>
          </a:prstGeom>
          <a:noFill/>
        </p:spPr>
        <p:txBody>
          <a:bodyPr wrap="square" anchor="ctr" lIns="45720" rIns="45720" tIns="22860" bIns="22860">
            <a:spAutoFit/>
          </a:bodyPr>
          <a:lstStyle/>
          <a:p>
            <a:pPr algn="l">
              <a:lnSpc>
                <a:spcPct val="100000"/>
              </a:lnSpc>
            </a:pPr>
            <a:r>
              <a:rPr sz="1200" b="1">
                <a:solidFill>
                  <a:srgbClr val="FFFFFF"/>
                </a:solidFill>
                <a:latin typeface="Arial"/>
              </a:rPr>
              <a:t>Best model</a:t>
            </a:r>
          </a:p>
        </p:txBody>
      </p:sp>
      <p:sp>
        <p:nvSpPr>
          <p:cNvPr id="14" name="Rectangle 13"/>
          <p:cNvSpPr/>
          <p:nvPr/>
        </p:nvSpPr>
        <p:spPr>
          <a:xfrm>
            <a:off x="5669280" y="1298448"/>
            <a:ext cx="1600200" cy="329184"/>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15000" y="1298448"/>
            <a:ext cx="1508760" cy="329184"/>
          </a:xfrm>
          <a:prstGeom prst="rect">
            <a:avLst/>
          </a:prstGeom>
          <a:noFill/>
        </p:spPr>
        <p:txBody>
          <a:bodyPr wrap="square" anchor="ctr" lIns="45720" rIns="45720" tIns="22860" bIns="22860">
            <a:spAutoFit/>
          </a:bodyPr>
          <a:lstStyle/>
          <a:p>
            <a:pPr algn="l">
              <a:lnSpc>
                <a:spcPct val="100000"/>
              </a:lnSpc>
            </a:pPr>
            <a:r>
              <a:rPr sz="1200" b="1">
                <a:solidFill>
                  <a:srgbClr val="FFFFFF"/>
                </a:solidFill>
                <a:latin typeface="Arial"/>
              </a:rPr>
              <a:t>Test AUC</a:t>
            </a:r>
          </a:p>
        </p:txBody>
      </p:sp>
      <p:sp>
        <p:nvSpPr>
          <p:cNvPr id="16" name="Rectangle 15"/>
          <p:cNvSpPr/>
          <p:nvPr/>
        </p:nvSpPr>
        <p:spPr>
          <a:xfrm>
            <a:off x="7269480" y="1298448"/>
            <a:ext cx="2057400" cy="329184"/>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298448"/>
            <a:ext cx="1965960" cy="329184"/>
          </a:xfrm>
          <a:prstGeom prst="rect">
            <a:avLst/>
          </a:prstGeom>
          <a:noFill/>
        </p:spPr>
        <p:txBody>
          <a:bodyPr wrap="square" anchor="ctr" lIns="45720" rIns="45720" tIns="22860" bIns="22860">
            <a:spAutoFit/>
          </a:bodyPr>
          <a:lstStyle/>
          <a:p>
            <a:pPr algn="l">
              <a:lnSpc>
                <a:spcPct val="100000"/>
              </a:lnSpc>
            </a:pPr>
            <a:r>
              <a:rPr sz="1200" b="1">
                <a:solidFill>
                  <a:srgbClr val="FFFFFF"/>
                </a:solidFill>
                <a:latin typeface="Arial"/>
              </a:rPr>
              <a:t>95% range</a:t>
            </a:r>
          </a:p>
        </p:txBody>
      </p:sp>
      <p:sp>
        <p:nvSpPr>
          <p:cNvPr id="18" name="Rectangle 17"/>
          <p:cNvSpPr/>
          <p:nvPr/>
        </p:nvSpPr>
        <p:spPr>
          <a:xfrm>
            <a:off x="9326880" y="1298448"/>
            <a:ext cx="2496312" cy="329184"/>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298448"/>
            <a:ext cx="2404872" cy="329184"/>
          </a:xfrm>
          <a:prstGeom prst="rect">
            <a:avLst/>
          </a:prstGeom>
          <a:noFill/>
        </p:spPr>
        <p:txBody>
          <a:bodyPr wrap="square" anchor="ctr" lIns="45720" rIns="45720" tIns="22860" bIns="22860">
            <a:spAutoFit/>
          </a:bodyPr>
          <a:lstStyle/>
          <a:p>
            <a:pPr algn="l">
              <a:lnSpc>
                <a:spcPct val="100000"/>
              </a:lnSpc>
            </a:pPr>
            <a:r>
              <a:rPr sz="1200" b="1">
                <a:solidFill>
                  <a:srgbClr val="FFFFFF"/>
                </a:solidFill>
                <a:latin typeface="Arial"/>
              </a:rPr>
              <a:t>vs chance</a:t>
            </a:r>
          </a:p>
        </p:txBody>
      </p:sp>
      <p:sp>
        <p:nvSpPr>
          <p:cNvPr id="20" name="Rectangle 19"/>
          <p:cNvSpPr/>
          <p:nvPr/>
        </p:nvSpPr>
        <p:spPr>
          <a:xfrm>
            <a:off x="365760" y="1627632"/>
            <a:ext cx="27889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27632"/>
            <a:ext cx="269748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A. Classic NLP</a:t>
            </a:r>
          </a:p>
        </p:txBody>
      </p:sp>
      <p:sp>
        <p:nvSpPr>
          <p:cNvPr id="22" name="Rectangle 21"/>
          <p:cNvSpPr/>
          <p:nvPr/>
        </p:nvSpPr>
        <p:spPr>
          <a:xfrm>
            <a:off x="3154680" y="1627632"/>
            <a:ext cx="25146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1627632"/>
            <a:ext cx="24231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Logistic Regression</a:t>
            </a:r>
          </a:p>
        </p:txBody>
      </p:sp>
      <p:sp>
        <p:nvSpPr>
          <p:cNvPr id="24" name="Rectangle 23"/>
          <p:cNvSpPr/>
          <p:nvPr/>
        </p:nvSpPr>
        <p:spPr>
          <a:xfrm>
            <a:off x="5669280" y="1627632"/>
            <a:ext cx="16002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15000" y="1627632"/>
            <a:ext cx="15087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0.525</a:t>
            </a:r>
          </a:p>
        </p:txBody>
      </p:sp>
      <p:sp>
        <p:nvSpPr>
          <p:cNvPr id="26" name="Rectangle 25"/>
          <p:cNvSpPr/>
          <p:nvPr/>
        </p:nvSpPr>
        <p:spPr>
          <a:xfrm>
            <a:off x="7269480" y="1627632"/>
            <a:ext cx="205740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1627632"/>
            <a:ext cx="19659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0.470 to 0.580</a:t>
            </a:r>
          </a:p>
        </p:txBody>
      </p:sp>
      <p:sp>
        <p:nvSpPr>
          <p:cNvPr id="28" name="Rectangle 27"/>
          <p:cNvSpPr/>
          <p:nvPr/>
        </p:nvSpPr>
        <p:spPr>
          <a:xfrm>
            <a:off x="9326880" y="1627632"/>
            <a:ext cx="2496312"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1627632"/>
            <a:ext cx="2404872"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+0.025</a:t>
            </a:r>
          </a:p>
        </p:txBody>
      </p:sp>
      <p:sp>
        <p:nvSpPr>
          <p:cNvPr id="30" name="Rectangle 29"/>
          <p:cNvSpPr/>
          <p:nvPr/>
        </p:nvSpPr>
        <p:spPr>
          <a:xfrm>
            <a:off x="365760" y="1956816"/>
            <a:ext cx="278892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1956816"/>
            <a:ext cx="269748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B. LLM</a:t>
            </a:r>
          </a:p>
        </p:txBody>
      </p:sp>
      <p:sp>
        <p:nvSpPr>
          <p:cNvPr id="32" name="Rectangle 31"/>
          <p:cNvSpPr/>
          <p:nvPr/>
        </p:nvSpPr>
        <p:spPr>
          <a:xfrm>
            <a:off x="3154680" y="1956816"/>
            <a:ext cx="25146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0" y="1956816"/>
            <a:ext cx="24231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Logistic Regression</a:t>
            </a:r>
          </a:p>
        </p:txBody>
      </p:sp>
      <p:sp>
        <p:nvSpPr>
          <p:cNvPr id="34" name="Rectangle 33"/>
          <p:cNvSpPr/>
          <p:nvPr/>
        </p:nvSpPr>
        <p:spPr>
          <a:xfrm>
            <a:off x="5669280" y="1956816"/>
            <a:ext cx="16002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15000" y="1956816"/>
            <a:ext cx="15087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0.518</a:t>
            </a:r>
          </a:p>
        </p:txBody>
      </p:sp>
      <p:sp>
        <p:nvSpPr>
          <p:cNvPr id="36" name="Rectangle 35"/>
          <p:cNvSpPr/>
          <p:nvPr/>
        </p:nvSpPr>
        <p:spPr>
          <a:xfrm>
            <a:off x="7269480" y="1956816"/>
            <a:ext cx="20574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1956816"/>
            <a:ext cx="19659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0.465 to 0.571</a:t>
            </a:r>
          </a:p>
        </p:txBody>
      </p:sp>
      <p:sp>
        <p:nvSpPr>
          <p:cNvPr id="38" name="Rectangle 37"/>
          <p:cNvSpPr/>
          <p:nvPr/>
        </p:nvSpPr>
        <p:spPr>
          <a:xfrm>
            <a:off x="9326880" y="1956816"/>
            <a:ext cx="2496312"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72600" y="1956816"/>
            <a:ext cx="2404872"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+0.018</a:t>
            </a:r>
          </a:p>
        </p:txBody>
      </p:sp>
      <p:sp>
        <p:nvSpPr>
          <p:cNvPr id="40" name="Rectangle 39"/>
          <p:cNvSpPr/>
          <p:nvPr/>
        </p:nvSpPr>
        <p:spPr>
          <a:xfrm>
            <a:off x="365760" y="2286000"/>
            <a:ext cx="2788920" cy="329184"/>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2286000"/>
            <a:ext cx="2697480" cy="329184"/>
          </a:xfrm>
          <a:prstGeom prst="rect">
            <a:avLst/>
          </a:prstGeom>
          <a:noFill/>
        </p:spPr>
        <p:txBody>
          <a:bodyPr wrap="square" anchor="ctr" lIns="45720" rIns="45720" tIns="22860" bIns="22860">
            <a:spAutoFit/>
          </a:bodyPr>
          <a:lstStyle/>
          <a:p>
            <a:pPr algn="l">
              <a:lnSpc>
                <a:spcPct val="100000"/>
              </a:lnSpc>
            </a:pPr>
            <a:r>
              <a:rPr sz="1200" b="1">
                <a:solidFill>
                  <a:srgbClr val="003262"/>
                </a:solidFill>
                <a:latin typeface="Arial"/>
              </a:rPr>
              <a:t>C. Both together</a:t>
            </a:r>
          </a:p>
        </p:txBody>
      </p:sp>
      <p:sp>
        <p:nvSpPr>
          <p:cNvPr id="42" name="Rectangle 41"/>
          <p:cNvSpPr/>
          <p:nvPr/>
        </p:nvSpPr>
        <p:spPr>
          <a:xfrm>
            <a:off x="3154680" y="2286000"/>
            <a:ext cx="2514600" cy="329184"/>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2286000"/>
            <a:ext cx="2423160" cy="329184"/>
          </a:xfrm>
          <a:prstGeom prst="rect">
            <a:avLst/>
          </a:prstGeom>
          <a:noFill/>
        </p:spPr>
        <p:txBody>
          <a:bodyPr wrap="square" anchor="ctr" lIns="45720" rIns="45720" tIns="22860" bIns="22860">
            <a:spAutoFit/>
          </a:bodyPr>
          <a:lstStyle/>
          <a:p>
            <a:pPr algn="l">
              <a:lnSpc>
                <a:spcPct val="100000"/>
              </a:lnSpc>
            </a:pPr>
            <a:r>
              <a:rPr sz="1200" b="1">
                <a:solidFill>
                  <a:srgbClr val="003262"/>
                </a:solidFill>
                <a:latin typeface="Arial"/>
              </a:rPr>
              <a:t>Logistic Regression</a:t>
            </a:r>
          </a:p>
        </p:txBody>
      </p:sp>
      <p:sp>
        <p:nvSpPr>
          <p:cNvPr id="44" name="Rectangle 43"/>
          <p:cNvSpPr/>
          <p:nvPr/>
        </p:nvSpPr>
        <p:spPr>
          <a:xfrm>
            <a:off x="5669280" y="2286000"/>
            <a:ext cx="1600200" cy="329184"/>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15000" y="2286000"/>
            <a:ext cx="1508760" cy="329184"/>
          </a:xfrm>
          <a:prstGeom prst="rect">
            <a:avLst/>
          </a:prstGeom>
          <a:noFill/>
        </p:spPr>
        <p:txBody>
          <a:bodyPr wrap="square" anchor="ctr" lIns="45720" rIns="45720" tIns="22860" bIns="22860">
            <a:spAutoFit/>
          </a:bodyPr>
          <a:lstStyle/>
          <a:p>
            <a:pPr algn="l">
              <a:lnSpc>
                <a:spcPct val="100000"/>
              </a:lnSpc>
            </a:pPr>
            <a:r>
              <a:rPr sz="1200" b="1">
                <a:solidFill>
                  <a:srgbClr val="003262"/>
                </a:solidFill>
                <a:latin typeface="Arial"/>
              </a:rPr>
              <a:t>0.551</a:t>
            </a:r>
          </a:p>
        </p:txBody>
      </p:sp>
      <p:sp>
        <p:nvSpPr>
          <p:cNvPr id="46" name="Rectangle 45"/>
          <p:cNvSpPr/>
          <p:nvPr/>
        </p:nvSpPr>
        <p:spPr>
          <a:xfrm>
            <a:off x="7269480" y="2286000"/>
            <a:ext cx="2057400" cy="329184"/>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0" y="2286000"/>
            <a:ext cx="1965960" cy="329184"/>
          </a:xfrm>
          <a:prstGeom prst="rect">
            <a:avLst/>
          </a:prstGeom>
          <a:noFill/>
        </p:spPr>
        <p:txBody>
          <a:bodyPr wrap="square" anchor="ctr" lIns="45720" rIns="45720" tIns="22860" bIns="22860">
            <a:spAutoFit/>
          </a:bodyPr>
          <a:lstStyle/>
          <a:p>
            <a:pPr algn="l">
              <a:lnSpc>
                <a:spcPct val="100000"/>
              </a:lnSpc>
            </a:pPr>
            <a:r>
              <a:rPr sz="1200" b="1">
                <a:solidFill>
                  <a:srgbClr val="003262"/>
                </a:solidFill>
                <a:latin typeface="Arial"/>
              </a:rPr>
              <a:t>0.495 to 0.606</a:t>
            </a:r>
          </a:p>
        </p:txBody>
      </p:sp>
      <p:sp>
        <p:nvSpPr>
          <p:cNvPr id="48" name="Rectangle 47"/>
          <p:cNvSpPr/>
          <p:nvPr/>
        </p:nvSpPr>
        <p:spPr>
          <a:xfrm>
            <a:off x="9326880" y="2286000"/>
            <a:ext cx="2496312" cy="329184"/>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72600" y="2286000"/>
            <a:ext cx="2404872" cy="329184"/>
          </a:xfrm>
          <a:prstGeom prst="rect">
            <a:avLst/>
          </a:prstGeom>
          <a:noFill/>
        </p:spPr>
        <p:txBody>
          <a:bodyPr wrap="square" anchor="ctr" lIns="45720" rIns="45720" tIns="22860" bIns="22860">
            <a:spAutoFit/>
          </a:bodyPr>
          <a:lstStyle/>
          <a:p>
            <a:pPr algn="l">
              <a:lnSpc>
                <a:spcPct val="100000"/>
              </a:lnSpc>
            </a:pPr>
            <a:r>
              <a:rPr sz="1200" b="1">
                <a:solidFill>
                  <a:srgbClr val="003262"/>
                </a:solidFill>
                <a:latin typeface="Arial"/>
              </a:rPr>
              <a:t>+0.051</a:t>
            </a:r>
          </a:p>
        </p:txBody>
      </p:sp>
      <p:sp>
        <p:nvSpPr>
          <p:cNvPr id="50" name="Rectangle 49"/>
          <p:cNvSpPr/>
          <p:nvPr/>
        </p:nvSpPr>
        <p:spPr>
          <a:xfrm>
            <a:off x="365760" y="2615184"/>
            <a:ext cx="278892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11480" y="2615184"/>
            <a:ext cx="269748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Random guess</a:t>
            </a:r>
          </a:p>
        </p:txBody>
      </p:sp>
      <p:sp>
        <p:nvSpPr>
          <p:cNvPr id="52" name="Rectangle 51"/>
          <p:cNvSpPr/>
          <p:nvPr/>
        </p:nvSpPr>
        <p:spPr>
          <a:xfrm>
            <a:off x="3154680" y="2615184"/>
            <a:ext cx="25146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00400" y="2615184"/>
            <a:ext cx="24231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a:t>
            </a:r>
          </a:p>
        </p:txBody>
      </p:sp>
      <p:sp>
        <p:nvSpPr>
          <p:cNvPr id="54" name="Rectangle 53"/>
          <p:cNvSpPr/>
          <p:nvPr/>
        </p:nvSpPr>
        <p:spPr>
          <a:xfrm>
            <a:off x="5669280" y="2615184"/>
            <a:ext cx="16002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15000" y="2615184"/>
            <a:ext cx="15087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0.500</a:t>
            </a:r>
          </a:p>
        </p:txBody>
      </p:sp>
      <p:sp>
        <p:nvSpPr>
          <p:cNvPr id="56" name="Rectangle 55"/>
          <p:cNvSpPr/>
          <p:nvPr/>
        </p:nvSpPr>
        <p:spPr>
          <a:xfrm>
            <a:off x="7269480" y="2615184"/>
            <a:ext cx="2057400"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0" y="2615184"/>
            <a:ext cx="1965960"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a:t>
            </a:r>
          </a:p>
        </p:txBody>
      </p:sp>
      <p:sp>
        <p:nvSpPr>
          <p:cNvPr id="58" name="Rectangle 57"/>
          <p:cNvSpPr/>
          <p:nvPr/>
        </p:nvSpPr>
        <p:spPr>
          <a:xfrm>
            <a:off x="9326880" y="2615184"/>
            <a:ext cx="2496312" cy="329184"/>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372600" y="2615184"/>
            <a:ext cx="2404872" cy="329184"/>
          </a:xfrm>
          <a:prstGeom prst="rect">
            <a:avLst/>
          </a:prstGeom>
          <a:noFill/>
        </p:spPr>
        <p:txBody>
          <a:bodyPr wrap="square" anchor="ctr" lIns="45720" rIns="45720" tIns="22860" bIns="22860">
            <a:spAutoFit/>
          </a:bodyPr>
          <a:lstStyle/>
          <a:p>
            <a:pPr algn="l">
              <a:lnSpc>
                <a:spcPct val="100000"/>
              </a:lnSpc>
            </a:pPr>
            <a:r>
              <a:rPr sz="1200" b="0">
                <a:solidFill>
                  <a:srgbClr val="003262"/>
                </a:solidFill>
                <a:latin typeface="Arial"/>
              </a:rPr>
              <a:t>0.000</a:t>
            </a:r>
          </a:p>
        </p:txBody>
      </p:sp>
      <p:pic>
        <p:nvPicPr>
          <p:cNvPr id="60" name="Picture 59" descr="fig_auc_comparison.png"/>
          <p:cNvPicPr>
            <a:picLocks noChangeAspect="1"/>
          </p:cNvPicPr>
          <p:nvPr/>
        </p:nvPicPr>
        <p:blipFill>
          <a:blip r:embed="rId2"/>
          <a:stretch>
            <a:fillRect/>
          </a:stretch>
        </p:blipFill>
        <p:spPr>
          <a:xfrm>
            <a:off x="2103120" y="3035808"/>
            <a:ext cx="7918173" cy="2761488"/>
          </a:xfrm>
          <a:prstGeom prst="rect">
            <a:avLst/>
          </a:prstGeom>
        </p:spPr>
      </p:pic>
      <p:sp>
        <p:nvSpPr>
          <p:cNvPr id="61" name="Rectangle 60"/>
          <p:cNvSpPr/>
          <p:nvPr/>
        </p:nvSpPr>
        <p:spPr>
          <a:xfrm>
            <a:off x="365760" y="5961888"/>
            <a:ext cx="11457432" cy="530352"/>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5998464"/>
            <a:ext cx="11064240" cy="457200"/>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Combining classic NLP with the LLM has the highest AUC (0.551), a small edge over either alone (NLP 0.525, LLM 0.518). The ranges still include 0.50, so this is promising rather than proven, but the two methods look complementary.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Where the News Actually Shows Up</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We counted coverage day by day around each deal</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4 · RESULTS</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8</a:t>
            </a:r>
          </a:p>
        </p:txBody>
      </p:sp>
      <p:sp>
        <p:nvSpPr>
          <p:cNvPr id="10" name="Rectangle 9"/>
          <p:cNvSpPr/>
          <p:nvPr/>
        </p:nvSpPr>
        <p:spPr>
          <a:xfrm>
            <a:off x="365760" y="1554480"/>
            <a:ext cx="3703320" cy="1417320"/>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609344"/>
            <a:ext cx="3703320"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~12</a:t>
            </a:r>
          </a:p>
        </p:txBody>
      </p:sp>
      <p:sp>
        <p:nvSpPr>
          <p:cNvPr id="12" name="TextBox 11"/>
          <p:cNvSpPr txBox="1"/>
          <p:nvPr/>
        </p:nvSpPr>
        <p:spPr>
          <a:xfrm>
            <a:off x="365760" y="2249424"/>
            <a:ext cx="3703320"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articles on the</a:t>
            </a:r>
          </a:p>
          <a:p>
            <a:pPr algn="ctr">
              <a:lnSpc>
                <a:spcPct val="100000"/>
              </a:lnSpc>
            </a:pPr>
            <a:r>
              <a:rPr sz="1100" b="0">
                <a:solidFill>
                  <a:srgbClr val="D6E8F7"/>
                </a:solidFill>
                <a:latin typeface="Arial"/>
              </a:rPr>
              <a:t>announcement day</a:t>
            </a:r>
          </a:p>
        </p:txBody>
      </p:sp>
      <p:sp>
        <p:nvSpPr>
          <p:cNvPr id="13" name="Rectangle 12"/>
          <p:cNvSpPr/>
          <p:nvPr/>
        </p:nvSpPr>
        <p:spPr>
          <a:xfrm>
            <a:off x="4233672" y="1554480"/>
            <a:ext cx="3703320" cy="1417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33672" y="1609344"/>
            <a:ext cx="3703320"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0.35</a:t>
            </a:r>
          </a:p>
        </p:txBody>
      </p:sp>
      <p:sp>
        <p:nvSpPr>
          <p:cNvPr id="15" name="TextBox 14"/>
          <p:cNvSpPr txBox="1"/>
          <p:nvPr/>
        </p:nvSpPr>
        <p:spPr>
          <a:xfrm>
            <a:off x="4233672" y="2249424"/>
            <a:ext cx="3703320"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articles per day in</a:t>
            </a:r>
          </a:p>
          <a:p>
            <a:pPr algn="ctr">
              <a:lnSpc>
                <a:spcPct val="100000"/>
              </a:lnSpc>
            </a:pPr>
            <a:r>
              <a:rPr sz="1100" b="0">
                <a:solidFill>
                  <a:srgbClr val="D6E8F7"/>
                </a:solidFill>
                <a:latin typeface="Arial"/>
              </a:rPr>
              <a:t>the week after</a:t>
            </a:r>
          </a:p>
        </p:txBody>
      </p:sp>
      <p:sp>
        <p:nvSpPr>
          <p:cNvPr id="16" name="Rectangle 15"/>
          <p:cNvSpPr/>
          <p:nvPr/>
        </p:nvSpPr>
        <p:spPr>
          <a:xfrm>
            <a:off x="8101583" y="1554480"/>
            <a:ext cx="3721608" cy="1417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01583" y="1609344"/>
            <a:ext cx="3721608"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0.25</a:t>
            </a:r>
          </a:p>
        </p:txBody>
      </p:sp>
      <p:sp>
        <p:nvSpPr>
          <p:cNvPr id="18" name="TextBox 17"/>
          <p:cNvSpPr txBox="1"/>
          <p:nvPr/>
        </p:nvSpPr>
        <p:spPr>
          <a:xfrm>
            <a:off x="8101583" y="2249424"/>
            <a:ext cx="3721608"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articles per day in</a:t>
            </a:r>
          </a:p>
          <a:p>
            <a:pPr algn="ctr">
              <a:lnSpc>
                <a:spcPct val="100000"/>
              </a:lnSpc>
            </a:pPr>
            <a:r>
              <a:rPr sz="1100" b="0">
                <a:solidFill>
                  <a:srgbClr val="D6E8F7"/>
                </a:solidFill>
                <a:latin typeface="Arial"/>
              </a:rPr>
              <a:t>the 90-day run-up</a:t>
            </a:r>
          </a:p>
        </p:txBody>
      </p:sp>
      <p:sp>
        <p:nvSpPr>
          <p:cNvPr id="19" name="Rectangle 18"/>
          <p:cNvSpPr/>
          <p:nvPr/>
        </p:nvSpPr>
        <p:spPr>
          <a:xfrm>
            <a:off x="365760" y="3246120"/>
            <a:ext cx="562356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25526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THE COVERAGE IS THERE, JUST LATE</a:t>
            </a:r>
          </a:p>
        </p:txBody>
      </p:sp>
      <p:sp>
        <p:nvSpPr>
          <p:cNvPr id="21" name="Rectangle 20"/>
          <p:cNvSpPr/>
          <p:nvPr/>
        </p:nvSpPr>
        <p:spPr>
          <a:xfrm>
            <a:off x="365760" y="3630168"/>
            <a:ext cx="5623560" cy="2103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703320"/>
            <a:ext cx="5477256" cy="195681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News about these deals lands on the day they are announced, not before.</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The run-up window sees about a quarter of an article a day, the same trickle as any random quiet period. On day zero it jumps to a dozen. That is dozens of times heavier.</a:t>
            </a:r>
          </a:p>
        </p:txBody>
      </p:sp>
      <p:sp>
        <p:nvSpPr>
          <p:cNvPr id="23" name="Rectangle 22"/>
          <p:cNvSpPr/>
          <p:nvPr/>
        </p:nvSpPr>
        <p:spPr>
          <a:xfrm>
            <a:off x="6199632" y="3246120"/>
            <a:ext cx="562356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9632" y="325526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WHY THIS SETTLES IT</a:t>
            </a:r>
          </a:p>
        </p:txBody>
      </p:sp>
      <p:sp>
        <p:nvSpPr>
          <p:cNvPr id="25" name="Rectangle 24"/>
          <p:cNvSpPr/>
          <p:nvPr/>
        </p:nvSpPr>
        <p:spPr>
          <a:xfrm>
            <a:off x="6199632" y="3630168"/>
            <a:ext cx="5623560" cy="2103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2784" y="3703320"/>
            <a:ext cx="5477256" cy="195681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There are two ways to fail at this task.</a:t>
            </a:r>
          </a:p>
          <a:p>
            <a:pPr algn="l">
              <a:lnSpc>
                <a:spcPct val="100000"/>
              </a:lnSpc>
            </a:pPr>
            <a:r>
              <a:rPr sz="1250" b="0">
                <a:solidFill>
                  <a:srgbClr val="003262"/>
                </a:solidFill>
                <a:latin typeface="Arial"/>
              </a:rPr>
              <a:t>· the method is too weak, which better features could fix</a:t>
            </a:r>
          </a:p>
          <a:p>
            <a:pPr algn="l">
              <a:lnSpc>
                <a:spcPct val="100000"/>
              </a:lnSpc>
            </a:pPr>
            <a:r>
              <a:rPr sz="1250" b="0">
                <a:solidFill>
                  <a:srgbClr val="003262"/>
                </a:solidFill>
                <a:latin typeface="Arial"/>
              </a:rPr>
              <a:t>· the information is not there, which nothing can fix</a:t>
            </a:r>
          </a:p>
          <a:p>
            <a:pPr algn="l">
              <a:lnSpc>
                <a:spcPct val="100000"/>
              </a:lnSpc>
            </a:pPr>
            <a:r>
              <a:rPr sz="1250" b="0">
                <a:solidFill>
                  <a:srgbClr val="003262"/>
                </a:solidFill>
                <a:latin typeface="Arial"/>
              </a:rPr>
              <a:t/>
            </a:r>
          </a:p>
          <a:p>
            <a:pPr algn="l">
              <a:lnSpc>
                <a:spcPct val="100000"/>
              </a:lnSpc>
            </a:pPr>
            <a:r>
              <a:rPr sz="1250" b="1">
                <a:solidFill>
                  <a:srgbClr val="C4820E"/>
                </a:solidFill>
                <a:latin typeface="Arial"/>
              </a:rPr>
              <a:t>The day-zero spike proves the tools do pick up deal news when it exists. So the near-chance result is about the data, not the method.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The Same Tools Do Work, One Week Later</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Point the exact same pipeline at the announcement week instead of the run-up</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4 · RESULTS</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9</a:t>
            </a:r>
          </a:p>
        </p:txBody>
      </p:sp>
      <p:sp>
        <p:nvSpPr>
          <p:cNvPr id="10" name="TextBox 9"/>
          <p:cNvSpPr txBox="1"/>
          <p:nvPr/>
        </p:nvSpPr>
        <p:spPr>
          <a:xfrm>
            <a:off x="365760" y="1207008"/>
            <a:ext cx="11430000" cy="384048"/>
          </a:xfrm>
          <a:prstGeom prst="rect">
            <a:avLst/>
          </a:prstGeom>
          <a:noFill/>
        </p:spPr>
        <p:txBody>
          <a:bodyPr wrap="square" anchor="t" lIns="45720" rIns="45720" tIns="22860" bIns="22860">
            <a:spAutoFit/>
          </a:bodyPr>
          <a:lstStyle/>
          <a:p>
            <a:pPr algn="l">
              <a:lnSpc>
                <a:spcPct val="130000"/>
              </a:lnSpc>
            </a:pPr>
            <a:r>
              <a:rPr sz="1300" b="1">
                <a:solidFill>
                  <a:srgbClr val="003262"/>
                </a:solidFill>
                <a:latin typeface="Arial"/>
              </a:rPr>
              <a:t>Different question: </a:t>
            </a:r>
            <a:r>
              <a:rPr sz="1300" b="0">
                <a:solidFill>
                  <a:srgbClr val="003262"/>
                </a:solidFill>
                <a:latin typeface="Arial"/>
              </a:rPr>
              <a:t>given one week of a company's news, did a deal just happen? This is spotting, not predicting, and we say so plainly.</a:t>
            </a:r>
          </a:p>
        </p:txBody>
      </p:sp>
      <p:sp>
        <p:nvSpPr>
          <p:cNvPr id="11" name="Rectangle 10"/>
          <p:cNvSpPr/>
          <p:nvPr/>
        </p:nvSpPr>
        <p:spPr>
          <a:xfrm>
            <a:off x="365760" y="1783080"/>
            <a:ext cx="251460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83080"/>
            <a:ext cx="242316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Model</a:t>
            </a:r>
          </a:p>
        </p:txBody>
      </p:sp>
      <p:sp>
        <p:nvSpPr>
          <p:cNvPr id="13" name="Rectangle 12"/>
          <p:cNvSpPr/>
          <p:nvPr/>
        </p:nvSpPr>
        <p:spPr>
          <a:xfrm>
            <a:off x="2880360" y="1783080"/>
            <a:ext cx="169164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783080"/>
            <a:ext cx="160020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CV AUC (train)</a:t>
            </a:r>
          </a:p>
        </p:txBody>
      </p:sp>
      <p:sp>
        <p:nvSpPr>
          <p:cNvPr id="15" name="Rectangle 14"/>
          <p:cNvSpPr/>
          <p:nvPr/>
        </p:nvSpPr>
        <p:spPr>
          <a:xfrm>
            <a:off x="4572000" y="1783080"/>
            <a:ext cx="169164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783080"/>
            <a:ext cx="160020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Test ROC-AUC</a:t>
            </a:r>
          </a:p>
        </p:txBody>
      </p:sp>
      <p:sp>
        <p:nvSpPr>
          <p:cNvPr id="17" name="Rectangle 16"/>
          <p:cNvSpPr/>
          <p:nvPr/>
        </p:nvSpPr>
        <p:spPr>
          <a:xfrm>
            <a:off x="6263640" y="1783080"/>
            <a:ext cx="141732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783080"/>
            <a:ext cx="132588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Test PR-AUC</a:t>
            </a:r>
          </a:p>
        </p:txBody>
      </p:sp>
      <p:sp>
        <p:nvSpPr>
          <p:cNvPr id="19" name="Rectangle 18"/>
          <p:cNvSpPr/>
          <p:nvPr/>
        </p:nvSpPr>
        <p:spPr>
          <a:xfrm>
            <a:off x="365760" y="2167128"/>
            <a:ext cx="2514600" cy="38404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167128"/>
            <a:ext cx="2423160" cy="384048"/>
          </a:xfrm>
          <a:prstGeom prst="rect">
            <a:avLst/>
          </a:prstGeom>
          <a:noFill/>
        </p:spPr>
        <p:txBody>
          <a:bodyPr wrap="square" anchor="ctr" lIns="45720" rIns="45720" tIns="22860" bIns="22860">
            <a:spAutoFit/>
          </a:bodyPr>
          <a:lstStyle/>
          <a:p>
            <a:pPr algn="l">
              <a:lnSpc>
                <a:spcPct val="100000"/>
              </a:lnSpc>
            </a:pPr>
            <a:r>
              <a:rPr sz="1250" b="1">
                <a:solidFill>
                  <a:srgbClr val="003262"/>
                </a:solidFill>
                <a:latin typeface="Arial"/>
              </a:rPr>
              <a:t>Gradient Boosting</a:t>
            </a:r>
          </a:p>
        </p:txBody>
      </p:sp>
      <p:sp>
        <p:nvSpPr>
          <p:cNvPr id="21" name="Rectangle 20"/>
          <p:cNvSpPr/>
          <p:nvPr/>
        </p:nvSpPr>
        <p:spPr>
          <a:xfrm>
            <a:off x="2880360" y="2167128"/>
            <a:ext cx="1691640" cy="38404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0" y="2167128"/>
            <a:ext cx="1600200" cy="384048"/>
          </a:xfrm>
          <a:prstGeom prst="rect">
            <a:avLst/>
          </a:prstGeom>
          <a:noFill/>
        </p:spPr>
        <p:txBody>
          <a:bodyPr wrap="square" anchor="ctr" lIns="45720" rIns="45720" tIns="22860" bIns="22860">
            <a:spAutoFit/>
          </a:bodyPr>
          <a:lstStyle/>
          <a:p>
            <a:pPr algn="l">
              <a:lnSpc>
                <a:spcPct val="100000"/>
              </a:lnSpc>
            </a:pPr>
            <a:r>
              <a:rPr sz="1250" b="1">
                <a:solidFill>
                  <a:srgbClr val="003262"/>
                </a:solidFill>
                <a:latin typeface="Arial"/>
              </a:rPr>
              <a:t>0.818</a:t>
            </a:r>
          </a:p>
        </p:txBody>
      </p:sp>
      <p:sp>
        <p:nvSpPr>
          <p:cNvPr id="23" name="Rectangle 22"/>
          <p:cNvSpPr/>
          <p:nvPr/>
        </p:nvSpPr>
        <p:spPr>
          <a:xfrm>
            <a:off x="4572000" y="2167128"/>
            <a:ext cx="1691640" cy="38404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2167128"/>
            <a:ext cx="1600200" cy="384048"/>
          </a:xfrm>
          <a:prstGeom prst="rect">
            <a:avLst/>
          </a:prstGeom>
          <a:noFill/>
        </p:spPr>
        <p:txBody>
          <a:bodyPr wrap="square" anchor="ctr" lIns="45720" rIns="45720" tIns="22860" bIns="22860">
            <a:spAutoFit/>
          </a:bodyPr>
          <a:lstStyle/>
          <a:p>
            <a:pPr algn="l">
              <a:lnSpc>
                <a:spcPct val="100000"/>
              </a:lnSpc>
            </a:pPr>
            <a:r>
              <a:rPr sz="1250" b="1">
                <a:solidFill>
                  <a:srgbClr val="003262"/>
                </a:solidFill>
                <a:latin typeface="Arial"/>
              </a:rPr>
              <a:t>0.793</a:t>
            </a:r>
          </a:p>
        </p:txBody>
      </p:sp>
      <p:sp>
        <p:nvSpPr>
          <p:cNvPr id="25" name="Rectangle 24"/>
          <p:cNvSpPr/>
          <p:nvPr/>
        </p:nvSpPr>
        <p:spPr>
          <a:xfrm>
            <a:off x="6263640" y="2167128"/>
            <a:ext cx="1417320" cy="38404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167128"/>
            <a:ext cx="1325880" cy="384048"/>
          </a:xfrm>
          <a:prstGeom prst="rect">
            <a:avLst/>
          </a:prstGeom>
          <a:noFill/>
        </p:spPr>
        <p:txBody>
          <a:bodyPr wrap="square" anchor="ctr" lIns="45720" rIns="45720" tIns="22860" bIns="22860">
            <a:spAutoFit/>
          </a:bodyPr>
          <a:lstStyle/>
          <a:p>
            <a:pPr algn="l">
              <a:lnSpc>
                <a:spcPct val="100000"/>
              </a:lnSpc>
            </a:pPr>
            <a:r>
              <a:rPr sz="1250" b="1">
                <a:solidFill>
                  <a:srgbClr val="003262"/>
                </a:solidFill>
                <a:latin typeface="Arial"/>
              </a:rPr>
              <a:t>0.741</a:t>
            </a:r>
          </a:p>
        </p:txBody>
      </p:sp>
      <p:sp>
        <p:nvSpPr>
          <p:cNvPr id="27" name="Rectangle 26"/>
          <p:cNvSpPr/>
          <p:nvPr/>
        </p:nvSpPr>
        <p:spPr>
          <a:xfrm>
            <a:off x="365760" y="2551176"/>
            <a:ext cx="25146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551176"/>
            <a:ext cx="24231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Random Forest</a:t>
            </a:r>
          </a:p>
        </p:txBody>
      </p:sp>
      <p:sp>
        <p:nvSpPr>
          <p:cNvPr id="29" name="Rectangle 28"/>
          <p:cNvSpPr/>
          <p:nvPr/>
        </p:nvSpPr>
        <p:spPr>
          <a:xfrm>
            <a:off x="2880360" y="2551176"/>
            <a:ext cx="169164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0" y="2551176"/>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0.814</a:t>
            </a:r>
          </a:p>
        </p:txBody>
      </p:sp>
      <p:sp>
        <p:nvSpPr>
          <p:cNvPr id="31" name="Rectangle 30"/>
          <p:cNvSpPr/>
          <p:nvPr/>
        </p:nvSpPr>
        <p:spPr>
          <a:xfrm>
            <a:off x="4572000" y="2551176"/>
            <a:ext cx="169164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2551176"/>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0.773</a:t>
            </a:r>
          </a:p>
        </p:txBody>
      </p:sp>
      <p:sp>
        <p:nvSpPr>
          <p:cNvPr id="33" name="Rectangle 32"/>
          <p:cNvSpPr/>
          <p:nvPr/>
        </p:nvSpPr>
        <p:spPr>
          <a:xfrm>
            <a:off x="6263640" y="2551176"/>
            <a:ext cx="141732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551176"/>
            <a:ext cx="132588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0.733</a:t>
            </a:r>
          </a:p>
        </p:txBody>
      </p:sp>
      <p:sp>
        <p:nvSpPr>
          <p:cNvPr id="35" name="Rectangle 34"/>
          <p:cNvSpPr/>
          <p:nvPr/>
        </p:nvSpPr>
        <p:spPr>
          <a:xfrm>
            <a:off x="365760" y="2935224"/>
            <a:ext cx="25146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2935224"/>
            <a:ext cx="24231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Logistic Regression</a:t>
            </a:r>
          </a:p>
        </p:txBody>
      </p:sp>
      <p:sp>
        <p:nvSpPr>
          <p:cNvPr id="37" name="Rectangle 36"/>
          <p:cNvSpPr/>
          <p:nvPr/>
        </p:nvSpPr>
        <p:spPr>
          <a:xfrm>
            <a:off x="2880360" y="2935224"/>
            <a:ext cx="1691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26080" y="2935224"/>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0.807</a:t>
            </a:r>
          </a:p>
        </p:txBody>
      </p:sp>
      <p:sp>
        <p:nvSpPr>
          <p:cNvPr id="39" name="Rectangle 38"/>
          <p:cNvSpPr/>
          <p:nvPr/>
        </p:nvSpPr>
        <p:spPr>
          <a:xfrm>
            <a:off x="4572000" y="2935224"/>
            <a:ext cx="16916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17720" y="2935224"/>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0.773</a:t>
            </a:r>
          </a:p>
        </p:txBody>
      </p:sp>
      <p:sp>
        <p:nvSpPr>
          <p:cNvPr id="41" name="Rectangle 40"/>
          <p:cNvSpPr/>
          <p:nvPr/>
        </p:nvSpPr>
        <p:spPr>
          <a:xfrm>
            <a:off x="6263640" y="2935224"/>
            <a:ext cx="141732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2935224"/>
            <a:ext cx="132588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0.737</a:t>
            </a:r>
          </a:p>
        </p:txBody>
      </p:sp>
      <p:sp>
        <p:nvSpPr>
          <p:cNvPr id="43" name="Rectangle 42"/>
          <p:cNvSpPr/>
          <p:nvPr/>
        </p:nvSpPr>
        <p:spPr>
          <a:xfrm>
            <a:off x="365760" y="3319272"/>
            <a:ext cx="25146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319272"/>
            <a:ext cx="24231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Random baseline</a:t>
            </a:r>
          </a:p>
        </p:txBody>
      </p:sp>
      <p:sp>
        <p:nvSpPr>
          <p:cNvPr id="45" name="Rectangle 44"/>
          <p:cNvSpPr/>
          <p:nvPr/>
        </p:nvSpPr>
        <p:spPr>
          <a:xfrm>
            <a:off x="2880360" y="3319272"/>
            <a:ext cx="169164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926080" y="3319272"/>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a:t>
            </a:r>
          </a:p>
        </p:txBody>
      </p:sp>
      <p:sp>
        <p:nvSpPr>
          <p:cNvPr id="47" name="Rectangle 46"/>
          <p:cNvSpPr/>
          <p:nvPr/>
        </p:nvSpPr>
        <p:spPr>
          <a:xfrm>
            <a:off x="4572000" y="3319272"/>
            <a:ext cx="169164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17720" y="3319272"/>
            <a:ext cx="160020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0.500</a:t>
            </a:r>
          </a:p>
        </p:txBody>
      </p:sp>
      <p:sp>
        <p:nvSpPr>
          <p:cNvPr id="49" name="Rectangle 48"/>
          <p:cNvSpPr/>
          <p:nvPr/>
        </p:nvSpPr>
        <p:spPr>
          <a:xfrm>
            <a:off x="6263640" y="3319272"/>
            <a:ext cx="141732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9360" y="3319272"/>
            <a:ext cx="132588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0.500</a:t>
            </a:r>
          </a:p>
        </p:txBody>
      </p:sp>
      <p:sp>
        <p:nvSpPr>
          <p:cNvPr id="51" name="TextBox 50"/>
          <p:cNvSpPr txBox="1"/>
          <p:nvPr/>
        </p:nvSpPr>
        <p:spPr>
          <a:xfrm>
            <a:off x="365760" y="3794760"/>
            <a:ext cx="7315200" cy="310896"/>
          </a:xfrm>
          <a:prstGeom prst="rect">
            <a:avLst/>
          </a:prstGeom>
          <a:noFill/>
        </p:spPr>
        <p:txBody>
          <a:bodyPr wrap="square" anchor="t" lIns="45720" rIns="45720" tIns="22860" bIns="22860">
            <a:spAutoFit/>
          </a:bodyPr>
          <a:lstStyle/>
          <a:p>
            <a:pPr algn="l">
              <a:lnSpc>
                <a:spcPct val="100000"/>
              </a:lnSpc>
            </a:pPr>
            <a:r>
              <a:rPr sz="1100" b="0">
                <a:solidFill>
                  <a:srgbClr val="606A75"/>
                </a:solidFill>
                <a:latin typeface="Arial"/>
              </a:rPr>
              <a:t>400 weeks in the test: 200 announcement weeks and 200 quiet weeks for the same companies.</a:t>
            </a:r>
          </a:p>
        </p:txBody>
      </p:sp>
      <p:sp>
        <p:nvSpPr>
          <p:cNvPr id="52" name="TextBox 51"/>
          <p:cNvSpPr txBox="1"/>
          <p:nvPr/>
        </p:nvSpPr>
        <p:spPr>
          <a:xfrm>
            <a:off x="365760" y="4224528"/>
            <a:ext cx="7315200" cy="329184"/>
          </a:xfrm>
          <a:prstGeom prst="rect">
            <a:avLst/>
          </a:prstGeom>
          <a:noFill/>
        </p:spPr>
        <p:txBody>
          <a:bodyPr wrap="square" anchor="t" lIns="45720" rIns="45720" tIns="22860" bIns="22860">
            <a:spAutoFit/>
          </a:bodyPr>
          <a:lstStyle/>
          <a:p>
            <a:pPr algn="l">
              <a:lnSpc>
                <a:spcPct val="100000"/>
              </a:lnSpc>
            </a:pPr>
            <a:r>
              <a:rPr sz="1350" b="1">
                <a:solidFill>
                  <a:srgbClr val="003262"/>
                </a:solidFill>
                <a:latin typeface="Arial"/>
              </a:rPr>
              <a:t>What drives it</a:t>
            </a:r>
          </a:p>
        </p:txBody>
      </p:sp>
      <p:sp>
        <p:nvSpPr>
          <p:cNvPr id="53" name="Rectangle 52"/>
          <p:cNvSpPr/>
          <p:nvPr/>
        </p:nvSpPr>
        <p:spPr>
          <a:xfrm>
            <a:off x="365760" y="4617720"/>
            <a:ext cx="301752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1480" y="4617720"/>
            <a:ext cx="292608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
            </a:r>
          </a:p>
        </p:txBody>
      </p:sp>
      <p:sp>
        <p:nvSpPr>
          <p:cNvPr id="55" name="Rectangle 54"/>
          <p:cNvSpPr/>
          <p:nvPr/>
        </p:nvSpPr>
        <p:spPr>
          <a:xfrm>
            <a:off x="3383280" y="4617720"/>
            <a:ext cx="214884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29000" y="4617720"/>
            <a:ext cx="205740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Announcement wk</a:t>
            </a:r>
          </a:p>
        </p:txBody>
      </p:sp>
      <p:sp>
        <p:nvSpPr>
          <p:cNvPr id="57" name="Rectangle 56"/>
          <p:cNvSpPr/>
          <p:nvPr/>
        </p:nvSpPr>
        <p:spPr>
          <a:xfrm>
            <a:off x="5532120" y="4617720"/>
            <a:ext cx="214884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77840" y="4617720"/>
            <a:ext cx="2057400" cy="365760"/>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Quiet wk</a:t>
            </a:r>
          </a:p>
        </p:txBody>
      </p:sp>
      <p:sp>
        <p:nvSpPr>
          <p:cNvPr id="59" name="Rectangle 58"/>
          <p:cNvSpPr/>
          <p:nvPr/>
        </p:nvSpPr>
        <p:spPr>
          <a:xfrm>
            <a:off x="365760" y="4983480"/>
            <a:ext cx="30175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4983480"/>
            <a:ext cx="292608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Articles per day</a:t>
            </a:r>
          </a:p>
        </p:txBody>
      </p:sp>
      <p:sp>
        <p:nvSpPr>
          <p:cNvPr id="61" name="Rectangle 60"/>
          <p:cNvSpPr/>
          <p:nvPr/>
        </p:nvSpPr>
        <p:spPr>
          <a:xfrm>
            <a:off x="3383280" y="4983480"/>
            <a:ext cx="21488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429000" y="4983480"/>
            <a:ext cx="205740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1.80</a:t>
            </a:r>
          </a:p>
        </p:txBody>
      </p:sp>
      <p:sp>
        <p:nvSpPr>
          <p:cNvPr id="63" name="Rectangle 62"/>
          <p:cNvSpPr/>
          <p:nvPr/>
        </p:nvSpPr>
        <p:spPr>
          <a:xfrm>
            <a:off x="5532120" y="4983480"/>
            <a:ext cx="21488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577840" y="4983480"/>
            <a:ext cx="205740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0.12</a:t>
            </a:r>
          </a:p>
        </p:txBody>
      </p:sp>
      <p:sp>
        <p:nvSpPr>
          <p:cNvPr id="65" name="Rectangle 64"/>
          <p:cNvSpPr/>
          <p:nvPr/>
        </p:nvSpPr>
        <p:spPr>
          <a:xfrm>
            <a:off x="365760" y="5349240"/>
            <a:ext cx="301752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1480" y="5349240"/>
            <a:ext cx="292608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M&amp;A keyword count</a:t>
            </a:r>
          </a:p>
        </p:txBody>
      </p:sp>
      <p:sp>
        <p:nvSpPr>
          <p:cNvPr id="67" name="Rectangle 66"/>
          <p:cNvSpPr/>
          <p:nvPr/>
        </p:nvSpPr>
        <p:spPr>
          <a:xfrm>
            <a:off x="3383280" y="5349240"/>
            <a:ext cx="214884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9000" y="5349240"/>
            <a:ext cx="205740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1.02</a:t>
            </a:r>
          </a:p>
        </p:txBody>
      </p:sp>
      <p:sp>
        <p:nvSpPr>
          <p:cNvPr id="69" name="Rectangle 68"/>
          <p:cNvSpPr/>
          <p:nvPr/>
        </p:nvSpPr>
        <p:spPr>
          <a:xfrm>
            <a:off x="5532120" y="5349240"/>
            <a:ext cx="214884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577840" y="5349240"/>
            <a:ext cx="2057400" cy="365760"/>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0.23</a:t>
            </a:r>
          </a:p>
        </p:txBody>
      </p:sp>
      <p:sp>
        <p:nvSpPr>
          <p:cNvPr id="71" name="Rectangle 70"/>
          <p:cNvSpPr/>
          <p:nvPr/>
        </p:nvSpPr>
        <p:spPr>
          <a:xfrm>
            <a:off x="7818120" y="1783080"/>
            <a:ext cx="4005072"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818120" y="1792224"/>
            <a:ext cx="4005072"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THE GAP IS THE POINT</a:t>
            </a:r>
          </a:p>
        </p:txBody>
      </p:sp>
      <p:sp>
        <p:nvSpPr>
          <p:cNvPr id="73" name="Rectangle 72"/>
          <p:cNvSpPr/>
          <p:nvPr/>
        </p:nvSpPr>
        <p:spPr>
          <a:xfrm>
            <a:off x="7818120" y="2167128"/>
            <a:ext cx="4005072" cy="28346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891272" y="2240280"/>
            <a:ext cx="3858768" cy="268833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Spotting a deal: </a:t>
            </a:r>
            <a:r>
              <a:rPr sz="1250" b="1">
                <a:solidFill>
                  <a:srgbClr val="1A7A4A"/>
                </a:solidFill>
                <a:latin typeface="Arial"/>
              </a:rPr>
              <a:t>0.79</a:t>
            </a:r>
            <a:r>
              <a:rPr sz="1250" b="0">
                <a:solidFill>
                  <a:srgbClr val="003262"/>
                </a:solidFill>
                <a:latin typeface="Arial"/>
              </a:rPr>
              <a:t> AUC</a:t>
            </a:r>
          </a:p>
          <a:p>
            <a:pPr algn="l">
              <a:lnSpc>
                <a:spcPct val="100000"/>
              </a:lnSpc>
            </a:pPr>
            <a:r>
              <a:rPr sz="1250" b="1">
                <a:solidFill>
                  <a:srgbClr val="003262"/>
                </a:solidFill>
                <a:latin typeface="Arial"/>
              </a:rPr>
              <a:t>Predicting one early: </a:t>
            </a:r>
            <a:r>
              <a:rPr sz="1250" b="1">
                <a:solidFill>
                  <a:srgbClr val="C4820E"/>
                </a:solidFill>
                <a:latin typeface="Arial"/>
              </a:rPr>
              <a:t>0.55</a:t>
            </a:r>
            <a:r>
              <a:rPr sz="1250" b="0">
                <a:solidFill>
                  <a:srgbClr val="003262"/>
                </a:solidFill>
                <a:latin typeface="Arial"/>
              </a:rPr>
              <a:t> AUC</a:t>
            </a:r>
          </a:p>
          <a:p>
            <a:pPr algn="l">
              <a:lnSpc>
                <a:spcPct val="100000"/>
              </a:lnSpc>
            </a:pPr>
            <a:r>
              <a:rPr sz="1250" b="0">
                <a:solidFill>
                  <a:srgbClr val="003262"/>
                </a:solidFill>
                <a:latin typeface="Arial"/>
              </a:rPr>
              <a:t/>
            </a:r>
          </a:p>
          <a:p>
            <a:pPr algn="l">
              <a:lnSpc>
                <a:spcPct val="100000"/>
              </a:lnSpc>
            </a:pPr>
            <a:r>
              <a:rPr sz="1250" b="0">
                <a:solidFill>
                  <a:srgbClr val="003262"/>
                </a:solidFill>
                <a:latin typeface="Arial"/>
              </a:rPr>
              <a:t>Same features, same models, same filters. The only change is which week we look at.</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So the tools work fine. The early news simply is not there to read.</a:t>
            </a:r>
          </a:p>
        </p:txBody>
      </p:sp>
      <p:sp>
        <p:nvSpPr>
          <p:cNvPr id="75" name="Rectangle 74"/>
          <p:cNvSpPr/>
          <p:nvPr/>
        </p:nvSpPr>
        <p:spPr>
          <a:xfrm>
            <a:off x="365760" y="5897880"/>
            <a:ext cx="11457432" cy="530352"/>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8640" y="5934456"/>
            <a:ext cx="11064240" cy="457200"/>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There is a usable tool here today: spotting deals as they are announced, from free news alone, at 0.79.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Are the LLM Signals New Information?</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How much the LLM scores overlap with the classic ones</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4 · RESULTS</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10</a:t>
            </a:r>
          </a:p>
        </p:txBody>
      </p:sp>
      <p:pic>
        <p:nvPicPr>
          <p:cNvPr id="10" name="Picture 9" descr="fig_llm_vs_classic_corr.png"/>
          <p:cNvPicPr>
            <a:picLocks noChangeAspect="1"/>
          </p:cNvPicPr>
          <p:nvPr/>
        </p:nvPicPr>
        <p:blipFill>
          <a:blip r:embed="rId2"/>
          <a:stretch>
            <a:fillRect/>
          </a:stretch>
        </p:blipFill>
        <p:spPr>
          <a:xfrm>
            <a:off x="365760" y="1280160"/>
            <a:ext cx="6176219" cy="4343400"/>
          </a:xfrm>
          <a:prstGeom prst="rect">
            <a:avLst/>
          </a:prstGeom>
        </p:spPr>
      </p:pic>
      <p:sp>
        <p:nvSpPr>
          <p:cNvPr id="11" name="Rectangle 10"/>
          <p:cNvSpPr/>
          <p:nvPr/>
        </p:nvSpPr>
        <p:spPr>
          <a:xfrm>
            <a:off x="7818120" y="1325880"/>
            <a:ext cx="4005072"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1335024"/>
            <a:ext cx="4005072"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A DIFFERENT, COMPLEMENTARY SIGNAL</a:t>
            </a:r>
          </a:p>
        </p:txBody>
      </p:sp>
      <p:sp>
        <p:nvSpPr>
          <p:cNvPr id="13" name="Rectangle 12"/>
          <p:cNvSpPr/>
          <p:nvPr/>
        </p:nvSpPr>
        <p:spPr>
          <a:xfrm>
            <a:off x="7818120" y="1709928"/>
            <a:ext cx="4005072" cy="4343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91272" y="1783080"/>
            <a:ext cx="3858768" cy="4197096"/>
          </a:xfrm>
          <a:prstGeom prst="rect">
            <a:avLst/>
          </a:prstGeom>
          <a:noFill/>
        </p:spPr>
        <p:txBody>
          <a:bodyPr wrap="square" anchor="t" lIns="45720" rIns="45720" tIns="22860" bIns="22860">
            <a:spAutoFit/>
          </a:bodyPr>
          <a:lstStyle/>
          <a:p>
            <a:pPr algn="l">
              <a:lnSpc>
                <a:spcPct val="100000"/>
              </a:lnSpc>
            </a:pPr>
            <a:r>
              <a:rPr sz="1200" b="0">
                <a:solidFill>
                  <a:srgbClr val="003262"/>
                </a:solidFill>
                <a:latin typeface="Arial"/>
              </a:rPr>
              <a:t>Each square asks whether the two scores rank companies the same way.</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The colours are mostly pale, so the LLM's takeover signals are largely separate from the word-count and tone features.</a:t>
            </a:r>
          </a:p>
          <a:p>
            <a:pPr algn="l">
              <a:lnSpc>
                <a:spcPct val="100000"/>
              </a:lnSpc>
            </a:pPr>
            <a:r>
              <a:rPr sz="1200" b="0">
                <a:solidFill>
                  <a:srgbClr val="003262"/>
                </a:solidFill>
                <a:latin typeface="Arial"/>
              </a:rPr>
              <a:t/>
            </a:r>
          </a:p>
          <a:p>
            <a:pPr algn="l">
              <a:lnSpc>
                <a:spcPct val="100000"/>
              </a:lnSpc>
            </a:pPr>
            <a:r>
              <a:rPr sz="1200" b="1">
                <a:solidFill>
                  <a:srgbClr val="003262"/>
                </a:solidFill>
                <a:latin typeface="Arial"/>
              </a:rPr>
              <a:t>That is why the two help most together. </a:t>
            </a:r>
            <a:r>
              <a:rPr sz="1200" b="0">
                <a:solidFill>
                  <a:srgbClr val="003262"/>
                </a:solidFill>
                <a:latin typeface="Arial"/>
              </a:rPr>
              <a:t>Because they read different things, the combined set edges ahead of either one alone.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Can We Trust the LLM Score?</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Three checks, because the model might already know how these deals ended</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5 · VALIDITY</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11</a:t>
            </a:r>
          </a:p>
        </p:txBody>
      </p:sp>
      <p:sp>
        <p:nvSpPr>
          <p:cNvPr id="10" name="TextBox 9"/>
          <p:cNvSpPr txBox="1"/>
          <p:nvPr/>
        </p:nvSpPr>
        <p:spPr>
          <a:xfrm>
            <a:off x="365760" y="1170432"/>
            <a:ext cx="11430000" cy="548640"/>
          </a:xfrm>
          <a:prstGeom prst="rect">
            <a:avLst/>
          </a:prstGeom>
          <a:noFill/>
        </p:spPr>
        <p:txBody>
          <a:bodyPr wrap="square" anchor="t" lIns="45720" rIns="45720" tIns="22860" bIns="22860">
            <a:spAutoFit/>
          </a:bodyPr>
          <a:lstStyle/>
          <a:p>
            <a:pPr algn="l">
              <a:lnSpc>
                <a:spcPct val="120000"/>
              </a:lnSpc>
            </a:pPr>
            <a:r>
              <a:rPr sz="1250" b="1">
                <a:solidFill>
                  <a:srgbClr val="003262"/>
                </a:solidFill>
                <a:latin typeface="Arial"/>
              </a:rPr>
              <a:t>The worry: </a:t>
            </a:r>
            <a:r>
              <a:rPr sz="1250" b="0">
                <a:solidFill>
                  <a:srgbClr val="003262"/>
                </a:solidFill>
                <a:latin typeface="Arial"/>
              </a:rPr>
              <a:t>openai/gpt-4o-mini was trained up to 2023-10-01, before most of our deals. If it scores a window high because it remembers the deal, we have measured memory, not prediction.</a:t>
            </a:r>
          </a:p>
        </p:txBody>
      </p:sp>
      <p:sp>
        <p:nvSpPr>
          <p:cNvPr id="11" name="Rectangle 10"/>
          <p:cNvSpPr/>
          <p:nvPr/>
        </p:nvSpPr>
        <p:spPr>
          <a:xfrm>
            <a:off x="365760" y="1783080"/>
            <a:ext cx="3703320" cy="123444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37944"/>
            <a:ext cx="3703320"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50%</a:t>
            </a:r>
          </a:p>
        </p:txBody>
      </p:sp>
      <p:sp>
        <p:nvSpPr>
          <p:cNvPr id="13" name="TextBox 12"/>
          <p:cNvSpPr txBox="1"/>
          <p:nvPr/>
        </p:nvSpPr>
        <p:spPr>
          <a:xfrm>
            <a:off x="365760" y="2478024"/>
            <a:ext cx="3703320"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guessing deals with no</a:t>
            </a:r>
          </a:p>
          <a:p>
            <a:pPr algn="ctr">
              <a:lnSpc>
                <a:spcPct val="100000"/>
              </a:lnSpc>
            </a:pPr>
            <a:r>
              <a:rPr sz="1100" b="0">
                <a:solidFill>
                  <a:srgbClr val="D6E8F7"/>
                </a:solidFill>
                <a:latin typeface="Arial"/>
              </a:rPr>
              <a:t>news shown (coin flip = 50%)</a:t>
            </a:r>
          </a:p>
        </p:txBody>
      </p:sp>
      <p:sp>
        <p:nvSpPr>
          <p:cNvPr id="14" name="Rectangle 13"/>
          <p:cNvSpPr/>
          <p:nvPr/>
        </p:nvSpPr>
        <p:spPr>
          <a:xfrm>
            <a:off x="4233672" y="1783080"/>
            <a:ext cx="3703320" cy="1234440"/>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1837944"/>
            <a:ext cx="3703320"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+0.017</a:t>
            </a:r>
          </a:p>
        </p:txBody>
      </p:sp>
      <p:sp>
        <p:nvSpPr>
          <p:cNvPr id="16" name="TextBox 15"/>
          <p:cNvSpPr txBox="1"/>
          <p:nvPr/>
        </p:nvSpPr>
        <p:spPr>
          <a:xfrm>
            <a:off x="4233672" y="2478024"/>
            <a:ext cx="3703320"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score change when we</a:t>
            </a:r>
          </a:p>
          <a:p>
            <a:pPr algn="ctr">
              <a:lnSpc>
                <a:spcPct val="100000"/>
              </a:lnSpc>
            </a:pPr>
            <a:r>
              <a:rPr sz="1100" b="0">
                <a:solidFill>
                  <a:srgbClr val="D6E8F7"/>
                </a:solidFill>
                <a:latin typeface="Arial"/>
              </a:rPr>
              <a:t>hide company names</a:t>
            </a:r>
          </a:p>
        </p:txBody>
      </p:sp>
      <p:sp>
        <p:nvSpPr>
          <p:cNvPr id="17" name="Rectangle 16"/>
          <p:cNvSpPr/>
          <p:nvPr/>
        </p:nvSpPr>
        <p:spPr>
          <a:xfrm>
            <a:off x="8101583" y="1783080"/>
            <a:ext cx="3721608" cy="1234440"/>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3" y="1837944"/>
            <a:ext cx="3721608" cy="640080"/>
          </a:xfrm>
          <a:prstGeom prst="rect">
            <a:avLst/>
          </a:prstGeom>
          <a:noFill/>
        </p:spPr>
        <p:txBody>
          <a:bodyPr wrap="square" anchor="t" lIns="45720" rIns="45720" tIns="22860" bIns="22860">
            <a:spAutoFit/>
          </a:bodyPr>
          <a:lstStyle/>
          <a:p>
            <a:pPr algn="ctr">
              <a:lnSpc>
                <a:spcPct val="100000"/>
              </a:lnSpc>
            </a:pPr>
            <a:r>
              <a:rPr sz="2800" b="1">
                <a:solidFill>
                  <a:srgbClr val="FDB515"/>
                </a:solidFill>
                <a:latin typeface="Arial"/>
              </a:rPr>
              <a:t>0.90</a:t>
            </a:r>
          </a:p>
        </p:txBody>
      </p:sp>
      <p:sp>
        <p:nvSpPr>
          <p:cNvPr id="19" name="TextBox 18"/>
          <p:cNvSpPr txBox="1"/>
          <p:nvPr/>
        </p:nvSpPr>
        <p:spPr>
          <a:xfrm>
            <a:off x="8101583" y="2478024"/>
            <a:ext cx="3721608" cy="457200"/>
          </a:xfrm>
          <a:prstGeom prst="rect">
            <a:avLst/>
          </a:prstGeom>
          <a:noFill/>
        </p:spPr>
        <p:txBody>
          <a:bodyPr wrap="square" anchor="t" lIns="45720" rIns="45720" tIns="22860" bIns="22860">
            <a:spAutoFit/>
          </a:bodyPr>
          <a:lstStyle/>
          <a:p>
            <a:pPr algn="ctr">
              <a:lnSpc>
                <a:spcPct val="100000"/>
              </a:lnSpc>
            </a:pPr>
            <a:r>
              <a:rPr sz="1100" b="0">
                <a:solidFill>
                  <a:srgbClr val="D6E8F7"/>
                </a:solidFill>
                <a:latin typeface="Arial"/>
              </a:rPr>
              <a:t>agreement when we</a:t>
            </a:r>
          </a:p>
          <a:p>
            <a:pPr algn="ctr">
              <a:lnSpc>
                <a:spcPct val="100000"/>
              </a:lnSpc>
            </a:pPr>
            <a:r>
              <a:rPr sz="1100" b="0">
                <a:solidFill>
                  <a:srgbClr val="D6E8F7"/>
                </a:solidFill>
                <a:latin typeface="Arial"/>
              </a:rPr>
              <a:t>score twice</a:t>
            </a:r>
          </a:p>
        </p:txBody>
      </p:sp>
      <p:sp>
        <p:nvSpPr>
          <p:cNvPr id="20" name="Rectangle 19"/>
          <p:cNvSpPr/>
          <p:nvPr/>
        </p:nvSpPr>
        <p:spPr>
          <a:xfrm>
            <a:off x="365760" y="3246120"/>
            <a:ext cx="3703320"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5526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IT IS NOT REMEMBERING</a:t>
            </a:r>
          </a:p>
        </p:txBody>
      </p:sp>
      <p:sp>
        <p:nvSpPr>
          <p:cNvPr id="22" name="Rectangle 21"/>
          <p:cNvSpPr/>
          <p:nvPr/>
        </p:nvSpPr>
        <p:spPr>
          <a:xfrm>
            <a:off x="365760" y="3630168"/>
            <a:ext cx="3703320" cy="21488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3703320"/>
            <a:ext cx="3557016" cy="2002536"/>
          </a:xfrm>
          <a:prstGeom prst="rect">
            <a:avLst/>
          </a:prstGeom>
          <a:noFill/>
        </p:spPr>
        <p:txBody>
          <a:bodyPr wrap="square" anchor="t" lIns="45720" rIns="45720" tIns="22860" bIns="22860">
            <a:spAutoFit/>
          </a:bodyPr>
          <a:lstStyle/>
          <a:p>
            <a:pPr algn="l">
              <a:lnSpc>
                <a:spcPct val="100000"/>
              </a:lnSpc>
            </a:pPr>
            <a:r>
              <a:rPr sz="1200" b="0">
                <a:solidFill>
                  <a:srgbClr val="003262"/>
                </a:solidFill>
                <a:latin typeface="Arial"/>
              </a:rPr>
              <a:t>Asked to guess deals with no news at all, </a:t>
            </a:r>
            <a:r>
              <a:rPr sz="1200" b="1">
                <a:solidFill>
                  <a:srgbClr val="003262"/>
                </a:solidFill>
                <a:latin typeface="Arial"/>
              </a:rPr>
              <a:t>it scored 50.4%, a coin flip.</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It did no better on older deals it might have seen in training (51%) than on newer ones (50%).</a:t>
            </a:r>
          </a:p>
        </p:txBody>
      </p:sp>
      <p:sp>
        <p:nvSpPr>
          <p:cNvPr id="24" name="Rectangle 23"/>
          <p:cNvSpPr/>
          <p:nvPr/>
        </p:nvSpPr>
        <p:spPr>
          <a:xfrm>
            <a:off x="4233672" y="3246120"/>
            <a:ext cx="3703320" cy="384048"/>
          </a:xfrm>
          <a:prstGeom prst="rect">
            <a:avLst/>
          </a:prstGeom>
          <a:solidFill>
            <a:srgbClr val="1A7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33672" y="325526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IT IS READING THE NEWS</a:t>
            </a:r>
          </a:p>
        </p:txBody>
      </p:sp>
      <p:sp>
        <p:nvSpPr>
          <p:cNvPr id="26" name="Rectangle 25"/>
          <p:cNvSpPr/>
          <p:nvPr/>
        </p:nvSpPr>
        <p:spPr>
          <a:xfrm>
            <a:off x="4233672" y="3630168"/>
            <a:ext cx="3703320" cy="21488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06824" y="3703320"/>
            <a:ext cx="3557016" cy="2002536"/>
          </a:xfrm>
          <a:prstGeom prst="rect">
            <a:avLst/>
          </a:prstGeom>
          <a:noFill/>
        </p:spPr>
        <p:txBody>
          <a:bodyPr wrap="square" anchor="t" lIns="45720" rIns="45720" tIns="22860" bIns="22860">
            <a:spAutoFit/>
          </a:bodyPr>
          <a:lstStyle/>
          <a:p>
            <a:pPr algn="l">
              <a:lnSpc>
                <a:spcPct val="100000"/>
              </a:lnSpc>
            </a:pPr>
            <a:r>
              <a:rPr sz="1200" b="0">
                <a:solidFill>
                  <a:srgbClr val="003262"/>
                </a:solidFill>
                <a:latin typeface="Arial"/>
              </a:rPr>
              <a:t>Hide the company name and the score barely moves, </a:t>
            </a:r>
            <a:r>
              <a:rPr sz="1200" b="1">
                <a:solidFill>
                  <a:srgbClr val="003262"/>
                </a:solidFill>
                <a:latin typeface="Arial"/>
              </a:rPr>
              <a:t>0.518 to 0.501.</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So it is going off the words in the headlines, not off recognising a famous name.</a:t>
            </a:r>
          </a:p>
        </p:txBody>
      </p:sp>
      <p:sp>
        <p:nvSpPr>
          <p:cNvPr id="28" name="Rectangle 27"/>
          <p:cNvSpPr/>
          <p:nvPr/>
        </p:nvSpPr>
        <p:spPr>
          <a:xfrm>
            <a:off x="8101583" y="3246120"/>
            <a:ext cx="3721608"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01583" y="3255264"/>
            <a:ext cx="3721608"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THE SCORES ARE STABLE</a:t>
            </a:r>
          </a:p>
        </p:txBody>
      </p:sp>
      <p:sp>
        <p:nvSpPr>
          <p:cNvPr id="30" name="Rectangle 29"/>
          <p:cNvSpPr/>
          <p:nvPr/>
        </p:nvSpPr>
        <p:spPr>
          <a:xfrm>
            <a:off x="8101583" y="3630168"/>
            <a:ext cx="3721608" cy="21488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74735" y="3703320"/>
            <a:ext cx="3575304" cy="200253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Score the same window twice and the two runs line up at 0.90 out of 1.</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The overall takeover number moves about 1.6 points out of 100. Not random noise.</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It also quotes the exact headline behind each score, and every quote checked out against the real text.</a:t>
            </a:r>
          </a:p>
        </p:txBody>
      </p:sp>
      <p:sp>
        <p:nvSpPr>
          <p:cNvPr id="32" name="Rectangle 31"/>
          <p:cNvSpPr/>
          <p:nvPr/>
        </p:nvSpPr>
        <p:spPr>
          <a:xfrm>
            <a:off x="365760" y="5779008"/>
            <a:ext cx="11457432"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815584"/>
            <a:ext cx="11064240" cy="493776"/>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All three checks came back clean. The small edge we found is a real reading of the news, and the method carries over to deals the model has never seen.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Every LLM Score Cites Its Source</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The model quotes the headline behind each score, and we check it</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5 · VALIDITY</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12</a:t>
            </a:r>
          </a:p>
        </p:txBody>
      </p:sp>
      <p:sp>
        <p:nvSpPr>
          <p:cNvPr id="10" name="TextBox 9"/>
          <p:cNvSpPr txBox="1"/>
          <p:nvPr/>
        </p:nvSpPr>
        <p:spPr>
          <a:xfrm>
            <a:off x="365760" y="1207008"/>
            <a:ext cx="11430000" cy="365760"/>
          </a:xfrm>
          <a:prstGeom prst="rect">
            <a:avLst/>
          </a:prstGeom>
          <a:noFill/>
        </p:spPr>
        <p:txBody>
          <a:bodyPr wrap="square" anchor="t" lIns="45720" rIns="45720" tIns="22860" bIns="22860">
            <a:spAutoFit/>
          </a:bodyPr>
          <a:lstStyle/>
          <a:p>
            <a:pPr algn="l">
              <a:lnSpc>
                <a:spcPct val="100000"/>
              </a:lnSpc>
            </a:pPr>
            <a:r>
              <a:rPr sz="1300" b="0">
                <a:solidFill>
                  <a:srgbClr val="003262"/>
                </a:solidFill>
                <a:latin typeface="Arial"/>
              </a:rPr>
              <a:t>Across 8 test events, </a:t>
            </a:r>
            <a:r>
              <a:rPr sz="1300" b="1">
                <a:solidFill>
                  <a:srgbClr val="003262"/>
                </a:solidFill>
                <a:latin typeface="Arial"/>
              </a:rPr>
              <a:t>22 of 22 quoted headlines matched the real text word for word. None were made up.</a:t>
            </a:r>
          </a:p>
        </p:txBody>
      </p:sp>
      <p:sp>
        <p:nvSpPr>
          <p:cNvPr id="11" name="Rectangle 10"/>
          <p:cNvSpPr/>
          <p:nvPr/>
        </p:nvSpPr>
        <p:spPr>
          <a:xfrm>
            <a:off x="365760" y="1691640"/>
            <a:ext cx="306324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691640"/>
            <a:ext cx="2971800" cy="365760"/>
          </a:xfrm>
          <a:prstGeom prst="rect">
            <a:avLst/>
          </a:prstGeom>
          <a:noFill/>
        </p:spPr>
        <p:txBody>
          <a:bodyPr wrap="square" anchor="ctr" lIns="45720" rIns="45720" tIns="22860" bIns="22860">
            <a:spAutoFit/>
          </a:bodyPr>
          <a:lstStyle/>
          <a:p>
            <a:pPr algn="l">
              <a:lnSpc>
                <a:spcPct val="100000"/>
              </a:lnSpc>
            </a:pPr>
            <a:r>
              <a:rPr sz="1100" b="1">
                <a:solidFill>
                  <a:srgbClr val="FFFFFF"/>
                </a:solidFill>
                <a:latin typeface="Arial"/>
              </a:rPr>
              <a:t>Company · signal</a:t>
            </a:r>
          </a:p>
        </p:txBody>
      </p:sp>
      <p:sp>
        <p:nvSpPr>
          <p:cNvPr id="13" name="Rectangle 12"/>
          <p:cNvSpPr/>
          <p:nvPr/>
        </p:nvSpPr>
        <p:spPr>
          <a:xfrm>
            <a:off x="3429000" y="1691640"/>
            <a:ext cx="68580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691640"/>
            <a:ext cx="594360" cy="365760"/>
          </a:xfrm>
          <a:prstGeom prst="rect">
            <a:avLst/>
          </a:prstGeom>
          <a:noFill/>
        </p:spPr>
        <p:txBody>
          <a:bodyPr wrap="square" anchor="ctr" lIns="45720" rIns="45720" tIns="22860" bIns="22860">
            <a:spAutoFit/>
          </a:bodyPr>
          <a:lstStyle/>
          <a:p>
            <a:pPr algn="l">
              <a:lnSpc>
                <a:spcPct val="100000"/>
              </a:lnSpc>
            </a:pPr>
            <a:r>
              <a:rPr sz="1100" b="1">
                <a:solidFill>
                  <a:srgbClr val="FFFFFF"/>
                </a:solidFill>
                <a:latin typeface="Arial"/>
              </a:rPr>
              <a:t>Score</a:t>
            </a:r>
          </a:p>
        </p:txBody>
      </p:sp>
      <p:sp>
        <p:nvSpPr>
          <p:cNvPr id="15" name="Rectangle 14"/>
          <p:cNvSpPr/>
          <p:nvPr/>
        </p:nvSpPr>
        <p:spPr>
          <a:xfrm>
            <a:off x="4114800" y="1691640"/>
            <a:ext cx="5669280"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20" y="1691640"/>
            <a:ext cx="5577840" cy="365760"/>
          </a:xfrm>
          <a:prstGeom prst="rect">
            <a:avLst/>
          </a:prstGeom>
          <a:noFill/>
        </p:spPr>
        <p:txBody>
          <a:bodyPr wrap="square" anchor="ctr" lIns="45720" rIns="45720" tIns="22860" bIns="22860">
            <a:spAutoFit/>
          </a:bodyPr>
          <a:lstStyle/>
          <a:p>
            <a:pPr algn="l">
              <a:lnSpc>
                <a:spcPct val="100000"/>
              </a:lnSpc>
            </a:pPr>
            <a:r>
              <a:rPr sz="1100" b="1">
                <a:solidFill>
                  <a:srgbClr val="FFFFFF"/>
                </a:solidFill>
                <a:latin typeface="Arial"/>
              </a:rPr>
              <a:t>Quoted headline</a:t>
            </a:r>
          </a:p>
        </p:txBody>
      </p:sp>
      <p:sp>
        <p:nvSpPr>
          <p:cNvPr id="17" name="Rectangle 16"/>
          <p:cNvSpPr/>
          <p:nvPr/>
        </p:nvSpPr>
        <p:spPr>
          <a:xfrm>
            <a:off x="9784080" y="1691640"/>
            <a:ext cx="2039112" cy="3657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1691640"/>
            <a:ext cx="1947672" cy="365760"/>
          </a:xfrm>
          <a:prstGeom prst="rect">
            <a:avLst/>
          </a:prstGeom>
          <a:noFill/>
        </p:spPr>
        <p:txBody>
          <a:bodyPr wrap="square" anchor="ctr" lIns="45720" rIns="45720" tIns="22860" bIns="22860">
            <a:spAutoFit/>
          </a:bodyPr>
          <a:lstStyle/>
          <a:p>
            <a:pPr algn="l">
              <a:lnSpc>
                <a:spcPct val="100000"/>
              </a:lnSpc>
            </a:pPr>
            <a:r>
              <a:rPr sz="1100" b="1">
                <a:solidFill>
                  <a:srgbClr val="FFFFFF"/>
                </a:solidFill>
                <a:latin typeface="Arial"/>
              </a:rPr>
              <a:t>Source</a:t>
            </a:r>
          </a:p>
        </p:txBody>
      </p:sp>
      <p:sp>
        <p:nvSpPr>
          <p:cNvPr id="19" name="Rectangle 18"/>
          <p:cNvSpPr/>
          <p:nvPr/>
        </p:nvSpPr>
        <p:spPr>
          <a:xfrm>
            <a:off x="365760" y="2057400"/>
            <a:ext cx="3063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05740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Clearwater Analytics · ma_rumor_intensity</a:t>
            </a:r>
          </a:p>
        </p:txBody>
      </p:sp>
      <p:sp>
        <p:nvSpPr>
          <p:cNvPr id="21" name="Rectangle 20"/>
          <p:cNvSpPr/>
          <p:nvPr/>
        </p:nvSpPr>
        <p:spPr>
          <a:xfrm>
            <a:off x="3429000" y="2057400"/>
            <a:ext cx="6858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0" y="205740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a:t>
            </a:r>
          </a:p>
        </p:txBody>
      </p:sp>
      <p:sp>
        <p:nvSpPr>
          <p:cNvPr id="23" name="Rectangle 22"/>
          <p:cNvSpPr/>
          <p:nvPr/>
        </p:nvSpPr>
        <p:spPr>
          <a:xfrm>
            <a:off x="4114800" y="205740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205740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Warburg Pincus, Permira said to be in talks to buy Clearwater Analytics</a:t>
            </a:r>
          </a:p>
        </p:txBody>
      </p:sp>
      <p:sp>
        <p:nvSpPr>
          <p:cNvPr id="25" name="Rectangle 24"/>
          <p:cNvSpPr/>
          <p:nvPr/>
        </p:nvSpPr>
        <p:spPr>
          <a:xfrm>
            <a:off x="9784080" y="2057400"/>
            <a:ext cx="203911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9800" y="205740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[d61] seekingalpha.com</a:t>
            </a:r>
          </a:p>
        </p:txBody>
      </p:sp>
      <p:sp>
        <p:nvSpPr>
          <p:cNvPr id="27" name="Rectangle 26"/>
          <p:cNvSpPr/>
          <p:nvPr/>
        </p:nvSpPr>
        <p:spPr>
          <a:xfrm>
            <a:off x="365760" y="2423160"/>
            <a:ext cx="306324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42316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Clearwater Analytics · acquisition_likelihood</a:t>
            </a:r>
          </a:p>
        </p:txBody>
      </p:sp>
      <p:sp>
        <p:nvSpPr>
          <p:cNvPr id="29" name="Rectangle 28"/>
          <p:cNvSpPr/>
          <p:nvPr/>
        </p:nvSpPr>
        <p:spPr>
          <a:xfrm>
            <a:off x="3429000" y="2423160"/>
            <a:ext cx="68580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242316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80</a:t>
            </a:r>
          </a:p>
        </p:txBody>
      </p:sp>
      <p:sp>
        <p:nvSpPr>
          <p:cNvPr id="31" name="Rectangle 30"/>
          <p:cNvSpPr/>
          <p:nvPr/>
        </p:nvSpPr>
        <p:spPr>
          <a:xfrm>
            <a:off x="4114800" y="2423160"/>
            <a:ext cx="566928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0520" y="242316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Buyout firm Thoma Bravo has offered to buy Clearwater Analytics, sources say</a:t>
            </a:r>
          </a:p>
        </p:txBody>
      </p:sp>
      <p:sp>
        <p:nvSpPr>
          <p:cNvPr id="33" name="Rectangle 32"/>
          <p:cNvSpPr/>
          <p:nvPr/>
        </p:nvSpPr>
        <p:spPr>
          <a:xfrm>
            <a:off x="9784080" y="2423160"/>
            <a:ext cx="2039112"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9800" y="242316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[d63] marketscreener.com</a:t>
            </a:r>
          </a:p>
        </p:txBody>
      </p:sp>
      <p:sp>
        <p:nvSpPr>
          <p:cNvPr id="35" name="Rectangle 34"/>
          <p:cNvSpPr/>
          <p:nvPr/>
        </p:nvSpPr>
        <p:spPr>
          <a:xfrm>
            <a:off x="365760" y="2788920"/>
            <a:ext cx="3063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278892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ANSYS · ma_rumor_intensity</a:t>
            </a:r>
          </a:p>
        </p:txBody>
      </p:sp>
      <p:sp>
        <p:nvSpPr>
          <p:cNvPr id="37" name="Rectangle 36"/>
          <p:cNvSpPr/>
          <p:nvPr/>
        </p:nvSpPr>
        <p:spPr>
          <a:xfrm>
            <a:off x="3429000" y="2788920"/>
            <a:ext cx="6858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278892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a:t>
            </a:r>
          </a:p>
        </p:txBody>
      </p:sp>
      <p:sp>
        <p:nvSpPr>
          <p:cNvPr id="39" name="Rectangle 38"/>
          <p:cNvSpPr/>
          <p:nvPr/>
        </p:nvSpPr>
        <p:spPr>
          <a:xfrm>
            <a:off x="4114800" y="278892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60520" y="278892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Ansys explores sale amid takeover interest - sources</a:t>
            </a:r>
          </a:p>
        </p:txBody>
      </p:sp>
      <p:sp>
        <p:nvSpPr>
          <p:cNvPr id="41" name="Rectangle 40"/>
          <p:cNvSpPr/>
          <p:nvPr/>
        </p:nvSpPr>
        <p:spPr>
          <a:xfrm>
            <a:off x="9784080" y="2788920"/>
            <a:ext cx="203911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29800" y="278892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[d73] kelo.com</a:t>
            </a:r>
          </a:p>
        </p:txBody>
      </p:sp>
      <p:sp>
        <p:nvSpPr>
          <p:cNvPr id="43" name="Rectangle 42"/>
          <p:cNvSpPr/>
          <p:nvPr/>
        </p:nvSpPr>
        <p:spPr>
          <a:xfrm>
            <a:off x="365760" y="3154680"/>
            <a:ext cx="306324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 y="315468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ANSYS · acquisition_likelihood</a:t>
            </a:r>
          </a:p>
        </p:txBody>
      </p:sp>
      <p:sp>
        <p:nvSpPr>
          <p:cNvPr id="45" name="Rectangle 44"/>
          <p:cNvSpPr/>
          <p:nvPr/>
        </p:nvSpPr>
        <p:spPr>
          <a:xfrm>
            <a:off x="3429000" y="3154680"/>
            <a:ext cx="68580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0" y="315468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80</a:t>
            </a:r>
          </a:p>
        </p:txBody>
      </p:sp>
      <p:sp>
        <p:nvSpPr>
          <p:cNvPr id="47" name="Rectangle 46"/>
          <p:cNvSpPr/>
          <p:nvPr/>
        </p:nvSpPr>
        <p:spPr>
          <a:xfrm>
            <a:off x="4114800" y="3154680"/>
            <a:ext cx="566928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60520" y="315468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Synopsys Reportedly in Advanced Talks to Acquire Ansys</a:t>
            </a:r>
          </a:p>
        </p:txBody>
      </p:sp>
      <p:sp>
        <p:nvSpPr>
          <p:cNvPr id="49" name="Rectangle 48"/>
          <p:cNvSpPr/>
          <p:nvPr/>
        </p:nvSpPr>
        <p:spPr>
          <a:xfrm>
            <a:off x="9784080" y="3154680"/>
            <a:ext cx="2039112"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29800" y="315468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[d86] marketscreener.com</a:t>
            </a:r>
          </a:p>
        </p:txBody>
      </p:sp>
      <p:sp>
        <p:nvSpPr>
          <p:cNvPr id="51" name="Rectangle 50"/>
          <p:cNvSpPr/>
          <p:nvPr/>
        </p:nvSpPr>
        <p:spPr>
          <a:xfrm>
            <a:off x="365760" y="3520440"/>
            <a:ext cx="30632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352044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Instructure · ma_rumor_intensity</a:t>
            </a:r>
          </a:p>
        </p:txBody>
      </p:sp>
      <p:sp>
        <p:nvSpPr>
          <p:cNvPr id="53" name="Rectangle 52"/>
          <p:cNvSpPr/>
          <p:nvPr/>
        </p:nvSpPr>
        <p:spPr>
          <a:xfrm>
            <a:off x="3429000" y="3520440"/>
            <a:ext cx="6858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0" y="352044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a:t>
            </a:r>
          </a:p>
        </p:txBody>
      </p:sp>
      <p:sp>
        <p:nvSpPr>
          <p:cNvPr id="55" name="Rectangle 54"/>
          <p:cNvSpPr/>
          <p:nvPr/>
        </p:nvSpPr>
        <p:spPr>
          <a:xfrm>
            <a:off x="4114800" y="3520440"/>
            <a:ext cx="566928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60520" y="352044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Thoma Bravo explores sale of Instructure, sources say</a:t>
            </a:r>
          </a:p>
        </p:txBody>
      </p:sp>
      <p:sp>
        <p:nvSpPr>
          <p:cNvPr id="57" name="Rectangle 56"/>
          <p:cNvSpPr/>
          <p:nvPr/>
        </p:nvSpPr>
        <p:spPr>
          <a:xfrm>
            <a:off x="9784080" y="3520440"/>
            <a:ext cx="2039112"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29800" y="352044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[d28] marketscreener.com</a:t>
            </a:r>
          </a:p>
        </p:txBody>
      </p:sp>
      <p:sp>
        <p:nvSpPr>
          <p:cNvPr id="59" name="Rectangle 58"/>
          <p:cNvSpPr/>
          <p:nvPr/>
        </p:nvSpPr>
        <p:spPr>
          <a:xfrm>
            <a:off x="365760" y="3886200"/>
            <a:ext cx="306324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1480" y="3886200"/>
            <a:ext cx="297180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Instructure · acquisition_likelihood</a:t>
            </a:r>
          </a:p>
        </p:txBody>
      </p:sp>
      <p:sp>
        <p:nvSpPr>
          <p:cNvPr id="61" name="Rectangle 60"/>
          <p:cNvSpPr/>
          <p:nvPr/>
        </p:nvSpPr>
        <p:spPr>
          <a:xfrm>
            <a:off x="3429000" y="3886200"/>
            <a:ext cx="68580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474720" y="3886200"/>
            <a:ext cx="59436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85</a:t>
            </a:r>
          </a:p>
        </p:txBody>
      </p:sp>
      <p:sp>
        <p:nvSpPr>
          <p:cNvPr id="63" name="Rectangle 62"/>
          <p:cNvSpPr/>
          <p:nvPr/>
        </p:nvSpPr>
        <p:spPr>
          <a:xfrm>
            <a:off x="4114800" y="3886200"/>
            <a:ext cx="5669280"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60520" y="3886200"/>
            <a:ext cx="5577840"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KKR Emerges as Front-Runner for Instructure Buyout</a:t>
            </a:r>
          </a:p>
        </p:txBody>
      </p:sp>
      <p:sp>
        <p:nvSpPr>
          <p:cNvPr id="65" name="Rectangle 64"/>
          <p:cNvSpPr/>
          <p:nvPr/>
        </p:nvSpPr>
        <p:spPr>
          <a:xfrm>
            <a:off x="9784080" y="3886200"/>
            <a:ext cx="2039112" cy="3657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29800" y="3886200"/>
            <a:ext cx="1947672" cy="365760"/>
          </a:xfrm>
          <a:prstGeom prst="rect">
            <a:avLst/>
          </a:prstGeom>
          <a:noFill/>
        </p:spPr>
        <p:txBody>
          <a:bodyPr wrap="square" anchor="ctr" lIns="45720" rIns="45720" tIns="22860" bIns="22860">
            <a:spAutoFit/>
          </a:bodyPr>
          <a:lstStyle/>
          <a:p>
            <a:pPr algn="l">
              <a:lnSpc>
                <a:spcPct val="100000"/>
              </a:lnSpc>
            </a:pPr>
            <a:r>
              <a:rPr sz="1100" b="0">
                <a:solidFill>
                  <a:srgbClr val="003262"/>
                </a:solidFill>
                <a:latin typeface="Arial"/>
              </a:rPr>
              <a:t>[d91] themiddlemarket.com</a:t>
            </a:r>
          </a:p>
        </p:txBody>
      </p:sp>
      <p:sp>
        <p:nvSpPr>
          <p:cNvPr id="67" name="Rectangle 66"/>
          <p:cNvSpPr/>
          <p:nvPr/>
        </p:nvSpPr>
        <p:spPr>
          <a:xfrm>
            <a:off x="365760" y="5870448"/>
            <a:ext cx="11457432" cy="5486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5907024"/>
            <a:ext cx="11064240" cy="47548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A number an analyst can click through to a real headline is worth more than a number on its own. The checking is automatic.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What We Found</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The take-aways, with the numbers behind them</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6 · CONCLUSION</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13</a:t>
            </a:r>
          </a:p>
        </p:txBody>
      </p:sp>
      <p:sp>
        <p:nvSpPr>
          <p:cNvPr id="10" name="Rectangle 9"/>
          <p:cNvSpPr/>
          <p:nvPr/>
        </p:nvSpPr>
        <p:spPr>
          <a:xfrm>
            <a:off x="365760" y="1298448"/>
            <a:ext cx="50292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298448"/>
            <a:ext cx="502920" cy="91440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1</a:t>
            </a:r>
          </a:p>
        </p:txBody>
      </p:sp>
      <p:sp>
        <p:nvSpPr>
          <p:cNvPr id="12" name="Rectangle 11"/>
          <p:cNvSpPr/>
          <p:nvPr/>
        </p:nvSpPr>
        <p:spPr>
          <a:xfrm>
            <a:off x="868680" y="1298448"/>
            <a:ext cx="10954512" cy="914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335024"/>
            <a:ext cx="10698480" cy="859536"/>
          </a:xfrm>
          <a:prstGeom prst="rect">
            <a:avLst/>
          </a:prstGeom>
          <a:noFill/>
        </p:spPr>
        <p:txBody>
          <a:bodyPr wrap="square" anchor="ctr" lIns="45720" rIns="45720" tIns="22860" bIns="22860">
            <a:spAutoFit/>
          </a:bodyPr>
          <a:lstStyle/>
          <a:p>
            <a:pPr algn="l">
              <a:lnSpc>
                <a:spcPct val="125000"/>
              </a:lnSpc>
            </a:pPr>
            <a:r>
              <a:rPr sz="1400" b="1">
                <a:solidFill>
                  <a:srgbClr val="003262"/>
                </a:solidFill>
                <a:latin typeface="Arial"/>
              </a:rPr>
              <a:t>Free news does not predict these deals early.</a:t>
            </a:r>
          </a:p>
          <a:p>
            <a:pPr algn="l">
              <a:lnSpc>
                <a:spcPct val="125000"/>
              </a:lnSpc>
            </a:pPr>
            <a:r>
              <a:rPr sz="1200" b="0">
                <a:solidFill>
                  <a:srgbClr val="606A75"/>
                </a:solidFill>
                <a:latin typeface="Arial"/>
              </a:rPr>
              <a:t>Best AUC 0.551 across 2,002 windows, and the range still includes a coin flip. A small edge at best.</a:t>
            </a:r>
          </a:p>
        </p:txBody>
      </p:sp>
      <p:sp>
        <p:nvSpPr>
          <p:cNvPr id="14" name="Rectangle 13"/>
          <p:cNvSpPr/>
          <p:nvPr/>
        </p:nvSpPr>
        <p:spPr>
          <a:xfrm>
            <a:off x="365760" y="2267712"/>
            <a:ext cx="50292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267712"/>
            <a:ext cx="502920" cy="91440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2</a:t>
            </a:r>
          </a:p>
        </p:txBody>
      </p:sp>
      <p:sp>
        <p:nvSpPr>
          <p:cNvPr id="16" name="Rectangle 15"/>
          <p:cNvSpPr/>
          <p:nvPr/>
        </p:nvSpPr>
        <p:spPr>
          <a:xfrm>
            <a:off x="868680" y="2267712"/>
            <a:ext cx="10954512" cy="914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304288"/>
            <a:ext cx="10698480" cy="859536"/>
          </a:xfrm>
          <a:prstGeom prst="rect">
            <a:avLst/>
          </a:prstGeom>
          <a:noFill/>
        </p:spPr>
        <p:txBody>
          <a:bodyPr wrap="square" anchor="ctr" lIns="45720" rIns="45720" tIns="22860" bIns="22860">
            <a:spAutoFit/>
          </a:bodyPr>
          <a:lstStyle/>
          <a:p>
            <a:pPr algn="l">
              <a:lnSpc>
                <a:spcPct val="125000"/>
              </a:lnSpc>
            </a:pPr>
            <a:r>
              <a:rPr sz="1400" b="1">
                <a:solidFill>
                  <a:srgbClr val="003262"/>
                </a:solidFill>
                <a:latin typeface="Arial"/>
              </a:rPr>
              <a:t>The limit is the data, not the method.</a:t>
            </a:r>
          </a:p>
          <a:p>
            <a:pPr algn="l">
              <a:lnSpc>
                <a:spcPct val="125000"/>
              </a:lnSpc>
            </a:pPr>
            <a:r>
              <a:rPr sz="1200" b="0">
                <a:solidFill>
                  <a:srgbClr val="606A75"/>
                </a:solidFill>
                <a:latin typeface="Arial"/>
              </a:rPr>
              <a:t>The same setup spots deals the week they land at 0.79. Coverage barely exists before the announcement, so there is little to find.</a:t>
            </a:r>
          </a:p>
        </p:txBody>
      </p:sp>
      <p:sp>
        <p:nvSpPr>
          <p:cNvPr id="18" name="Rectangle 17"/>
          <p:cNvSpPr/>
          <p:nvPr/>
        </p:nvSpPr>
        <p:spPr>
          <a:xfrm>
            <a:off x="365760" y="3236976"/>
            <a:ext cx="50292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3236976"/>
            <a:ext cx="502920" cy="91440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3</a:t>
            </a:r>
          </a:p>
        </p:txBody>
      </p:sp>
      <p:sp>
        <p:nvSpPr>
          <p:cNvPr id="20" name="Rectangle 19"/>
          <p:cNvSpPr/>
          <p:nvPr/>
        </p:nvSpPr>
        <p:spPr>
          <a:xfrm>
            <a:off x="868680" y="3236976"/>
            <a:ext cx="10954512" cy="914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3273552"/>
            <a:ext cx="10698480" cy="859536"/>
          </a:xfrm>
          <a:prstGeom prst="rect">
            <a:avLst/>
          </a:prstGeom>
          <a:noFill/>
        </p:spPr>
        <p:txBody>
          <a:bodyPr wrap="square" anchor="ctr" lIns="45720" rIns="45720" tIns="22860" bIns="22860">
            <a:spAutoFit/>
          </a:bodyPr>
          <a:lstStyle/>
          <a:p>
            <a:pPr algn="l">
              <a:lnSpc>
                <a:spcPct val="125000"/>
              </a:lnSpc>
            </a:pPr>
            <a:r>
              <a:rPr sz="1400" b="1">
                <a:solidFill>
                  <a:srgbClr val="003262"/>
                </a:solidFill>
                <a:latin typeface="Arial"/>
              </a:rPr>
              <a:t>The LLM and classic NLP work best together.</a:t>
            </a:r>
          </a:p>
          <a:p>
            <a:pPr algn="l">
              <a:lnSpc>
                <a:spcPct val="125000"/>
              </a:lnSpc>
            </a:pPr>
            <a:r>
              <a:rPr sz="1200" b="0">
                <a:solidFill>
                  <a:srgbClr val="606A75"/>
                </a:solidFill>
                <a:latin typeface="Arial"/>
              </a:rPr>
              <a:t>Classic NLP 0.525, LLM 0.518, both together 0.551 (the highest). They read different things, so combining them helps, though the edge is small.</a:t>
            </a:r>
          </a:p>
        </p:txBody>
      </p:sp>
      <p:sp>
        <p:nvSpPr>
          <p:cNvPr id="22" name="Rectangle 21"/>
          <p:cNvSpPr/>
          <p:nvPr/>
        </p:nvSpPr>
        <p:spPr>
          <a:xfrm>
            <a:off x="365760" y="4206240"/>
            <a:ext cx="50292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4206240"/>
            <a:ext cx="502920" cy="91440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4</a:t>
            </a:r>
          </a:p>
        </p:txBody>
      </p:sp>
      <p:sp>
        <p:nvSpPr>
          <p:cNvPr id="24" name="Rectangle 23"/>
          <p:cNvSpPr/>
          <p:nvPr/>
        </p:nvSpPr>
        <p:spPr>
          <a:xfrm>
            <a:off x="868680" y="4206240"/>
            <a:ext cx="10954512" cy="914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242816"/>
            <a:ext cx="10698480" cy="859536"/>
          </a:xfrm>
          <a:prstGeom prst="rect">
            <a:avLst/>
          </a:prstGeom>
          <a:noFill/>
        </p:spPr>
        <p:txBody>
          <a:bodyPr wrap="square" anchor="ctr" lIns="45720" rIns="45720" tIns="22860" bIns="22860">
            <a:spAutoFit/>
          </a:bodyPr>
          <a:lstStyle/>
          <a:p>
            <a:pPr algn="l">
              <a:lnSpc>
                <a:spcPct val="125000"/>
              </a:lnSpc>
            </a:pPr>
            <a:r>
              <a:rPr sz="1400" b="1">
                <a:solidFill>
                  <a:srgbClr val="003262"/>
                </a:solidFill>
                <a:latin typeface="Arial"/>
              </a:rPr>
              <a:t>The LLM is honest.</a:t>
            </a:r>
          </a:p>
          <a:p>
            <a:pPr algn="l">
              <a:lnSpc>
                <a:spcPct val="125000"/>
              </a:lnSpc>
            </a:pPr>
            <a:r>
              <a:rPr sz="1200" b="0">
                <a:solidFill>
                  <a:srgbClr val="606A75"/>
                </a:solidFill>
                <a:latin typeface="Arial"/>
              </a:rPr>
              <a:t>It reads rather than remembers, its scores hold up when we hide names and when we re-run, and every score cites a real headline.</a:t>
            </a:r>
          </a:p>
        </p:txBody>
      </p:sp>
      <p:sp>
        <p:nvSpPr>
          <p:cNvPr id="26" name="Rectangle 25"/>
          <p:cNvSpPr/>
          <p:nvPr/>
        </p:nvSpPr>
        <p:spPr>
          <a:xfrm>
            <a:off x="365760" y="5175504"/>
            <a:ext cx="502920" cy="9144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175504"/>
            <a:ext cx="502920" cy="914400"/>
          </a:xfrm>
          <a:prstGeom prst="rect">
            <a:avLst/>
          </a:prstGeom>
          <a:noFill/>
        </p:spPr>
        <p:txBody>
          <a:bodyPr wrap="square" anchor="ctr" lIns="45720" rIns="45720" tIns="22860" bIns="22860">
            <a:spAutoFit/>
          </a:bodyPr>
          <a:lstStyle/>
          <a:p>
            <a:pPr algn="ctr">
              <a:lnSpc>
                <a:spcPct val="100000"/>
              </a:lnSpc>
            </a:pPr>
            <a:r>
              <a:rPr sz="2200" b="1">
                <a:solidFill>
                  <a:srgbClr val="FDB515"/>
                </a:solidFill>
                <a:latin typeface="Arial"/>
              </a:rPr>
              <a:t>5</a:t>
            </a:r>
          </a:p>
        </p:txBody>
      </p:sp>
      <p:sp>
        <p:nvSpPr>
          <p:cNvPr id="28" name="Rectangle 27"/>
          <p:cNvSpPr/>
          <p:nvPr/>
        </p:nvSpPr>
        <p:spPr>
          <a:xfrm>
            <a:off x="868680" y="5175504"/>
            <a:ext cx="10954512" cy="91440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212080"/>
            <a:ext cx="10698480" cy="859536"/>
          </a:xfrm>
          <a:prstGeom prst="rect">
            <a:avLst/>
          </a:prstGeom>
          <a:noFill/>
        </p:spPr>
        <p:txBody>
          <a:bodyPr wrap="square" anchor="ctr" lIns="45720" rIns="45720" tIns="22860" bIns="22860">
            <a:spAutoFit/>
          </a:bodyPr>
          <a:lstStyle/>
          <a:p>
            <a:pPr algn="l">
              <a:lnSpc>
                <a:spcPct val="125000"/>
              </a:lnSpc>
            </a:pPr>
            <a:r>
              <a:rPr sz="1400" b="1">
                <a:solidFill>
                  <a:srgbClr val="003262"/>
                </a:solidFill>
                <a:latin typeface="Arial"/>
              </a:rPr>
              <a:t>One thing works today.</a:t>
            </a:r>
          </a:p>
          <a:p>
            <a:pPr algn="l">
              <a:lnSpc>
                <a:spcPct val="125000"/>
              </a:lnSpc>
            </a:pPr>
            <a:r>
              <a:rPr sz="1200" b="0">
                <a:solidFill>
                  <a:srgbClr val="606A75"/>
                </a:solidFill>
                <a:latin typeface="Arial"/>
              </a:rPr>
              <a:t>Spotting deals as they are announced, from free news, at 0.79 for about $2 of compute.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What We Would Do Next</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Ordered by what would move the needle most</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6 · CONCLUSION</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14</a:t>
            </a:r>
          </a:p>
        </p:txBody>
      </p:sp>
      <p:sp>
        <p:nvSpPr>
          <p:cNvPr id="10" name="Rectangle 9"/>
          <p:cNvSpPr/>
          <p:nvPr/>
        </p:nvSpPr>
        <p:spPr>
          <a:xfrm>
            <a:off x="365760" y="1325880"/>
            <a:ext cx="562356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350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CHANGE THE INPUT</a:t>
            </a:r>
          </a:p>
        </p:txBody>
      </p:sp>
      <p:sp>
        <p:nvSpPr>
          <p:cNvPr id="12" name="Rectangle 11"/>
          <p:cNvSpPr/>
          <p:nvPr/>
        </p:nvSpPr>
        <p:spPr>
          <a:xfrm>
            <a:off x="365760" y="1709928"/>
            <a:ext cx="5623560" cy="35661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783080"/>
            <a:ext cx="5477256" cy="341985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The biggest gain is a different input, not a fancier model.</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Go upstream of the news. </a:t>
            </a:r>
            <a:r>
              <a:rPr sz="1250" b="0">
                <a:solidFill>
                  <a:srgbClr val="003262"/>
                </a:solidFill>
                <a:latin typeface="Arial"/>
              </a:rPr>
              <a:t>Company financials (debt, cash, a cheap valuation, activist investors building a stake) are where the older research finds its signal. News is a late, downstream symptom.</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Read filings, not just headlines. </a:t>
            </a:r>
            <a:r>
              <a:rPr sz="1250" b="0">
                <a:solidFill>
                  <a:srgbClr val="003262"/>
                </a:solidFill>
                <a:latin typeface="Arial"/>
              </a:rPr>
              <a:t>Annual reports and earnings calls often hint at a sale months earlier. The extractor already takes long text.</a:t>
            </a:r>
          </a:p>
        </p:txBody>
      </p:sp>
      <p:sp>
        <p:nvSpPr>
          <p:cNvPr id="14" name="Rectangle 13"/>
          <p:cNvSpPr/>
          <p:nvPr/>
        </p:nvSpPr>
        <p:spPr>
          <a:xfrm>
            <a:off x="6199632" y="1325880"/>
            <a:ext cx="562356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1335024"/>
            <a:ext cx="562356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TWO SMALLER STEPS</a:t>
            </a:r>
          </a:p>
        </p:txBody>
      </p:sp>
      <p:sp>
        <p:nvSpPr>
          <p:cNvPr id="16" name="Rectangle 15"/>
          <p:cNvSpPr/>
          <p:nvPr/>
        </p:nvSpPr>
        <p:spPr>
          <a:xfrm>
            <a:off x="6199632" y="1709928"/>
            <a:ext cx="5623560" cy="356616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2784" y="1783080"/>
            <a:ext cx="5477256" cy="3419856"/>
          </a:xfrm>
          <a:prstGeom prst="rect">
            <a:avLst/>
          </a:prstGeom>
          <a:noFill/>
        </p:spPr>
        <p:txBody>
          <a:bodyPr wrap="square" anchor="t" lIns="45720" rIns="45720" tIns="22860" bIns="22860">
            <a:spAutoFit/>
          </a:bodyPr>
          <a:lstStyle/>
          <a:p>
            <a:pPr algn="l">
              <a:lnSpc>
                <a:spcPct val="100000"/>
              </a:lnSpc>
            </a:pPr>
            <a:r>
              <a:rPr sz="1250" b="1">
                <a:solidFill>
                  <a:srgbClr val="003262"/>
                </a:solidFill>
                <a:latin typeface="Arial"/>
              </a:rPr>
              <a:t>Price the free-data limit. </a:t>
            </a:r>
            <a:r>
              <a:rPr sz="1250" b="0">
                <a:solidFill>
                  <a:srgbClr val="003262"/>
                </a:solidFill>
                <a:latin typeface="Arial"/>
              </a:rPr>
              <a:t>Run one paid news feed once, and measure how much the free-only rule costs us. That number is a result in itself.</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Get a bigger test set. </a:t>
            </a:r>
            <a:r>
              <a:rPr sz="1250" b="0">
                <a:solidFill>
                  <a:srgbClr val="003262"/>
                </a:solidFill>
                <a:latin typeface="Arial"/>
              </a:rPr>
              <a:t>More deals would tighten the range and settle whether the small edge is real or not.</a:t>
            </a:r>
          </a:p>
          <a:p>
            <a:pPr algn="l">
              <a:lnSpc>
                <a:spcPct val="100000"/>
              </a:lnSpc>
            </a:pPr>
            <a:r>
              <a:rPr sz="1250" b="0">
                <a:solidFill>
                  <a:srgbClr val="003262"/>
                </a:solidFill>
                <a:latin typeface="Arial"/>
              </a:rPr>
              <a:t/>
            </a:r>
          </a:p>
          <a:p>
            <a:pPr algn="l">
              <a:lnSpc>
                <a:spcPct val="100000"/>
              </a:lnSpc>
            </a:pPr>
            <a:r>
              <a:rPr sz="1250" b="1">
                <a:solidFill>
                  <a:srgbClr val="003262"/>
                </a:solidFill>
                <a:latin typeface="Arial"/>
              </a:rPr>
              <a:t>Keep classic NLP as the cheap baseline. </a:t>
            </a:r>
            <a:r>
              <a:rPr sz="1250" b="0">
                <a:solidFill>
                  <a:srgbClr val="003262"/>
                </a:solidFill>
                <a:latin typeface="Arial"/>
              </a:rPr>
              <a:t>It matched the LLM here, at a fraction of the cost.</a:t>
            </a:r>
          </a:p>
        </p:txBody>
      </p:sp>
      <p:sp>
        <p:nvSpPr>
          <p:cNvPr id="18" name="Rectangle 17"/>
          <p:cNvSpPr/>
          <p:nvPr/>
        </p:nvSpPr>
        <p:spPr>
          <a:xfrm>
            <a:off x="365760" y="5870448"/>
            <a:ext cx="11457432" cy="54864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907024"/>
            <a:ext cx="11064240" cy="47548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Every diagnostic points at the same thing: the news is a late signal. The next step is to look where the early signal actually lives.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54864"/>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cb_wordmark_gold.png"/>
          <p:cNvPicPr>
            <a:picLocks noChangeAspect="1"/>
          </p:cNvPicPr>
          <p:nvPr/>
        </p:nvPicPr>
        <p:blipFill>
          <a:blip r:embed="rId2"/>
          <a:stretch>
            <a:fillRect/>
          </a:stretch>
        </p:blipFill>
        <p:spPr>
          <a:xfrm>
            <a:off x="4709160" y="1188720"/>
            <a:ext cx="2743200" cy="383955"/>
          </a:xfrm>
          <a:prstGeom prst="rect">
            <a:avLst/>
          </a:prstGeom>
        </p:spPr>
      </p:pic>
      <p:sp>
        <p:nvSpPr>
          <p:cNvPr id="5" name="TextBox 4"/>
          <p:cNvSpPr txBox="1"/>
          <p:nvPr/>
        </p:nvSpPr>
        <p:spPr>
          <a:xfrm>
            <a:off x="640080" y="2148840"/>
            <a:ext cx="10881360" cy="914400"/>
          </a:xfrm>
          <a:prstGeom prst="rect">
            <a:avLst/>
          </a:prstGeom>
          <a:noFill/>
        </p:spPr>
        <p:txBody>
          <a:bodyPr wrap="square" anchor="t" lIns="45720" rIns="45720" tIns="22860" bIns="22860">
            <a:spAutoFit/>
          </a:bodyPr>
          <a:lstStyle/>
          <a:p>
            <a:pPr algn="ctr">
              <a:lnSpc>
                <a:spcPct val="100000"/>
              </a:lnSpc>
            </a:pPr>
            <a:r>
              <a:rPr sz="4800" b="1">
                <a:solidFill>
                  <a:srgbClr val="FFFFFF"/>
                </a:solidFill>
                <a:latin typeface="Arial"/>
              </a:rPr>
              <a:t>Thank You</a:t>
            </a:r>
          </a:p>
        </p:txBody>
      </p:sp>
      <p:sp>
        <p:nvSpPr>
          <p:cNvPr id="6" name="TextBox 5"/>
          <p:cNvSpPr txBox="1"/>
          <p:nvPr/>
        </p:nvSpPr>
        <p:spPr>
          <a:xfrm>
            <a:off x="640080" y="3611880"/>
            <a:ext cx="10881360" cy="1463040"/>
          </a:xfrm>
          <a:prstGeom prst="rect">
            <a:avLst/>
          </a:prstGeom>
          <a:noFill/>
        </p:spPr>
        <p:txBody>
          <a:bodyPr wrap="square" anchor="t" lIns="45720" rIns="45720" tIns="22860" bIns="22860">
            <a:spAutoFit/>
          </a:bodyPr>
          <a:lstStyle/>
          <a:p>
            <a:pPr algn="ctr">
              <a:lnSpc>
                <a:spcPct val="170000"/>
              </a:lnSpc>
            </a:pPr>
            <a:r>
              <a:rPr sz="1700" b="1">
                <a:solidFill>
                  <a:srgbClr val="FDB515"/>
                </a:solidFill>
                <a:latin typeface="Arial"/>
              </a:rPr>
              <a:t>Predicting M&amp;A from Free News  ·  Classic NLP vs an LLM</a:t>
            </a:r>
          </a:p>
          <a:p>
            <a:pPr algn="ctr">
              <a:lnSpc>
                <a:spcPct val="170000"/>
              </a:lnSpc>
            </a:pPr>
            <a:r>
              <a:rPr sz="1500" b="0">
                <a:solidFill>
                  <a:srgbClr val="FFFFFF"/>
                </a:solidFill>
                <a:latin typeface="Arial"/>
              </a:rPr>
              <a:t>Dexin Fu   ·   Ronald Liu</a:t>
            </a:r>
          </a:p>
          <a:p>
            <a:pPr algn="ctr">
              <a:lnSpc>
                <a:spcPct val="170000"/>
              </a:lnSpc>
            </a:pPr>
            <a:r>
              <a:rPr sz="1250" b="0">
                <a:solidFill>
                  <a:srgbClr val="D6E8F7"/>
                </a:solidFill>
                <a:latin typeface="Arial"/>
              </a:rPr>
              <a:t>Full write-up, notebooks and code in the project repository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54864"/>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2788920"/>
            <a:ext cx="12191695" cy="822960"/>
          </a:xfrm>
          <a:prstGeom prst="rect">
            <a:avLst/>
          </a:prstGeom>
          <a:noFill/>
        </p:spPr>
        <p:txBody>
          <a:bodyPr wrap="square" anchor="t" lIns="45720" rIns="45720" tIns="22860" bIns="22860">
            <a:spAutoFit/>
          </a:bodyPr>
          <a:lstStyle/>
          <a:p>
            <a:pPr algn="ctr">
              <a:lnSpc>
                <a:spcPct val="100000"/>
              </a:lnSpc>
            </a:pPr>
            <a:r>
              <a:rPr sz="4400" b="1">
                <a:solidFill>
                  <a:srgbClr val="FFFFFF"/>
                </a:solidFill>
                <a:latin typeface="Arial"/>
              </a:rPr>
              <a:t>Appendix</a:t>
            </a:r>
          </a:p>
        </p:txBody>
      </p:sp>
      <p:sp>
        <p:nvSpPr>
          <p:cNvPr id="5" name="TextBox 4"/>
          <p:cNvSpPr txBox="1"/>
          <p:nvPr/>
        </p:nvSpPr>
        <p:spPr>
          <a:xfrm>
            <a:off x="0" y="3703320"/>
            <a:ext cx="12191695" cy="457200"/>
          </a:xfrm>
          <a:prstGeom prst="rect">
            <a:avLst/>
          </a:prstGeom>
          <a:noFill/>
        </p:spPr>
        <p:txBody>
          <a:bodyPr wrap="square" anchor="t" lIns="45720" rIns="45720" tIns="22860" bIns="22860">
            <a:spAutoFit/>
          </a:bodyPr>
          <a:lstStyle/>
          <a:p>
            <a:pPr algn="ctr">
              <a:lnSpc>
                <a:spcPct val="100000"/>
              </a:lnSpc>
            </a:pPr>
            <a:r>
              <a:rPr sz="1500" b="0">
                <a:solidFill>
                  <a:srgbClr val="D6E8F7"/>
                </a:solidFill>
                <a:latin typeface="Arial"/>
              </a:rPr>
              <a:t>Backup detail for questions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Where This Fits in the Literature</a:t>
            </a:r>
          </a:p>
        </p:txBody>
      </p:sp>
      <p:sp>
        <p:nvSpPr>
          <p:cNvPr id="4" name="TextBox 3"/>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APPENDIX</a:t>
            </a:r>
          </a:p>
        </p:txBody>
      </p:sp>
      <p:sp>
        <p:nvSpPr>
          <p:cNvPr id="5" name="Rectangle 4"/>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8" name="TextBox 7"/>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15</a:t>
            </a:r>
          </a:p>
        </p:txBody>
      </p:sp>
      <p:sp>
        <p:nvSpPr>
          <p:cNvPr id="9" name="Rectangle 8"/>
          <p:cNvSpPr/>
          <p:nvPr/>
        </p:nvSpPr>
        <p:spPr>
          <a:xfrm>
            <a:off x="365760" y="1298448"/>
            <a:ext cx="370332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307592"/>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TAKEOVER PREDICTION</a:t>
            </a:r>
          </a:p>
        </p:txBody>
      </p:sp>
      <p:sp>
        <p:nvSpPr>
          <p:cNvPr id="11" name="Rectangle 10"/>
          <p:cNvSpPr/>
          <p:nvPr/>
        </p:nvSpPr>
        <p:spPr>
          <a:xfrm>
            <a:off x="365760" y="1682496"/>
            <a:ext cx="3703320" cy="3246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755648"/>
            <a:ext cx="3557016" cy="309981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Palepu (1986) </a:t>
            </a:r>
            <a:r>
              <a:rPr sz="1200" b="0">
                <a:solidFill>
                  <a:srgbClr val="003262"/>
                </a:solidFill>
                <a:latin typeface="Arial"/>
              </a:rPr>
              <a:t>set the template: predict targets from company fundamentals.</a:t>
            </a:r>
          </a:p>
          <a:p>
            <a:pPr algn="l">
              <a:lnSpc>
                <a:spcPct val="100000"/>
              </a:lnSpc>
            </a:pPr>
            <a:r>
              <a:rPr sz="1200" b="0">
                <a:solidFill>
                  <a:srgbClr val="003262"/>
                </a:solidFill>
                <a:latin typeface="Arial"/>
              </a:rPr>
              <a:t/>
            </a:r>
          </a:p>
          <a:p>
            <a:pPr algn="l">
              <a:lnSpc>
                <a:spcPct val="100000"/>
              </a:lnSpc>
            </a:pPr>
            <a:r>
              <a:rPr sz="1200" b="0">
                <a:solidFill>
                  <a:srgbClr val="003262"/>
                </a:solidFill>
                <a:latin typeface="Arial"/>
              </a:rPr>
              <a:t>Later work (Ambrose &amp; Megginson 1992, Powell 2001) finds the same thing: a little better than chance, and the edge fades after trading costs.</a:t>
            </a:r>
          </a:p>
          <a:p>
            <a:pPr algn="l">
              <a:lnSpc>
                <a:spcPct val="100000"/>
              </a:lnSpc>
            </a:pPr>
            <a:r>
              <a:rPr sz="1200" b="0">
                <a:solidFill>
                  <a:srgbClr val="003262"/>
                </a:solidFill>
                <a:latin typeface="Arial"/>
              </a:rPr>
              <a:t/>
            </a:r>
          </a:p>
          <a:p>
            <a:pPr algn="l">
              <a:lnSpc>
                <a:spcPct val="100000"/>
              </a:lnSpc>
            </a:pPr>
            <a:r>
              <a:rPr sz="1200" b="1">
                <a:solidFill>
                  <a:srgbClr val="C4820E"/>
                </a:solidFill>
                <a:latin typeface="Arial"/>
              </a:rPr>
              <a:t>Takeaway: </a:t>
            </a:r>
            <a:r>
              <a:rPr sz="1200" b="0">
                <a:solidFill>
                  <a:srgbClr val="003262"/>
                </a:solidFill>
                <a:latin typeface="Arial"/>
              </a:rPr>
              <a:t>an AUC of 0.55 to 0.70 is the realistic ceiling, not 0.90.</a:t>
            </a:r>
          </a:p>
        </p:txBody>
      </p:sp>
      <p:sp>
        <p:nvSpPr>
          <p:cNvPr id="13" name="Rectangle 12"/>
          <p:cNvSpPr/>
          <p:nvPr/>
        </p:nvSpPr>
        <p:spPr>
          <a:xfrm>
            <a:off x="4233672" y="1298448"/>
            <a:ext cx="3703320"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33672" y="1307592"/>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TEXT AS A SIGNAL</a:t>
            </a:r>
          </a:p>
        </p:txBody>
      </p:sp>
      <p:sp>
        <p:nvSpPr>
          <p:cNvPr id="15" name="Rectangle 14"/>
          <p:cNvSpPr/>
          <p:nvPr/>
        </p:nvSpPr>
        <p:spPr>
          <a:xfrm>
            <a:off x="4233672" y="1682496"/>
            <a:ext cx="3703320" cy="3246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06824" y="1755648"/>
            <a:ext cx="3557016" cy="309981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Tetlock (2007) </a:t>
            </a:r>
            <a:r>
              <a:rPr sz="1200" b="0">
                <a:solidFill>
                  <a:srgbClr val="003262"/>
                </a:solidFill>
                <a:latin typeface="Arial"/>
              </a:rPr>
              <a:t>showed news tone moves prices.</a:t>
            </a:r>
          </a:p>
          <a:p>
            <a:pPr algn="l">
              <a:lnSpc>
                <a:spcPct val="100000"/>
              </a:lnSpc>
            </a:pPr>
            <a:r>
              <a:rPr sz="1200" b="0">
                <a:solidFill>
                  <a:srgbClr val="003262"/>
                </a:solidFill>
                <a:latin typeface="Arial"/>
              </a:rPr>
              <a:t/>
            </a:r>
          </a:p>
          <a:p>
            <a:pPr algn="l">
              <a:lnSpc>
                <a:spcPct val="100000"/>
              </a:lnSpc>
            </a:pPr>
            <a:r>
              <a:rPr sz="1200" b="1">
                <a:solidFill>
                  <a:srgbClr val="003262"/>
                </a:solidFill>
                <a:latin typeface="Arial"/>
              </a:rPr>
              <a:t>Loughran &amp; McDonald (2011) </a:t>
            </a:r>
            <a:r>
              <a:rPr sz="1200" b="0">
                <a:solidFill>
                  <a:srgbClr val="003262"/>
                </a:solidFill>
                <a:latin typeface="Arial"/>
              </a:rPr>
              <a:t>showed generic word lists misread financial text, so we use finance-specific tools like FinBERT (Araci 2019).</a:t>
            </a:r>
          </a:p>
        </p:txBody>
      </p:sp>
      <p:sp>
        <p:nvSpPr>
          <p:cNvPr id="17" name="Rectangle 16"/>
          <p:cNvSpPr/>
          <p:nvPr/>
        </p:nvSpPr>
        <p:spPr>
          <a:xfrm>
            <a:off x="8101583" y="1298448"/>
            <a:ext cx="3721608" cy="384048"/>
          </a:xfrm>
          <a:prstGeom prst="rect">
            <a:avLst/>
          </a:prstGeom>
          <a:solidFill>
            <a:srgbClr val="3B7E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3" y="1307592"/>
            <a:ext cx="3721608"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LLMs IN FINANCE</a:t>
            </a:r>
          </a:p>
        </p:txBody>
      </p:sp>
      <p:sp>
        <p:nvSpPr>
          <p:cNvPr id="19" name="Rectangle 18"/>
          <p:cNvSpPr/>
          <p:nvPr/>
        </p:nvSpPr>
        <p:spPr>
          <a:xfrm>
            <a:off x="8101583" y="1682496"/>
            <a:ext cx="3721608" cy="324612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5" y="1755648"/>
            <a:ext cx="3575304" cy="309981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Lopez-Lira &amp; Tang (2023) </a:t>
            </a:r>
            <a:r>
              <a:rPr sz="1200" b="0">
                <a:solidFill>
                  <a:srgbClr val="003262"/>
                </a:solidFill>
                <a:latin typeface="Arial"/>
              </a:rPr>
              <a:t>found ChatGPT headline scores predict next-day returns, but the memory-vs-reasoning question was left open.</a:t>
            </a:r>
          </a:p>
          <a:p>
            <a:pPr algn="l">
              <a:lnSpc>
                <a:spcPct val="100000"/>
              </a:lnSpc>
            </a:pPr>
            <a:r>
              <a:rPr sz="1200" b="0">
                <a:solidFill>
                  <a:srgbClr val="003262"/>
                </a:solidFill>
                <a:latin typeface="Arial"/>
              </a:rPr>
              <a:t/>
            </a:r>
          </a:p>
          <a:p>
            <a:pPr algn="l">
              <a:lnSpc>
                <a:spcPct val="100000"/>
              </a:lnSpc>
            </a:pPr>
            <a:r>
              <a:rPr sz="1200" b="1">
                <a:solidFill>
                  <a:srgbClr val="C4820E"/>
                </a:solidFill>
                <a:latin typeface="Arial"/>
              </a:rPr>
              <a:t>Our angle: </a:t>
            </a:r>
            <a:r>
              <a:rPr sz="1200" b="0">
                <a:solidFill>
                  <a:srgbClr val="003262"/>
                </a:solidFill>
                <a:latin typeface="Arial"/>
              </a:rPr>
              <a:t>run classic NLP and an LLM on the exact same news, then test hard whether the LLM is reading or remembering.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Cleaning the News First</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Three ways the raw text was misleading, and the fix for each</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APPENDIX</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16</a:t>
            </a:r>
          </a:p>
        </p:txBody>
      </p:sp>
      <p:sp>
        <p:nvSpPr>
          <p:cNvPr id="10" name="Rectangle 9"/>
          <p:cNvSpPr/>
          <p:nvPr/>
        </p:nvSpPr>
        <p:spPr>
          <a:xfrm>
            <a:off x="365760" y="1325880"/>
            <a:ext cx="37033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3502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FILING STUBS READ AS NEWS</a:t>
            </a:r>
          </a:p>
        </p:txBody>
      </p:sp>
      <p:sp>
        <p:nvSpPr>
          <p:cNvPr id="12" name="Rectangle 11"/>
          <p:cNvSpPr/>
          <p:nvPr/>
        </p:nvSpPr>
        <p:spPr>
          <a:xfrm>
            <a:off x="365760" y="1709928"/>
            <a:ext cx="3703320" cy="28346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1783080"/>
            <a:ext cx="3557016" cy="268833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Problem: </a:t>
            </a:r>
            <a:r>
              <a:rPr sz="1200" b="0">
                <a:solidFill>
                  <a:srgbClr val="003262"/>
                </a:solidFill>
                <a:latin typeface="Arial"/>
              </a:rPr>
              <a:t>auto-generated filing lines ('COMPANY filed an 8-K on...') were about 40% of the text, and the tone models scored them like real articles.</a:t>
            </a:r>
          </a:p>
          <a:p>
            <a:pPr algn="l">
              <a:lnSpc>
                <a:spcPct val="100000"/>
              </a:lnSpc>
            </a:pPr>
            <a:r>
              <a:rPr sz="1200" b="0">
                <a:solidFill>
                  <a:srgbClr val="003262"/>
                </a:solidFill>
                <a:latin typeface="Arial"/>
              </a:rPr>
              <a:t/>
            </a:r>
          </a:p>
          <a:p>
            <a:pPr algn="l">
              <a:lnSpc>
                <a:spcPct val="100000"/>
              </a:lnSpc>
            </a:pPr>
            <a:r>
              <a:rPr sz="1200" b="1">
                <a:solidFill>
                  <a:srgbClr val="1A7A4A"/>
                </a:solidFill>
                <a:latin typeface="Arial"/>
              </a:rPr>
              <a:t>Fix: </a:t>
            </a:r>
            <a:r>
              <a:rPr sz="1200" b="0">
                <a:solidFill>
                  <a:srgbClr val="003262"/>
                </a:solidFill>
                <a:latin typeface="Arial"/>
              </a:rPr>
              <a:t>use news for tone; turn filings into plain counts instead.</a:t>
            </a:r>
          </a:p>
        </p:txBody>
      </p:sp>
      <p:sp>
        <p:nvSpPr>
          <p:cNvPr id="14" name="Rectangle 13"/>
          <p:cNvSpPr/>
          <p:nvPr/>
        </p:nvSpPr>
        <p:spPr>
          <a:xfrm>
            <a:off x="4233672" y="1325880"/>
            <a:ext cx="37033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133502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COMPANY NAMES AS SIGNAL</a:t>
            </a:r>
          </a:p>
        </p:txBody>
      </p:sp>
      <p:sp>
        <p:nvSpPr>
          <p:cNvPr id="16" name="Rectangle 15"/>
          <p:cNvSpPr/>
          <p:nvPr/>
        </p:nvSpPr>
        <p:spPr>
          <a:xfrm>
            <a:off x="4233672" y="1709928"/>
            <a:ext cx="3703320" cy="28346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6824" y="1783080"/>
            <a:ext cx="3557016" cy="268833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Problem: </a:t>
            </a:r>
            <a:r>
              <a:rPr sz="1200" b="0">
                <a:solidFill>
                  <a:srgbClr val="003262"/>
                </a:solidFill>
                <a:latin typeface="Arial"/>
              </a:rPr>
              <a:t>both windows are the same company, so the most 'distinctive' words were just its name, which does not generalise.</a:t>
            </a:r>
          </a:p>
          <a:p>
            <a:pPr algn="l">
              <a:lnSpc>
                <a:spcPct val="100000"/>
              </a:lnSpc>
            </a:pPr>
            <a:r>
              <a:rPr sz="1200" b="0">
                <a:solidFill>
                  <a:srgbClr val="003262"/>
                </a:solidFill>
                <a:latin typeface="Arial"/>
              </a:rPr>
              <a:t/>
            </a:r>
          </a:p>
          <a:p>
            <a:pPr algn="l">
              <a:lnSpc>
                <a:spcPct val="100000"/>
              </a:lnSpc>
            </a:pPr>
            <a:r>
              <a:rPr sz="1200" b="1">
                <a:solidFill>
                  <a:srgbClr val="1A7A4A"/>
                </a:solidFill>
                <a:latin typeface="Arial"/>
              </a:rPr>
              <a:t>Fix: </a:t>
            </a:r>
            <a:r>
              <a:rPr sz="1200" b="0">
                <a:solidFill>
                  <a:srgbClr val="003262"/>
                </a:solidFill>
                <a:latin typeface="Arial"/>
              </a:rPr>
              <a:t>blank out each company's own name before counting words.</a:t>
            </a:r>
          </a:p>
        </p:txBody>
      </p:sp>
      <p:sp>
        <p:nvSpPr>
          <p:cNvPr id="18" name="Rectangle 17"/>
          <p:cNvSpPr/>
          <p:nvPr/>
        </p:nvSpPr>
        <p:spPr>
          <a:xfrm>
            <a:off x="8101584" y="1325880"/>
            <a:ext cx="3703320" cy="384048"/>
          </a:xfrm>
          <a:prstGeom prst="rect">
            <a:avLst/>
          </a:prstGeom>
          <a:solidFill>
            <a:srgbClr val="C48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1584" y="1335024"/>
            <a:ext cx="3703320" cy="365760"/>
          </a:xfrm>
          <a:prstGeom prst="rect">
            <a:avLst/>
          </a:prstGeom>
          <a:noFill/>
        </p:spPr>
        <p:txBody>
          <a:bodyPr wrap="square" anchor="t" lIns="45720" rIns="45720" tIns="22860" bIns="22860">
            <a:spAutoFit/>
          </a:bodyPr>
          <a:lstStyle/>
          <a:p>
            <a:pPr algn="ctr">
              <a:lnSpc>
                <a:spcPct val="100000"/>
              </a:lnSpc>
            </a:pPr>
            <a:r>
              <a:rPr sz="1450" b="1">
                <a:solidFill>
                  <a:srgbClr val="FFFFFF"/>
                </a:solidFill>
                <a:latin typeface="Arial"/>
              </a:rPr>
              <a:t>BOT-WRITTEN ARTICLES</a:t>
            </a:r>
          </a:p>
        </p:txBody>
      </p:sp>
      <p:sp>
        <p:nvSpPr>
          <p:cNvPr id="20" name="Rectangle 19"/>
          <p:cNvSpPr/>
          <p:nvPr/>
        </p:nvSpPr>
        <p:spPr>
          <a:xfrm>
            <a:off x="8101584" y="1709928"/>
            <a:ext cx="3703320" cy="2834640"/>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1783080"/>
            <a:ext cx="3557016" cy="2688336"/>
          </a:xfrm>
          <a:prstGeom prst="rect">
            <a:avLst/>
          </a:prstGeom>
          <a:noFill/>
        </p:spPr>
        <p:txBody>
          <a:bodyPr wrap="square" anchor="t" lIns="45720" rIns="45720" tIns="22860" bIns="22860">
            <a:spAutoFit/>
          </a:bodyPr>
          <a:lstStyle/>
          <a:p>
            <a:pPr algn="l">
              <a:lnSpc>
                <a:spcPct val="100000"/>
              </a:lnSpc>
            </a:pPr>
            <a:r>
              <a:rPr sz="1200" b="1">
                <a:solidFill>
                  <a:srgbClr val="003262"/>
                </a:solidFill>
                <a:latin typeface="Arial"/>
              </a:rPr>
              <a:t>Problem: </a:t>
            </a:r>
            <a:r>
              <a:rPr sz="1200" b="0">
                <a:solidFill>
                  <a:srgbClr val="003262"/>
                </a:solidFill>
                <a:latin typeface="Arial"/>
              </a:rPr>
              <a:t>about 17% of items were templated bot posts (holdings updates, rating bots) that show up for any public company.</a:t>
            </a:r>
          </a:p>
          <a:p>
            <a:pPr algn="l">
              <a:lnSpc>
                <a:spcPct val="100000"/>
              </a:lnSpc>
            </a:pPr>
            <a:r>
              <a:rPr sz="1200" b="0">
                <a:solidFill>
                  <a:srgbClr val="003262"/>
                </a:solidFill>
                <a:latin typeface="Arial"/>
              </a:rPr>
              <a:t/>
            </a:r>
          </a:p>
          <a:p>
            <a:pPr algn="l">
              <a:lnSpc>
                <a:spcPct val="100000"/>
              </a:lnSpc>
            </a:pPr>
            <a:r>
              <a:rPr sz="1200" b="1">
                <a:solidFill>
                  <a:srgbClr val="1A7A4A"/>
                </a:solidFill>
                <a:latin typeface="Arial"/>
              </a:rPr>
              <a:t>Fix: </a:t>
            </a:r>
            <a:r>
              <a:rPr sz="1200" b="0">
                <a:solidFill>
                  <a:srgbClr val="003262"/>
                </a:solidFill>
                <a:latin typeface="Arial"/>
              </a:rPr>
              <a:t>filter them by pattern and domain, the same way on both windows.</a:t>
            </a:r>
          </a:p>
        </p:txBody>
      </p:sp>
      <p:sp>
        <p:nvSpPr>
          <p:cNvPr id="22" name="Rectangle 21"/>
          <p:cNvSpPr/>
          <p:nvPr/>
        </p:nvSpPr>
        <p:spPr>
          <a:xfrm>
            <a:off x="365760" y="4800600"/>
            <a:ext cx="11457432" cy="594360"/>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37176"/>
            <a:ext cx="11064240" cy="521208"/>
          </a:xfrm>
          <a:prstGeom prst="rect">
            <a:avLst/>
          </a:prstGeom>
          <a:noFill/>
        </p:spPr>
        <p:txBody>
          <a:bodyPr wrap="square" anchor="ctr" lIns="45720" rIns="45720" tIns="22860" bIns="22860">
            <a:spAutoFit/>
          </a:bodyPr>
          <a:lstStyle/>
          <a:p>
            <a:pPr algn="l">
              <a:lnSpc>
                <a:spcPct val="100000"/>
              </a:lnSpc>
            </a:pPr>
            <a:r>
              <a:rPr sz="1350" b="1">
                <a:solidFill>
                  <a:srgbClr val="003262"/>
                </a:solidFill>
                <a:latin typeface="Arial"/>
              </a:rPr>
              <a:t>Every filter is applied the same way to both windows. A filter that treated the two sides differently would invent a signal that is not really there.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0058400" cy="566928"/>
          </a:xfrm>
          <a:prstGeom prst="rect">
            <a:avLst/>
          </a:prstGeom>
          <a:noFill/>
        </p:spPr>
        <p:txBody>
          <a:bodyPr wrap="square" anchor="t" lIns="45720" rIns="45720" tIns="22860" bIns="22860">
            <a:spAutoFit/>
          </a:bodyPr>
          <a:lstStyle/>
          <a:p>
            <a:pPr algn="l">
              <a:lnSpc>
                <a:spcPct val="100000"/>
              </a:lnSpc>
            </a:pPr>
            <a:r>
              <a:rPr sz="2700" b="1">
                <a:solidFill>
                  <a:srgbClr val="FFFFFF"/>
                </a:solidFill>
                <a:latin typeface="Arial"/>
              </a:rPr>
              <a:t>Contributions</a:t>
            </a:r>
          </a:p>
        </p:txBody>
      </p:sp>
      <p:sp>
        <p:nvSpPr>
          <p:cNvPr id="4" name="TextBox 3"/>
          <p:cNvSpPr txBox="1"/>
          <p:nvPr/>
        </p:nvSpPr>
        <p:spPr>
          <a:xfrm>
            <a:off x="274320" y="640080"/>
            <a:ext cx="10058400" cy="365760"/>
          </a:xfrm>
          <a:prstGeom prst="rect">
            <a:avLst/>
          </a:prstGeom>
          <a:noFill/>
        </p:spPr>
        <p:txBody>
          <a:bodyPr wrap="square" anchor="t" lIns="45720" rIns="45720" tIns="22860" bIns="22860">
            <a:spAutoFit/>
          </a:bodyPr>
          <a:lstStyle/>
          <a:p>
            <a:pPr algn="l">
              <a:lnSpc>
                <a:spcPct val="100000"/>
              </a:lnSpc>
            </a:pPr>
            <a:r>
              <a:rPr sz="1350" b="0">
                <a:solidFill>
                  <a:srgbClr val="FDB515"/>
                </a:solidFill>
                <a:latin typeface="Arial"/>
              </a:rPr>
              <a:t>Who did what</a:t>
            </a:r>
          </a:p>
        </p:txBody>
      </p:sp>
      <p:sp>
        <p:nvSpPr>
          <p:cNvPr id="5" name="TextBox 4"/>
          <p:cNvSpPr txBox="1"/>
          <p:nvPr/>
        </p:nvSpPr>
        <p:spPr>
          <a:xfrm>
            <a:off x="9966960" y="274320"/>
            <a:ext cx="1965960" cy="411480"/>
          </a:xfrm>
          <a:prstGeom prst="rect">
            <a:avLst/>
          </a:prstGeom>
          <a:noFill/>
        </p:spPr>
        <p:txBody>
          <a:bodyPr wrap="square" anchor="t" lIns="45720" rIns="45720" tIns="22860" bIns="22860">
            <a:spAutoFit/>
          </a:bodyPr>
          <a:lstStyle/>
          <a:p>
            <a:pPr algn="r">
              <a:lnSpc>
                <a:spcPct val="100000"/>
              </a:lnSpc>
            </a:pPr>
            <a:r>
              <a:rPr sz="1150" b="1">
                <a:solidFill>
                  <a:srgbClr val="D6E8F7"/>
                </a:solidFill>
                <a:latin typeface="Arial"/>
              </a:rPr>
              <a:t>APPENDIX</a:t>
            </a:r>
          </a:p>
        </p:txBody>
      </p:sp>
      <p:sp>
        <p:nvSpPr>
          <p:cNvPr id="6" name="Rectangle 5"/>
          <p:cNvSpPr/>
          <p:nvPr/>
        </p:nvSpPr>
        <p:spPr>
          <a:xfrm>
            <a:off x="0" y="1051560"/>
            <a:ext cx="12191695" cy="45720"/>
          </a:xfrm>
          <a:prstGeom prst="rect">
            <a:avLst/>
          </a:prstGeom>
          <a:solidFill>
            <a:srgbClr val="FDB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83680"/>
            <a:ext cx="12191695" cy="274320"/>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74536"/>
            <a:ext cx="10058400" cy="256032"/>
          </a:xfrm>
          <a:prstGeom prst="rect">
            <a:avLst/>
          </a:prstGeom>
          <a:noFill/>
        </p:spPr>
        <p:txBody>
          <a:bodyPr wrap="square" anchor="t" lIns="45720" rIns="45720" tIns="22860" bIns="22860">
            <a:spAutoFit/>
          </a:bodyPr>
          <a:lstStyle/>
          <a:p>
            <a:pPr algn="l">
              <a:lnSpc>
                <a:spcPct val="100000"/>
              </a:lnSpc>
            </a:pPr>
            <a:r>
              <a:rPr sz="900" b="0">
                <a:solidFill>
                  <a:srgbClr val="BBBBBB"/>
                </a:solidFill>
                <a:latin typeface="Arial"/>
              </a:rPr>
              <a:t>Predicting M&amp;A from Free News  |  MFE 27 Term 2  |  J.P. Morgan Industry Project  |  Group 2  |  July 2026</a:t>
            </a:r>
          </a:p>
        </p:txBody>
      </p:sp>
      <p:sp>
        <p:nvSpPr>
          <p:cNvPr id="9" name="TextBox 8"/>
          <p:cNvSpPr txBox="1"/>
          <p:nvPr/>
        </p:nvSpPr>
        <p:spPr>
          <a:xfrm>
            <a:off x="11338560" y="6574536"/>
            <a:ext cx="548640" cy="256032"/>
          </a:xfrm>
          <a:prstGeom prst="rect">
            <a:avLst/>
          </a:prstGeom>
          <a:noFill/>
        </p:spPr>
        <p:txBody>
          <a:bodyPr wrap="square" anchor="t" lIns="45720" rIns="45720" tIns="22860" bIns="22860">
            <a:spAutoFit/>
          </a:bodyPr>
          <a:lstStyle/>
          <a:p>
            <a:pPr algn="r">
              <a:lnSpc>
                <a:spcPct val="100000"/>
              </a:lnSpc>
            </a:pPr>
            <a:r>
              <a:rPr sz="900" b="0">
                <a:solidFill>
                  <a:srgbClr val="BBBBBB"/>
                </a:solidFill>
                <a:latin typeface="Arial"/>
              </a:rPr>
              <a:t>17</a:t>
            </a:r>
          </a:p>
        </p:txBody>
      </p:sp>
      <p:sp>
        <p:nvSpPr>
          <p:cNvPr id="10" name="Rectangle 9"/>
          <p:cNvSpPr/>
          <p:nvPr/>
        </p:nvSpPr>
        <p:spPr>
          <a:xfrm>
            <a:off x="365760" y="1417320"/>
            <a:ext cx="5971032"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417320"/>
            <a:ext cx="5879592"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Area</a:t>
            </a:r>
          </a:p>
        </p:txBody>
      </p:sp>
      <p:sp>
        <p:nvSpPr>
          <p:cNvPr id="12" name="Rectangle 11"/>
          <p:cNvSpPr/>
          <p:nvPr/>
        </p:nvSpPr>
        <p:spPr>
          <a:xfrm>
            <a:off x="6336792" y="1417320"/>
            <a:ext cx="274320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417320"/>
            <a:ext cx="265176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Dexin Fu</a:t>
            </a:r>
          </a:p>
        </p:txBody>
      </p:sp>
      <p:sp>
        <p:nvSpPr>
          <p:cNvPr id="14" name="Rectangle 13"/>
          <p:cNvSpPr/>
          <p:nvPr/>
        </p:nvSpPr>
        <p:spPr>
          <a:xfrm>
            <a:off x="9079992" y="1417320"/>
            <a:ext cx="2743200" cy="384048"/>
          </a:xfrm>
          <a:prstGeom prst="rect">
            <a:avLst/>
          </a:prstGeom>
          <a:solidFill>
            <a:srgbClr val="0032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1417320"/>
            <a:ext cx="2651760" cy="384048"/>
          </a:xfrm>
          <a:prstGeom prst="rect">
            <a:avLst/>
          </a:prstGeom>
          <a:noFill/>
        </p:spPr>
        <p:txBody>
          <a:bodyPr wrap="square" anchor="ctr" lIns="45720" rIns="45720" tIns="22860" bIns="22860">
            <a:spAutoFit/>
          </a:bodyPr>
          <a:lstStyle/>
          <a:p>
            <a:pPr algn="l">
              <a:lnSpc>
                <a:spcPct val="100000"/>
              </a:lnSpc>
            </a:pPr>
            <a:r>
              <a:rPr sz="1250" b="1">
                <a:solidFill>
                  <a:srgbClr val="FFFFFF"/>
                </a:solidFill>
                <a:latin typeface="Arial"/>
              </a:rPr>
              <a:t>Ronald Liu</a:t>
            </a:r>
          </a:p>
        </p:txBody>
      </p:sp>
      <p:sp>
        <p:nvSpPr>
          <p:cNvPr id="16" name="Rectangle 15"/>
          <p:cNvSpPr/>
          <p:nvPr/>
        </p:nvSpPr>
        <p:spPr>
          <a:xfrm>
            <a:off x="365760" y="1801368"/>
            <a:ext cx="5971032"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1801368"/>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Scoping and background reading</a:t>
            </a:r>
          </a:p>
        </p:txBody>
      </p:sp>
      <p:sp>
        <p:nvSpPr>
          <p:cNvPr id="18" name="Rectangle 17"/>
          <p:cNvSpPr/>
          <p:nvPr/>
        </p:nvSpPr>
        <p:spPr>
          <a:xfrm>
            <a:off x="6336792" y="1801368"/>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1801368"/>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20" name="Rectangle 19"/>
          <p:cNvSpPr/>
          <p:nvPr/>
        </p:nvSpPr>
        <p:spPr>
          <a:xfrm>
            <a:off x="9079992" y="1801368"/>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1801368"/>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Support</a:t>
            </a:r>
          </a:p>
        </p:txBody>
      </p:sp>
      <p:sp>
        <p:nvSpPr>
          <p:cNvPr id="22" name="Rectangle 21"/>
          <p:cNvSpPr/>
          <p:nvPr/>
        </p:nvSpPr>
        <p:spPr>
          <a:xfrm>
            <a:off x="365760" y="2185416"/>
            <a:ext cx="5971032"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185416"/>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Deal cleaning and labels</a:t>
            </a:r>
          </a:p>
        </p:txBody>
      </p:sp>
      <p:sp>
        <p:nvSpPr>
          <p:cNvPr id="24" name="Rectangle 23"/>
          <p:cNvSpPr/>
          <p:nvPr/>
        </p:nvSpPr>
        <p:spPr>
          <a:xfrm>
            <a:off x="6336792" y="2185416"/>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2185416"/>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26" name="Rectangle 25"/>
          <p:cNvSpPr/>
          <p:nvPr/>
        </p:nvSpPr>
        <p:spPr>
          <a:xfrm>
            <a:off x="9079992" y="2185416"/>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2185416"/>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
            </a:r>
          </a:p>
        </p:txBody>
      </p:sp>
      <p:sp>
        <p:nvSpPr>
          <p:cNvPr id="28" name="Rectangle 27"/>
          <p:cNvSpPr/>
          <p:nvPr/>
        </p:nvSpPr>
        <p:spPr>
          <a:xfrm>
            <a:off x="365760" y="2569464"/>
            <a:ext cx="5971032"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2569464"/>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News and filing scrapers</a:t>
            </a:r>
          </a:p>
        </p:txBody>
      </p:sp>
      <p:sp>
        <p:nvSpPr>
          <p:cNvPr id="30" name="Rectangle 29"/>
          <p:cNvSpPr/>
          <p:nvPr/>
        </p:nvSpPr>
        <p:spPr>
          <a:xfrm>
            <a:off x="6336792" y="2569464"/>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2569464"/>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32" name="Rectangle 31"/>
          <p:cNvSpPr/>
          <p:nvPr/>
        </p:nvSpPr>
        <p:spPr>
          <a:xfrm>
            <a:off x="9079992" y="2569464"/>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2569464"/>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Support</a:t>
            </a:r>
          </a:p>
        </p:txBody>
      </p:sp>
      <p:sp>
        <p:nvSpPr>
          <p:cNvPr id="34" name="Rectangle 33"/>
          <p:cNvSpPr/>
          <p:nvPr/>
        </p:nvSpPr>
        <p:spPr>
          <a:xfrm>
            <a:off x="365760" y="2953512"/>
            <a:ext cx="5971032"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1480" y="2953512"/>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Classic NLP (VADER, FinBERT, topics)</a:t>
            </a:r>
          </a:p>
        </p:txBody>
      </p:sp>
      <p:sp>
        <p:nvSpPr>
          <p:cNvPr id="36" name="Rectangle 35"/>
          <p:cNvSpPr/>
          <p:nvPr/>
        </p:nvSpPr>
        <p:spPr>
          <a:xfrm>
            <a:off x="6336792" y="2953512"/>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2953512"/>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38" name="Rectangle 37"/>
          <p:cNvSpPr/>
          <p:nvPr/>
        </p:nvSpPr>
        <p:spPr>
          <a:xfrm>
            <a:off x="9079992" y="2953512"/>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2953512"/>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
            </a:r>
          </a:p>
        </p:txBody>
      </p:sp>
      <p:sp>
        <p:nvSpPr>
          <p:cNvPr id="40" name="Rectangle 39"/>
          <p:cNvSpPr/>
          <p:nvPr/>
        </p:nvSpPr>
        <p:spPr>
          <a:xfrm>
            <a:off x="365760" y="3337560"/>
            <a:ext cx="5971032"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3337560"/>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Data-quality fixes and diagnostics</a:t>
            </a:r>
          </a:p>
        </p:txBody>
      </p:sp>
      <p:sp>
        <p:nvSpPr>
          <p:cNvPr id="42" name="Rectangle 41"/>
          <p:cNvSpPr/>
          <p:nvPr/>
        </p:nvSpPr>
        <p:spPr>
          <a:xfrm>
            <a:off x="6336792" y="3337560"/>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82512" y="3337560"/>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44" name="Rectangle 43"/>
          <p:cNvSpPr/>
          <p:nvPr/>
        </p:nvSpPr>
        <p:spPr>
          <a:xfrm>
            <a:off x="9079992" y="3337560"/>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3337560"/>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
            </a:r>
          </a:p>
        </p:txBody>
      </p:sp>
      <p:sp>
        <p:nvSpPr>
          <p:cNvPr id="46" name="Rectangle 45"/>
          <p:cNvSpPr/>
          <p:nvPr/>
        </p:nvSpPr>
        <p:spPr>
          <a:xfrm>
            <a:off x="365760" y="3721608"/>
            <a:ext cx="5971032"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3721608"/>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LLM extraction pipeline</a:t>
            </a:r>
          </a:p>
        </p:txBody>
      </p:sp>
      <p:sp>
        <p:nvSpPr>
          <p:cNvPr id="48" name="Rectangle 47"/>
          <p:cNvSpPr/>
          <p:nvPr/>
        </p:nvSpPr>
        <p:spPr>
          <a:xfrm>
            <a:off x="6336792" y="3721608"/>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82512" y="3721608"/>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
            </a:r>
          </a:p>
        </p:txBody>
      </p:sp>
      <p:sp>
        <p:nvSpPr>
          <p:cNvPr id="50" name="Rectangle 49"/>
          <p:cNvSpPr/>
          <p:nvPr/>
        </p:nvSpPr>
        <p:spPr>
          <a:xfrm>
            <a:off x="9079992" y="3721608"/>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3721608"/>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52" name="Rectangle 51"/>
          <p:cNvSpPr/>
          <p:nvPr/>
        </p:nvSpPr>
        <p:spPr>
          <a:xfrm>
            <a:off x="365760" y="4105656"/>
            <a:ext cx="5971032"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4105656"/>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Trust checks (memory, name, repeat)</a:t>
            </a:r>
          </a:p>
        </p:txBody>
      </p:sp>
      <p:sp>
        <p:nvSpPr>
          <p:cNvPr id="54" name="Rectangle 53"/>
          <p:cNvSpPr/>
          <p:nvPr/>
        </p:nvSpPr>
        <p:spPr>
          <a:xfrm>
            <a:off x="6336792" y="4105656"/>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82512" y="4105656"/>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
            </a:r>
          </a:p>
        </p:txBody>
      </p:sp>
      <p:sp>
        <p:nvSpPr>
          <p:cNvPr id="56" name="Rectangle 55"/>
          <p:cNvSpPr/>
          <p:nvPr/>
        </p:nvSpPr>
        <p:spPr>
          <a:xfrm>
            <a:off x="9079992" y="4105656"/>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25712" y="4105656"/>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58" name="Rectangle 57"/>
          <p:cNvSpPr/>
          <p:nvPr/>
        </p:nvSpPr>
        <p:spPr>
          <a:xfrm>
            <a:off x="365760" y="4489704"/>
            <a:ext cx="5971032"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80" y="4489704"/>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Full-data run and head-to-head</a:t>
            </a:r>
          </a:p>
        </p:txBody>
      </p:sp>
      <p:sp>
        <p:nvSpPr>
          <p:cNvPr id="60" name="Rectangle 59"/>
          <p:cNvSpPr/>
          <p:nvPr/>
        </p:nvSpPr>
        <p:spPr>
          <a:xfrm>
            <a:off x="6336792" y="4489704"/>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82512" y="4489704"/>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Support</a:t>
            </a:r>
          </a:p>
        </p:txBody>
      </p:sp>
      <p:sp>
        <p:nvSpPr>
          <p:cNvPr id="62" name="Rectangle 61"/>
          <p:cNvSpPr/>
          <p:nvPr/>
        </p:nvSpPr>
        <p:spPr>
          <a:xfrm>
            <a:off x="9079992" y="4489704"/>
            <a:ext cx="2743200" cy="384048"/>
          </a:xfrm>
          <a:prstGeom prst="rect">
            <a:avLst/>
          </a:prstGeom>
          <a:solidFill>
            <a:srgbClr val="F1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25712" y="4489704"/>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Lead</a:t>
            </a:r>
          </a:p>
        </p:txBody>
      </p:sp>
      <p:sp>
        <p:nvSpPr>
          <p:cNvPr id="64" name="Rectangle 63"/>
          <p:cNvSpPr/>
          <p:nvPr/>
        </p:nvSpPr>
        <p:spPr>
          <a:xfrm>
            <a:off x="365760" y="4873752"/>
            <a:ext cx="5971032"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1480" y="4873752"/>
            <a:ext cx="5879592"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Slide decks and write-up</a:t>
            </a:r>
          </a:p>
        </p:txBody>
      </p:sp>
      <p:sp>
        <p:nvSpPr>
          <p:cNvPr id="66" name="Rectangle 65"/>
          <p:cNvSpPr/>
          <p:nvPr/>
        </p:nvSpPr>
        <p:spPr>
          <a:xfrm>
            <a:off x="6336792" y="4873752"/>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82512" y="4873752"/>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Weeks 2-4</a:t>
            </a:r>
          </a:p>
        </p:txBody>
      </p:sp>
      <p:sp>
        <p:nvSpPr>
          <p:cNvPr id="68" name="Rectangle 67"/>
          <p:cNvSpPr/>
          <p:nvPr/>
        </p:nvSpPr>
        <p:spPr>
          <a:xfrm>
            <a:off x="9079992" y="4873752"/>
            <a:ext cx="274320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25712" y="4873752"/>
            <a:ext cx="2651760" cy="384048"/>
          </a:xfrm>
          <a:prstGeom prst="rect">
            <a:avLst/>
          </a:prstGeom>
          <a:noFill/>
        </p:spPr>
        <p:txBody>
          <a:bodyPr wrap="square" anchor="ctr" lIns="45720" rIns="45720" tIns="22860" bIns="22860">
            <a:spAutoFit/>
          </a:bodyPr>
          <a:lstStyle/>
          <a:p>
            <a:pPr algn="l">
              <a:lnSpc>
                <a:spcPct val="100000"/>
              </a:lnSpc>
            </a:pPr>
            <a:r>
              <a:rPr sz="1250" b="0">
                <a:solidFill>
                  <a:srgbClr val="003262"/>
                </a:solidFill>
                <a:latin typeface="Arial"/>
              </a:rPr>
              <a:t>Week 7, final</a:t>
            </a:r>
          </a:p>
        </p:txBody>
      </p:sp>
      <p:sp>
        <p:nvSpPr>
          <p:cNvPr id="70" name="TextBox 69"/>
          <p:cNvSpPr txBox="1"/>
          <p:nvPr/>
        </p:nvSpPr>
        <p:spPr>
          <a:xfrm>
            <a:off x="365760" y="5989320"/>
            <a:ext cx="11430000" cy="365760"/>
          </a:xfrm>
          <a:prstGeom prst="rect">
            <a:avLst/>
          </a:prstGeom>
          <a:noFill/>
        </p:spPr>
        <p:txBody>
          <a:bodyPr wrap="square" anchor="t" lIns="45720" rIns="45720" tIns="22860" bIns="22860">
            <a:spAutoFit/>
          </a:bodyPr>
          <a:lstStyle/>
          <a:p>
            <a:pPr algn="l">
              <a:lnSpc>
                <a:spcPct val="100000"/>
              </a:lnSpc>
            </a:pPr>
            <a:r>
              <a:rPr sz="1150" b="0">
                <a:solidFill>
                  <a:srgbClr val="606A75"/>
                </a:solidFill>
                <a:latin typeface="Arial"/>
              </a:rPr>
              <a:t>Both of us reviewed every result together and agreed the pass or fail marks before running any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