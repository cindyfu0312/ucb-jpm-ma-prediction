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9"/>
  </p:normalViewPr>
  <p:slideViewPr>
    <p:cSldViewPr snapToGrid="0" snapToObjects="1">
      <p:cViewPr varScale="1">
        <p:scale>
          <a:sx n="99" d="100"/>
          <a:sy n="99" d="100"/>
        </p:scale>
        <p:origin x="192" y="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 sz="1200" b="1">
                <a:solidFill>
                  <a:srgbClr val="1A3A5C"/>
                </a:solidFill>
              </a:rPr>
              <a:t>Articles per Event per Day, by Days Before Announcement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Articles per event per day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E6DB4"/>
              </a:solidFill>
            </c:spPr>
            <c:extLst>
              <c:ext xmlns:c16="http://schemas.microsoft.com/office/drawing/2014/chart" uri="{C3380CC4-5D6E-409C-BE32-E72D297353CC}">
                <c16:uniqueId val="{00000001-49C0-1C47-BF86-D799FBEBC745}"/>
              </c:ext>
            </c:extLst>
          </c:dPt>
          <c:dPt>
            <c:idx val="1"/>
            <c:invertIfNegative val="1"/>
            <c:bubble3D val="0"/>
            <c:spPr>
              <a:solidFill>
                <a:srgbClr val="2E6DB4"/>
              </a:solidFill>
            </c:spPr>
            <c:extLst>
              <c:ext xmlns:c16="http://schemas.microsoft.com/office/drawing/2014/chart" uri="{C3380CC4-5D6E-409C-BE32-E72D297353CC}">
                <c16:uniqueId val="{00000003-49C0-1C47-BF86-D799FBEBC745}"/>
              </c:ext>
            </c:extLst>
          </c:dPt>
          <c:dPt>
            <c:idx val="2"/>
            <c:invertIfNegative val="1"/>
            <c:bubble3D val="0"/>
            <c:spPr>
              <a:solidFill>
                <a:srgbClr val="2E6DB4"/>
              </a:solidFill>
            </c:spPr>
            <c:extLst>
              <c:ext xmlns:c16="http://schemas.microsoft.com/office/drawing/2014/chart" uri="{C3380CC4-5D6E-409C-BE32-E72D297353CC}">
                <c16:uniqueId val="{00000005-49C0-1C47-BF86-D799FBEBC745}"/>
              </c:ext>
            </c:extLst>
          </c:dPt>
          <c:dPt>
            <c:idx val="3"/>
            <c:invertIfNegative val="1"/>
            <c:bubble3D val="0"/>
            <c:spPr>
              <a:solidFill>
                <a:srgbClr val="2E6DB4"/>
              </a:solidFill>
            </c:spPr>
            <c:extLst>
              <c:ext xmlns:c16="http://schemas.microsoft.com/office/drawing/2014/chart" uri="{C3380CC4-5D6E-409C-BE32-E72D297353CC}">
                <c16:uniqueId val="{00000007-49C0-1C47-BF86-D799FBEBC745}"/>
              </c:ext>
            </c:extLst>
          </c:dPt>
          <c:dPt>
            <c:idx val="4"/>
            <c:invertIfNegative val="1"/>
            <c:bubble3D val="0"/>
            <c:spPr>
              <a:solidFill>
                <a:srgbClr val="2E6DB4"/>
              </a:solidFill>
            </c:spPr>
            <c:extLst>
              <c:ext xmlns:c16="http://schemas.microsoft.com/office/drawing/2014/chart" uri="{C3380CC4-5D6E-409C-BE32-E72D297353CC}">
                <c16:uniqueId val="{00000009-49C0-1C47-BF86-D799FBEBC745}"/>
              </c:ext>
            </c:extLst>
          </c:dPt>
          <c:dPt>
            <c:idx val="5"/>
            <c:invertIfNegative val="1"/>
            <c:bubble3D val="0"/>
            <c:spPr>
              <a:solidFill>
                <a:srgbClr val="2E6DB4"/>
              </a:solidFill>
            </c:spPr>
            <c:extLst>
              <c:ext xmlns:c16="http://schemas.microsoft.com/office/drawing/2014/chart" uri="{C3380CC4-5D6E-409C-BE32-E72D297353CC}">
                <c16:uniqueId val="{0000000B-49C0-1C47-BF86-D799FBEBC745}"/>
              </c:ext>
            </c:extLst>
          </c:dPt>
          <c:dPt>
            <c:idx val="6"/>
            <c:invertIfNegative val="1"/>
            <c:bubble3D val="0"/>
            <c:spPr>
              <a:solidFill>
                <a:srgbClr val="2E6DB4"/>
              </a:solidFill>
            </c:spPr>
            <c:extLst>
              <c:ext xmlns:c16="http://schemas.microsoft.com/office/drawing/2014/chart" uri="{C3380CC4-5D6E-409C-BE32-E72D297353CC}">
                <c16:uniqueId val="{0000000D-49C0-1C47-BF86-D799FBEBC745}"/>
              </c:ext>
            </c:extLst>
          </c:dPt>
          <c:dPt>
            <c:idx val="7"/>
            <c:invertIfNegative val="1"/>
            <c:bubble3D val="0"/>
            <c:spPr>
              <a:solidFill>
                <a:srgbClr val="B8860B"/>
              </a:solidFill>
            </c:spPr>
            <c:extLst>
              <c:ext xmlns:c16="http://schemas.microsoft.com/office/drawing/2014/chart" uri="{C3380CC4-5D6E-409C-BE32-E72D297353CC}">
                <c16:uniqueId val="{0000000F-49C0-1C47-BF86-D799FBEBC745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1A3A5C"/>
                    </a:solidFill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T-7</c:v>
                </c:pt>
                <c:pt idx="1">
                  <c:v>T-6</c:v>
                </c:pt>
                <c:pt idx="2">
                  <c:v>T-5</c:v>
                </c:pt>
                <c:pt idx="3">
                  <c:v>T-4</c:v>
                </c:pt>
                <c:pt idx="4">
                  <c:v>T-3</c:v>
                </c:pt>
                <c:pt idx="5">
                  <c:v>T-2</c:v>
                </c:pt>
                <c:pt idx="6">
                  <c:v>T-1</c:v>
                </c:pt>
                <c:pt idx="7">
                  <c:v>Day 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0.17</c:v>
                </c:pt>
                <c:pt idx="1">
                  <c:v>0.35</c:v>
                </c:pt>
                <c:pt idx="2">
                  <c:v>0.14000000000000001</c:v>
                </c:pt>
                <c:pt idx="3">
                  <c:v>0.65</c:v>
                </c:pt>
                <c:pt idx="4">
                  <c:v>0.63</c:v>
                </c:pt>
                <c:pt idx="5">
                  <c:v>0.24</c:v>
                </c:pt>
                <c:pt idx="6">
                  <c:v>0.26</c:v>
                </c:pt>
                <c:pt idx="7">
                  <c:v>12.29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9C0-1C47-BF86-D799FBEBC7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1A3A5C"/>
                </a:solidFill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1A3A5C"/>
                </a:solidFill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1882E8-4B7A-A44E-B2BC-813D990DA791}" type="datetimeFigureOut">
              <a:rPr kumimoji="1" lang="zh-CN" altLang="en-US" smtClean="0"/>
              <a:t>2026/7/8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E814E-6DE3-844A-B5F6-6CAFAA5420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0153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E814E-6DE3-844A-B5F6-6CAFAA54206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5319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E814E-6DE3-844A-B5F6-6CAFAA542069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0670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E814E-6DE3-844A-B5F6-6CAFAA542069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8814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E814E-6DE3-844A-B5F6-6CAFAA542069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0161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E814E-6DE3-844A-B5F6-6CAFAA542069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8709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5029200"/>
            <a:ext cx="12188952" cy="18288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2560320"/>
            <a:ext cx="12188952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8868" y="822960"/>
            <a:ext cx="10058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M&amp;A Prediction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868" y="1554480"/>
            <a:ext cx="10058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dirty="0">
                <a:solidFill>
                  <a:srgbClr val="B8860B"/>
                </a:solidFill>
              </a:rPr>
              <a:t>Pre-Announcement 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3188" y="2743200"/>
            <a:ext cx="9418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 err="1">
                <a:solidFill>
                  <a:srgbClr val="D6E8F7"/>
                </a:solidFill>
              </a:rPr>
              <a:t>J.P.Morgan</a:t>
            </a:r>
            <a:r>
              <a:rPr lang="en-US" altLang="zh-CN" b="1" dirty="0">
                <a:solidFill>
                  <a:srgbClr val="D6E8F7"/>
                </a:solidFill>
              </a:rPr>
              <a:t> Industry Project  |  Week 3-4 Results  |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3188" y="5212081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Dexin Fu, Ronald Liu</a:t>
            </a:r>
            <a:endParaRPr sz="2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dirty="0">
                <a:solidFill>
                  <a:srgbClr val="B8860B"/>
                </a:solidFill>
              </a:rPr>
              <a:t>What Changed Since the Week 2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BBBBBB"/>
                </a:solidFill>
              </a:rPr>
              <a:t>M&amp;A Prediction   |  JPMorgan Industry Project  |  July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560320" cy="11887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23774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</a:rPr>
              <a:t>666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10512"/>
            <a:ext cx="2377439" cy="2772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>
                <a:solidFill>
                  <a:srgbClr val="D6E8F7"/>
                </a:solidFill>
              </a:rPr>
              <a:t>Events Scraped (target 1,200)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188720"/>
            <a:ext cx="256032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1261872"/>
            <a:ext cx="23774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</a:rPr>
              <a:t>≈ 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810512"/>
            <a:ext cx="2377439" cy="2772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>
                <a:solidFill>
                  <a:srgbClr val="D6E8F7"/>
                </a:solidFill>
              </a:rPr>
              <a:t>90-Day-Ahead Prediction 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188720"/>
            <a:ext cx="2560320" cy="118872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79" y="1261872"/>
            <a:ext cx="23774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C000"/>
                </a:solidFill>
              </a:rPr>
              <a:t>0.79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1810512"/>
            <a:ext cx="23774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>
                <a:solidFill>
                  <a:srgbClr val="D6E8F7"/>
                </a:solidFill>
              </a:rPr>
              <a:t>Announcement-Day Detection AUC (same pipeline)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188720"/>
            <a:ext cx="256032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19" y="1261872"/>
            <a:ext cx="23774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</a:rPr>
              <a:t>3,366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1810512"/>
            <a:ext cx="23774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D6E8F7"/>
                </a:solidFill>
              </a:rPr>
              <a:t>Full Article Bodies Fetched (new text layer)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06040"/>
            <a:ext cx="11430000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2926080"/>
            <a:ext cx="3657600" cy="3840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2933113"/>
            <a:ext cx="3474720" cy="3495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dirty="0">
                <a:solidFill>
                  <a:srgbClr val="FFFFFF"/>
                </a:solidFill>
              </a:rPr>
              <a:t>1 · Fixes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310128"/>
            <a:ext cx="3657600" cy="2651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364992"/>
            <a:ext cx="3438144" cy="18120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dirty="0">
                <a:solidFill>
                  <a:srgbClr val="1A3A5C"/>
                </a:solidFill>
              </a:rPr>
              <a:t>Found and fixed three data-quality issues (EDGAR stubs scored for sentiment, company-name contamination, bot-generated articles) and upgraded the statistics (paired tests, feature selection). Conclusion unchanged: pre-announcement prediction stays at AUC ≈ 0.5.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2926080"/>
            <a:ext cx="3657600" cy="3840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97680" y="2944368"/>
            <a:ext cx="3474720" cy="3495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dirty="0">
                <a:solidFill>
                  <a:srgbClr val="FFFFFF"/>
                </a:solidFill>
              </a:rPr>
              <a:t>2 · Diagnosis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3310128"/>
            <a:ext cx="3657600" cy="2651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61688" y="3364992"/>
            <a:ext cx="3438144" cy="18120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dirty="0">
                <a:solidFill>
                  <a:srgbClr val="1A3A5C"/>
                </a:solidFill>
              </a:rPr>
              <a:t>A targeted experiment (§6c) fetched the excluded blackout window. Coverage rises sharply on the announcement day itself; days 1–7 before look identical to a quiet period. </a:t>
            </a:r>
            <a:r>
              <a:rPr lang="en-US" sz="1400" b="0" dirty="0">
                <a:solidFill>
                  <a:srgbClr val="1A3A5C"/>
                </a:solidFill>
              </a:rPr>
              <a:t>Current</a:t>
            </a:r>
            <a:r>
              <a:rPr sz="1400" b="0" dirty="0">
                <a:solidFill>
                  <a:srgbClr val="1A3A5C"/>
                </a:solidFill>
              </a:rPr>
              <a:t> news does not appear to carry pre-announcement information for these deals.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2926080"/>
            <a:ext cx="3657600" cy="3840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11312" y="2933113"/>
            <a:ext cx="3474720" cy="3495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dirty="0">
                <a:solidFill>
                  <a:srgbClr val="FFFFFF"/>
                </a:solidFill>
              </a:rPr>
              <a:t>3 · Pivot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3310128"/>
            <a:ext cx="3657600" cy="2651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47888" y="3364992"/>
            <a:ext cx="3438144" cy="15643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dirty="0">
                <a:solidFill>
                  <a:srgbClr val="1A3A5C"/>
                </a:solidFill>
              </a:rPr>
              <a:t>Pointed at the window where signal does exist</a:t>
            </a:r>
            <a:r>
              <a:rPr lang="en-US" sz="1400" b="0" dirty="0">
                <a:solidFill>
                  <a:srgbClr val="1A3A5C"/>
                </a:solidFill>
              </a:rPr>
              <a:t>, </a:t>
            </a:r>
            <a:r>
              <a:rPr sz="1400" b="0" dirty="0">
                <a:solidFill>
                  <a:srgbClr val="1A3A5C"/>
                </a:solidFill>
              </a:rPr>
              <a:t>announcement-day detection</a:t>
            </a:r>
            <a:r>
              <a:rPr lang="en-US" sz="1400" b="0" dirty="0">
                <a:solidFill>
                  <a:srgbClr val="1A3A5C"/>
                </a:solidFill>
              </a:rPr>
              <a:t>,</a:t>
            </a:r>
            <a:r>
              <a:rPr sz="1400" b="0" dirty="0">
                <a:solidFill>
                  <a:srgbClr val="1A3A5C"/>
                </a:solidFill>
              </a:rPr>
              <a:t> the same features and models reach test AUC 0.79. The method works; the earlier null result reflects the data source, not the approach.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89788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1">
                <a:solidFill>
                  <a:srgbClr val="1A3A5C"/>
                </a:solidFill>
              </a:rPr>
              <a:t>All Week 2 sections are preserved in the notebook; new sections were added on top (§3e–3f, §6b–6c, §8).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</a:rPr>
              <a:t>Week 2 Baseline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dirty="0">
                <a:solidFill>
                  <a:srgbClr val="B8860B"/>
                </a:solidFill>
              </a:rPr>
              <a:t>Where We Left Off — Results at Chance Level, Cause Unclear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BBBBBB"/>
                </a:solidFill>
              </a:rPr>
              <a:t>M&amp;A Prediction   |  JPMorgan Industry Project  |  July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" y="1371600"/>
            <a:ext cx="1600200" cy="16459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1572768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SPGlobal
M&amp;A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7744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D6E8F7"/>
                </a:solidFill>
              </a:rPr>
              <a:t>2,673 deals ≥ $1B
2016–2026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1972" y="1975104"/>
            <a:ext cx="274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dirty="0">
                <a:solidFill>
                  <a:srgbClr val="B8860B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59736" y="1371600"/>
            <a:ext cx="1600200" cy="16459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05456" y="1572768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News
Scraping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37744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D6E8F7"/>
                </a:solidFill>
              </a:rPr>
              <a:t>GDELT + SEC EDGAR
438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3924" y="1981415"/>
            <a:ext cx="274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dirty="0">
                <a:solidFill>
                  <a:srgbClr val="B8860B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1371600"/>
            <a:ext cx="1600200" cy="16459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07407" y="1572768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Headline
NLP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D6E8F7"/>
                </a:solidFill>
              </a:rPr>
              <a:t>VADER · FinBERT
log-odds · NMF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8702" y="1980578"/>
            <a:ext cx="274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dirty="0">
                <a:solidFill>
                  <a:srgbClr val="B8860B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371600"/>
            <a:ext cx="1600200" cy="16459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59" y="1572768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Feature
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37744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D6E8F7"/>
                </a:solidFill>
              </a:rPr>
              <a:t>23 features per
event-window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7827" y="1980578"/>
            <a:ext cx="274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dirty="0">
                <a:solidFill>
                  <a:srgbClr val="B8860B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65592" y="1371600"/>
            <a:ext cx="1600200" cy="16459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11312" y="1572768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ML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3" y="237744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D6E8F7"/>
                </a:solidFill>
              </a:rPr>
              <a:t>Logistic Reg.
Random Forest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9780" y="1980578"/>
            <a:ext cx="274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B8860B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67544" y="1371600"/>
            <a:ext cx="1600200" cy="16459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13264" y="1572768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94976" y="237744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D6E8F7"/>
                </a:solidFill>
              </a:rPr>
              <a:t>ROC-AUC
PR-AUC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3375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A3A5C"/>
                </a:solidFill>
              </a:rPr>
              <a:t>Experimental Design (unchanged this phase)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749039"/>
            <a:ext cx="11338560" cy="384048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8912" y="3794759"/>
            <a:ext cx="22311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</a:rPr>
              <a:t>Window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3794759"/>
            <a:ext cx="4334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</a:rPr>
              <a:t>Definition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96912" y="3794759"/>
            <a:ext cx="4334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</a:rPr>
              <a:t>Label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133087"/>
            <a:ext cx="11338560" cy="38404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8912" y="4178807"/>
            <a:ext cx="22311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A3A5C"/>
                </a:solidFill>
              </a:rPr>
              <a:t>Pre-M&amp;A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6292" y="4178807"/>
            <a:ext cx="48143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dirty="0">
                <a:solidFill>
                  <a:srgbClr val="1A3A5C"/>
                </a:solidFill>
              </a:rPr>
              <a:t>97 → 7 days before announcement (7-day blackout vs leakage)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96912" y="4178807"/>
            <a:ext cx="4334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A3A5C"/>
                </a:solidFill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517136"/>
            <a:ext cx="11338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8912" y="4562856"/>
            <a:ext cx="22311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A3A5C"/>
                </a:solidFill>
              </a:rPr>
              <a:t>Baseline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6292" y="4562856"/>
            <a:ext cx="48143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dirty="0">
                <a:solidFill>
                  <a:srgbClr val="1A3A5C"/>
                </a:solidFill>
              </a:rPr>
              <a:t>Same company, shifted back 180 days (“quiet period”)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96912" y="4562856"/>
            <a:ext cx="4334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A3A5C"/>
                </a:solidFill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120640"/>
            <a:ext cx="11430000" cy="546064"/>
          </a:xfrm>
          <a:prstGeom prst="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5230368"/>
            <a:ext cx="11064240" cy="3013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dirty="0">
                <a:solidFill>
                  <a:srgbClr val="1A3A5C"/>
                </a:solidFill>
              </a:rPr>
              <a:t>Week 2 results:  </a:t>
            </a:r>
            <a:r>
              <a:rPr sz="1300" b="0" dirty="0">
                <a:solidFill>
                  <a:srgbClr val="1A3A5C"/>
                </a:solidFill>
              </a:rPr>
              <a:t>Test ROC-AUC — LR 0.485 / RF 0.506 (chance level);  Mann-Whitney tests: all 22 features non-significant.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</a:rPr>
              <a:t>Data-Quality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B8860B"/>
                </a:solidFill>
              </a:rPr>
              <a:t>Three Issues Found in the Week 2 Corpus — and How Each Was Fixed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BBBBBB"/>
                </a:solidFill>
              </a:rPr>
              <a:t>M&amp;A Prediction   |  JPMorgan Industry Project  |  July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3749039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307592"/>
            <a:ext cx="356616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EDGAR Stubs in Sentiment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3749039" cy="1371600"/>
          </a:xfrm>
          <a:prstGeom prst="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810512"/>
            <a:ext cx="3566160" cy="10688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dirty="0">
                <a:solidFill>
                  <a:srgbClr val="1A3A5C"/>
                </a:solidFill>
              </a:rPr>
              <a:t>Problem: EDGAR rows are auto-generated strings</a:t>
            </a:r>
            <a:r>
              <a:rPr lang="en-US" sz="1400" b="0" dirty="0">
                <a:solidFill>
                  <a:srgbClr val="1A3A5C"/>
                </a:solidFill>
              </a:rPr>
              <a:t>, </a:t>
            </a:r>
            <a:r>
              <a:rPr sz="1400" b="0" dirty="0">
                <a:solidFill>
                  <a:srgbClr val="1A3A5C"/>
                </a:solidFill>
              </a:rPr>
              <a:t>“[8-K] COMPANY (CIK…) filed 2020-08-11”</a:t>
            </a:r>
            <a:r>
              <a:rPr lang="en-US" sz="1400" b="0" dirty="0">
                <a:solidFill>
                  <a:srgbClr val="1A3A5C"/>
                </a:solidFill>
              </a:rPr>
              <a:t>. </a:t>
            </a:r>
            <a:r>
              <a:rPr sz="1400" b="0" dirty="0">
                <a:solidFill>
                  <a:srgbClr val="1A3A5C"/>
                </a:solidFill>
              </a:rPr>
              <a:t>39% of the corpus, scored by VADER/</a:t>
            </a:r>
            <a:r>
              <a:rPr sz="1400" b="0" dirty="0" err="1">
                <a:solidFill>
                  <a:srgbClr val="1A3A5C"/>
                </a:solidFill>
              </a:rPr>
              <a:t>FinBERT</a:t>
            </a:r>
            <a:r>
              <a:rPr sz="1400" b="0" dirty="0">
                <a:solidFill>
                  <a:srgbClr val="1A3A5C"/>
                </a:solidFill>
              </a:rPr>
              <a:t> as if prose.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13656"/>
            <a:ext cx="3749039" cy="1265736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086808"/>
            <a:ext cx="3566160" cy="10688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dirty="0">
                <a:solidFill>
                  <a:srgbClr val="1A3A5C"/>
                </a:solidFill>
              </a:rPr>
              <a:t>Fix: sentiment/text layers now use GDELT news only; EDGAR becomes structured features (filing-type mix, e.g. share of non-8-K filings).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34440"/>
            <a:ext cx="3749039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1307592"/>
            <a:ext cx="356616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Company-Name Contamination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737360"/>
            <a:ext cx="3749039" cy="1371600"/>
          </a:xfrm>
          <a:prstGeom prst="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1810512"/>
            <a:ext cx="3566160" cy="10688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dirty="0">
                <a:solidFill>
                  <a:srgbClr val="1A3A5C"/>
                </a:solidFill>
              </a:rPr>
              <a:t>Problem: both windows are the same company, so top log-odds terms and NMF topics were company identifiers (“</a:t>
            </a:r>
            <a:r>
              <a:rPr sz="1400" b="0" dirty="0" err="1">
                <a:solidFill>
                  <a:srgbClr val="1A3A5C"/>
                </a:solidFill>
              </a:rPr>
              <a:t>stericycle</a:t>
            </a:r>
            <a:r>
              <a:rPr sz="1400" b="0" dirty="0">
                <a:solidFill>
                  <a:srgbClr val="1A3A5C"/>
                </a:solidFill>
              </a:rPr>
              <a:t>”, “avidity”) </a:t>
            </a:r>
            <a:r>
              <a:rPr lang="en-US" sz="1400" b="0" dirty="0">
                <a:solidFill>
                  <a:srgbClr val="1A3A5C"/>
                </a:solidFill>
              </a:rPr>
              <a:t>, </a:t>
            </a:r>
            <a:r>
              <a:rPr sz="1400" b="0" dirty="0">
                <a:solidFill>
                  <a:srgbClr val="1A3A5C"/>
                </a:solidFill>
              </a:rPr>
              <a:t>not generalizable M&amp;A language.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013656"/>
            <a:ext cx="3749039" cy="1265736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3086808"/>
            <a:ext cx="3566160" cy="821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dirty="0">
                <a:solidFill>
                  <a:srgbClr val="1A3A5C"/>
                </a:solidFill>
              </a:rPr>
              <a:t>Fix: each headline's own company name is masked out before vectorization; terms/topics must now generalize across companies.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234440"/>
            <a:ext cx="3749039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1307592"/>
            <a:ext cx="356616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Bot-Generated Articles (17%)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737361"/>
            <a:ext cx="3749039" cy="1371600"/>
          </a:xfrm>
          <a:prstGeom prst="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1810512"/>
            <a:ext cx="3566160" cy="10688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dirty="0">
                <a:solidFill>
                  <a:srgbClr val="1A3A5C"/>
                </a:solidFill>
              </a:rPr>
              <a:t>Problem: high-volume domains are templated content</a:t>
            </a:r>
            <a:r>
              <a:rPr lang="en-US" sz="1400" b="0" dirty="0">
                <a:solidFill>
                  <a:srgbClr val="1A3A5C"/>
                </a:solidFill>
              </a:rPr>
              <a:t>: </a:t>
            </a:r>
            <a:r>
              <a:rPr sz="1400" b="0" dirty="0">
                <a:solidFill>
                  <a:srgbClr val="1A3A5C"/>
                </a:solidFill>
              </a:rPr>
              <a:t>13F holdings-change bots, rating bots, market-report mills</a:t>
            </a:r>
            <a:r>
              <a:rPr lang="en-US" sz="1400" dirty="0">
                <a:solidFill>
                  <a:srgbClr val="1A3A5C"/>
                </a:solidFill>
              </a:rPr>
              <a:t>, </a:t>
            </a:r>
            <a:r>
              <a:rPr sz="1400" b="0" dirty="0">
                <a:solidFill>
                  <a:srgbClr val="1A3A5C"/>
                </a:solidFill>
              </a:rPr>
              <a:t>present for any public company.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013656"/>
            <a:ext cx="3749039" cy="1284024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3086808"/>
            <a:ext cx="3566160" cy="821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dirty="0">
                <a:solidFill>
                  <a:srgbClr val="1A3A5C"/>
                </a:solidFill>
              </a:rPr>
              <a:t>Fix: content-pattern regex + domain blocklist, applied identically to both windows (not label-dependent).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361" y="4297680"/>
            <a:ext cx="3199540" cy="18932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dirty="0">
                <a:solidFill>
                  <a:srgbClr val="1A3A5C"/>
                </a:solidFill>
              </a:rPr>
              <a:t>Also added:  </a:t>
            </a:r>
            <a:r>
              <a:rPr sz="1400" b="0" dirty="0">
                <a:solidFill>
                  <a:srgbClr val="1A3A5C"/>
                </a:solidFill>
              </a:rPr>
              <a:t>within-window momentum features (</a:t>
            </a:r>
            <a:r>
              <a:rPr sz="1400" b="0" dirty="0" err="1">
                <a:solidFill>
                  <a:srgbClr val="1A3A5C"/>
                </a:solidFill>
              </a:rPr>
              <a:t>late_share</a:t>
            </a:r>
            <a:r>
              <a:rPr sz="1400" b="0" dirty="0">
                <a:solidFill>
                  <a:srgbClr val="1A3A5C"/>
                </a:solidFill>
              </a:rPr>
              <a:t>, </a:t>
            </a:r>
            <a:r>
              <a:rPr sz="1400" b="0" dirty="0" err="1">
                <a:solidFill>
                  <a:srgbClr val="1A3A5C"/>
                </a:solidFill>
              </a:rPr>
              <a:t>sentiment_trend</a:t>
            </a:r>
            <a:r>
              <a:rPr sz="1400" b="0" dirty="0">
                <a:solidFill>
                  <a:srgbClr val="1A3A5C"/>
                </a:solidFill>
              </a:rPr>
              <a:t>)</a:t>
            </a:r>
            <a:endParaRPr lang="en-US" sz="1400" b="0" dirty="0">
              <a:solidFill>
                <a:srgbClr val="1A3A5C"/>
              </a:solidFill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dirty="0">
                <a:solidFill>
                  <a:srgbClr val="1A3A5C"/>
                </a:solidFill>
              </a:rPr>
              <a:t>EDGAR filing-mix features </a:t>
            </a:r>
            <a:endParaRPr lang="en-US" sz="1400" dirty="0">
              <a:solidFill>
                <a:srgbClr val="1A3A5C"/>
              </a:solidFill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dirty="0">
                <a:solidFill>
                  <a:srgbClr val="1A3A5C"/>
                </a:solidFill>
              </a:rPr>
              <a:t>full-article-text layer (3,366 bodies via new resumable script </a:t>
            </a:r>
            <a:r>
              <a:rPr sz="1400" b="0" dirty="0" err="1">
                <a:solidFill>
                  <a:srgbClr val="1A3A5C"/>
                </a:solidFill>
              </a:rPr>
              <a:t>enrich_article_text.py</a:t>
            </a:r>
            <a:r>
              <a:rPr sz="1400" b="0" dirty="0">
                <a:solidFill>
                  <a:srgbClr val="1A3A5C"/>
                </a:solidFill>
              </a:rPr>
              <a:t>) </a:t>
            </a:r>
            <a:endParaRPr lang="en-US" sz="1400" dirty="0">
              <a:solidFill>
                <a:srgbClr val="1A3A5C"/>
              </a:solidFill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dirty="0">
                <a:solidFill>
                  <a:srgbClr val="1A3A5C"/>
                </a:solidFill>
              </a:rPr>
              <a:t>mutual-information feature selection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6335D5BE-C6B3-93FD-31A9-D82BA19F4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06" y="4173915"/>
            <a:ext cx="8686833" cy="23913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</a:rPr>
              <a:t>Updated Prediction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17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dirty="0">
                <a:solidFill>
                  <a:srgbClr val="B8860B"/>
                </a:solidFill>
              </a:rPr>
              <a:t>666 Events, Time-Based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BBBBBB"/>
                </a:solidFill>
              </a:rPr>
              <a:t>M&amp;A Prediction   |  JPMorgan Industry Project  | 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A3A5C"/>
                </a:solidFill>
              </a:rPr>
              <a:t>Performance Summary (pre-announcement prediction, §5)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9326880" cy="384048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" y="1783080"/>
            <a:ext cx="25968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1783080"/>
            <a:ext cx="24140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</a:rPr>
              <a:t>5-Fold CV ROC-AUC (Train)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2431" y="1783080"/>
            <a:ext cx="18653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</a:rPr>
              <a:t>Test ROC-AUC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1" y="1783080"/>
            <a:ext cx="18653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</a:rPr>
              <a:t>Test PR-AUC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21408"/>
            <a:ext cx="9326880" cy="38404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" y="2167127"/>
            <a:ext cx="25968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A3A5C"/>
                </a:solidFill>
              </a:rPr>
              <a:t>Logistic Regression (CV-tuned)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2167127"/>
            <a:ext cx="24140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A3A5C"/>
                </a:solidFill>
              </a:rPr>
              <a:t>0.438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2431" y="2167127"/>
            <a:ext cx="18653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A3A5C"/>
                </a:solidFill>
              </a:rPr>
              <a:t>0.490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1" y="2167127"/>
            <a:ext cx="18653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A3A5C"/>
                </a:solidFill>
              </a:rPr>
              <a:t>0.500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05456"/>
            <a:ext cx="93268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" y="2551176"/>
            <a:ext cx="25968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A3A5C"/>
                </a:solidFill>
              </a:rPr>
              <a:t>Random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2112" y="2551176"/>
            <a:ext cx="24140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A3A5C"/>
                </a:solidFill>
              </a:rPr>
              <a:t>0.445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1" y="2551176"/>
            <a:ext cx="18653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A3A5C"/>
                </a:solidFill>
              </a:rPr>
              <a:t>0.525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1" y="2551176"/>
            <a:ext cx="18653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A3A5C"/>
                </a:solidFill>
              </a:rPr>
              <a:t>0.540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889504"/>
            <a:ext cx="9326880" cy="38404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" y="2935224"/>
            <a:ext cx="25968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A3A5C"/>
                </a:solidFill>
              </a:rPr>
              <a:t>Gradient Boosting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2112" y="2935224"/>
            <a:ext cx="24140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A3A5C"/>
                </a:solidFill>
              </a:rPr>
              <a:t>0.458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2431" y="2935224"/>
            <a:ext cx="18653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A3A5C"/>
                </a:solidFill>
              </a:rPr>
              <a:t>0.466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1" y="2935224"/>
            <a:ext cx="18653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A3A5C"/>
                </a:solidFill>
              </a:rPr>
              <a:t>0.508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273552"/>
            <a:ext cx="93268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8912" y="3319272"/>
            <a:ext cx="25968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A3A5C"/>
                </a:solidFill>
              </a:rPr>
              <a:t>Random 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82112" y="3319272"/>
            <a:ext cx="24140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A3A5C"/>
                </a:solidFill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42431" y="3319272"/>
            <a:ext cx="18653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A3A5C"/>
                </a:solidFill>
              </a:rPr>
              <a:t>0.500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1" y="3319272"/>
            <a:ext cx="18653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A3A5C"/>
                </a:solidFill>
              </a:rPr>
              <a:t>0.500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886200"/>
            <a:ext cx="11430000" cy="914400"/>
          </a:xfrm>
          <a:prstGeom prst="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3995928"/>
            <a:ext cx="11064240" cy="6057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dirty="0">
                <a:solidFill>
                  <a:srgbClr val="1A3A5C"/>
                </a:solidFill>
              </a:rPr>
              <a:t>Still chance level — and the paired Wilcoxon test (matched same-company windows, n = 444 pairs) finds all 40 features non-significant.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dirty="0">
                <a:solidFill>
                  <a:srgbClr val="1A3A5C"/>
                </a:solidFill>
              </a:rPr>
              <a:t>Unlike Week 2, this is now a well-supported null result: data quality, feature depth, and test power have all been addressed.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029200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A3A5C"/>
                </a:solidFill>
              </a:rPr>
              <a:t>Robustness checks that also came back empty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440680"/>
            <a:ext cx="11247120" cy="6057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dirty="0">
                <a:solidFill>
                  <a:srgbClr val="B8860B"/>
                </a:solidFill>
              </a:rPr>
              <a:t>•  </a:t>
            </a:r>
            <a:r>
              <a:rPr sz="1400" b="0" dirty="0">
                <a:solidFill>
                  <a:srgbClr val="1A3A5C"/>
                </a:solidFill>
              </a:rPr>
              <a:t>Retroactive blackout sweep (7 → 60 days): no blackout length reveals a pre/baseline gap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dirty="0">
                <a:solidFill>
                  <a:srgbClr val="B8860B"/>
                </a:solidFill>
              </a:rPr>
              <a:t>•  </a:t>
            </a:r>
            <a:r>
              <a:rPr sz="1400" b="0" dirty="0">
                <a:solidFill>
                  <a:srgbClr val="1A3A5C"/>
                </a:solidFill>
              </a:rPr>
              <a:t>Full-article-text features (sentiment, log-odds terms, NMF topics on 3,366 bodies): also non-significant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</a:rPr>
              <a:t>Diagnostic: Where Does the Signal Live?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dirty="0">
                <a:solidFill>
                  <a:srgbClr val="B8860B"/>
                </a:solidFill>
              </a:rPr>
              <a:t>Fetched the Excluded Blackout Window for 200 Events (§6c, diagnostic-only)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BBBBBB"/>
                </a:solidFill>
              </a:rPr>
              <a:t>M&amp;A Prediction   |  JPMorgan Industry Project  | 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07008"/>
            <a:ext cx="4846320" cy="16049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1" dirty="0">
                <a:solidFill>
                  <a:srgbClr val="1A3A5C"/>
                </a:solidFill>
              </a:rPr>
              <a:t>Hypothesis to rule out:  </a:t>
            </a:r>
            <a:r>
              <a:rPr sz="1400" b="0" dirty="0">
                <a:solidFill>
                  <a:srgbClr val="1A3A5C"/>
                </a:solidFill>
              </a:rPr>
              <a:t>real deal-rumor coverage concentrates in the last 7 days we deliberately exclude — so the pre-window never had signal to find.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1" dirty="0">
                <a:solidFill>
                  <a:srgbClr val="1A3A5C"/>
                </a:solidFill>
              </a:rPr>
              <a:t>Setup:  </a:t>
            </a:r>
            <a:r>
              <a:rPr sz="1400" b="0" dirty="0">
                <a:solidFill>
                  <a:srgbClr val="1A3A5C"/>
                </a:solidFill>
              </a:rPr>
              <a:t>GDELT coverage for [announcement − 7d, announcement] on 200 already-cached events; kept in a separate file, never used as training features.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657600"/>
            <a:ext cx="2377440" cy="123444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730752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1">
                <a:solidFill>
                  <a:srgbClr val="FFC000"/>
                </a:solidFill>
              </a:rPr>
              <a:t>12.29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2511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dirty="0">
                <a:solidFill>
                  <a:srgbClr val="D6E8F7"/>
                </a:solidFill>
              </a:rPr>
              <a:t>Articles/event on Day 0 (M&amp;A-keyword rate 11.2%)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3657600"/>
            <a:ext cx="2377440" cy="12344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0" y="3730752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0.35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32511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dirty="0">
                <a:solidFill>
                  <a:srgbClr val="D6E8F7"/>
                </a:solidFill>
              </a:rPr>
              <a:t>Articles/event/day, Days 1–7 (keyword rate 1.7%)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2920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1">
                <a:solidFill>
                  <a:srgbClr val="1A3A5C"/>
                </a:solidFill>
              </a:rPr>
              <a:t>Pre-window reference: 0.25 articles/event/day, 2.7% keyword rate — same level as days 1–7.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486400" y="1234440"/>
          <a:ext cx="63093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Rectangle 16"/>
          <p:cNvSpPr/>
          <p:nvPr/>
        </p:nvSpPr>
        <p:spPr>
          <a:xfrm>
            <a:off x="365760" y="5532120"/>
            <a:ext cx="11430000" cy="86868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623560"/>
            <a:ext cx="11064240" cy="554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dirty="0">
                <a:solidFill>
                  <a:srgbClr val="1A3A5C"/>
                </a:solidFill>
              </a:rPr>
              <a:t>Finding: free news coverage of these $1B+ deals appears on the announcement day, not before it. </a:t>
            </a:r>
            <a:r>
              <a:rPr sz="1400" b="0" dirty="0">
                <a:solidFill>
                  <a:srgbClr val="1A3A5C"/>
                </a:solidFill>
              </a:rPr>
              <a:t>The Day-0 spike also shows the features do detect M&amp;A coverage when it exists — the ≈0.5 AUC reflects the data source, not the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2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dirty="0">
                <a:solidFill>
                  <a:srgbClr val="FFFFFF"/>
                </a:solidFill>
              </a:rPr>
              <a:t>Announcement-Day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dirty="0">
                <a:solidFill>
                  <a:srgbClr val="B8860B"/>
                </a:solidFill>
              </a:rPr>
              <a:t>Same Pipeline, Pointed at the Window Where Signal Exists (§8)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BBBBBB"/>
                </a:solidFill>
              </a:rPr>
              <a:t>M&amp;A Prediction   |  JPMorgan Industry Project  | 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394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 dirty="0">
                <a:solidFill>
                  <a:srgbClr val="1A3A5C"/>
                </a:solidFill>
              </a:rPr>
              <a:t>Revised question:  </a:t>
            </a:r>
            <a:r>
              <a:rPr sz="1250" b="0" dirty="0">
                <a:solidFill>
                  <a:srgbClr val="1A3A5C"/>
                </a:solidFill>
              </a:rPr>
              <a:t>given one week of a company's news, did an M&amp;A announcement just occur? Detection (nowcasting), not advance prediction — stated plainly.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5303520" cy="204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1" dirty="0">
                <a:solidFill>
                  <a:srgbClr val="B8860B"/>
                </a:solidFill>
              </a:rPr>
              <a:t>•  </a:t>
            </a:r>
            <a:r>
              <a:rPr sz="1400" b="0" dirty="0">
                <a:solidFill>
                  <a:srgbClr val="1A3A5C"/>
                </a:solidFill>
              </a:rPr>
              <a:t>Positives: announcement weeks for 200 events; negatives: quiet-period weeks for the same companies (pairing controls coverage propensity)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1" dirty="0">
                <a:solidFill>
                  <a:srgbClr val="B8860B"/>
                </a:solidFill>
              </a:rPr>
              <a:t>•  </a:t>
            </a:r>
            <a:r>
              <a:rPr sz="1400" b="0" dirty="0">
                <a:solidFill>
                  <a:srgbClr val="1A3A5C"/>
                </a:solidFill>
              </a:rPr>
              <a:t>Same noise filters, features, models, time-based split as §5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1" dirty="0">
                <a:solidFill>
                  <a:srgbClr val="B8860B"/>
                </a:solidFill>
              </a:rPr>
              <a:t>•  </a:t>
            </a:r>
            <a:r>
              <a:rPr sz="1400" b="0" dirty="0">
                <a:solidFill>
                  <a:srgbClr val="1A3A5C"/>
                </a:solidFill>
              </a:rPr>
              <a:t>Interpretable drivers: articles/day 1.80 vs 0.12 · M&amp;A-keyword count 1.02 vs 0.23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1" dirty="0">
                <a:solidFill>
                  <a:srgbClr val="B8860B"/>
                </a:solidFill>
              </a:rPr>
              <a:t>•  </a:t>
            </a:r>
            <a:r>
              <a:rPr sz="1400" b="0" dirty="0">
                <a:solidFill>
                  <a:srgbClr val="1A3A5C"/>
                </a:solidFill>
              </a:rPr>
              <a:t>Use case: same-day M&amp;A event feed / alerting from free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234440"/>
            <a:ext cx="5760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A3A5C"/>
                </a:solidFill>
              </a:rPr>
              <a:t>Performance Summary (test set)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737360"/>
            <a:ext cx="5852160" cy="384048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08192" y="1783080"/>
            <a:ext cx="22311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1783080"/>
            <a:ext cx="12252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</a:rPr>
              <a:t>CV AUC (Train)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57232" y="1783080"/>
            <a:ext cx="10424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</a:rPr>
              <a:t>Test ROC-AUC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1783080"/>
            <a:ext cx="7680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</a:rPr>
              <a:t>PR-AUC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121408"/>
            <a:ext cx="5852160" cy="38404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08192" y="2167127"/>
            <a:ext cx="22311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A3A5C"/>
                </a:solidFill>
              </a:rPr>
              <a:t>Logistic 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167127"/>
            <a:ext cx="12252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A3A5C"/>
                </a:solidFill>
              </a:rPr>
              <a:t>0.807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7232" y="2167127"/>
            <a:ext cx="10424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A3A5C"/>
                </a:solidFill>
              </a:rPr>
              <a:t>0.773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5952" y="2167127"/>
            <a:ext cx="7680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A3A5C"/>
                </a:solidFill>
              </a:rPr>
              <a:t>0.737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505456"/>
            <a:ext cx="58521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08192" y="2551176"/>
            <a:ext cx="22311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A3A5C"/>
                </a:solidFill>
              </a:rPr>
              <a:t>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2551176"/>
            <a:ext cx="12252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A3A5C"/>
                </a:solidFill>
              </a:rPr>
              <a:t>0.814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2551176"/>
            <a:ext cx="10424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A3A5C"/>
                </a:solidFill>
              </a:rPr>
              <a:t>0.773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5952" y="2551176"/>
            <a:ext cx="7680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A3A5C"/>
                </a:solidFill>
              </a:rPr>
              <a:t>0.733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889504"/>
            <a:ext cx="5852160" cy="38404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08192" y="2935224"/>
            <a:ext cx="22311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3A5C"/>
                </a:solidFill>
              </a:rPr>
              <a:t>Gradient Boosting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2935224"/>
            <a:ext cx="12252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3A5C"/>
                </a:solidFill>
              </a:rPr>
              <a:t>0.818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7232" y="2935224"/>
            <a:ext cx="10424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3A5C"/>
                </a:solidFill>
              </a:rPr>
              <a:t>0.793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5952" y="2935224"/>
            <a:ext cx="7680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3A5C"/>
                </a:solidFill>
              </a:rPr>
              <a:t>0.741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273552"/>
            <a:ext cx="58521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08192" y="3319272"/>
            <a:ext cx="22311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A3A5C"/>
                </a:solidFill>
              </a:rPr>
              <a:t>Random Baseline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3319272"/>
            <a:ext cx="12252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A3A5C"/>
                </a:solidFill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7232" y="3319272"/>
            <a:ext cx="10424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A3A5C"/>
                </a:solidFill>
              </a:rPr>
              <a:t>0.500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45952" y="3319272"/>
            <a:ext cx="7680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A3A5C"/>
                </a:solidFill>
              </a:rPr>
              <a:t>0.500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3749039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A3A5C"/>
                </a:solidFill>
              </a:rPr>
              <a:t>400 samples (200 announcement weeks + 200 quiet weeks), 80/20 time-based split.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846320"/>
            <a:ext cx="11430000" cy="11887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983480"/>
            <a:ext cx="11064240" cy="554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dirty="0">
                <a:solidFill>
                  <a:srgbClr val="1A3A5C"/>
                </a:solidFill>
              </a:rPr>
              <a:t>Best test ROC-AUC 0.793 (Gradient Boosting) vs ≈0.50 for advance prediction. </a:t>
            </a:r>
            <a:r>
              <a:rPr sz="1400" b="0" dirty="0">
                <a:solidFill>
                  <a:srgbClr val="1A3A5C"/>
                </a:solidFill>
              </a:rPr>
              <a:t>The gap between these two numbers separates method validity from information availability</a:t>
            </a:r>
            <a:r>
              <a:rPr lang="en-US" altLang="zh-CN" sz="1400" dirty="0">
                <a:solidFill>
                  <a:srgbClr val="1A3A5C"/>
                </a:solidFill>
              </a:rPr>
              <a:t>.</a:t>
            </a:r>
            <a:endParaRPr sz="1400" b="0" dirty="0">
              <a:solidFill>
                <a:srgbClr val="1A3A5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B8860B"/>
                </a:solidFill>
              </a:rPr>
              <a:t>Near-Term Updates and Three Options for Team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BBBBBB"/>
                </a:solidFill>
              </a:rPr>
              <a:t>M&amp;A Prediction   |  JPMorgan Industry Project  | 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A3A5C"/>
                </a:solidFill>
              </a:rPr>
              <a:t>This Week (data still accumulating in background)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1" y="1664208"/>
            <a:ext cx="3840480" cy="11053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dirty="0">
                <a:solidFill>
                  <a:srgbClr val="B8860B"/>
                </a:solidFill>
              </a:rPr>
              <a:t>•  </a:t>
            </a:r>
            <a:r>
              <a:rPr sz="1400" b="0" dirty="0">
                <a:solidFill>
                  <a:srgbClr val="1A3A5C"/>
                </a:solidFill>
              </a:rPr>
              <a:t>Re-run the full notebook once event expansion reaches 1,200 (all scrapers are resumable)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dirty="0">
                <a:solidFill>
                  <a:srgbClr val="B8860B"/>
                </a:solidFill>
              </a:rPr>
              <a:t>•  </a:t>
            </a:r>
            <a:r>
              <a:rPr sz="1400" b="0" dirty="0">
                <a:solidFill>
                  <a:srgbClr val="1A3A5C"/>
                </a:solidFill>
              </a:rPr>
              <a:t>Extend the detection sample 200 → 600 companies to check the stability of the 0.79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42446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A3A5C"/>
                </a:solidFill>
              </a:rPr>
              <a:t>Direction Options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99646"/>
            <a:ext cx="3749039" cy="3840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645366"/>
            <a:ext cx="3566160" cy="3013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dirty="0">
                <a:solidFill>
                  <a:srgbClr val="FFFFFF"/>
                </a:solidFill>
              </a:rPr>
              <a:t>Option A: </a:t>
            </a:r>
            <a:r>
              <a:rPr lang="en-US" sz="1300" b="1" dirty="0">
                <a:solidFill>
                  <a:srgbClr val="FFFFFF"/>
                </a:solidFill>
              </a:rPr>
              <a:t>Add LLM to the model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60" y="3983694"/>
            <a:ext cx="3749039" cy="16093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4056846"/>
            <a:ext cx="3529584" cy="7939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1200" b="1" dirty="0">
                <a:solidFill>
                  <a:srgbClr val="1A3A5C"/>
                </a:solidFill>
              </a:rPr>
              <a:t>Usage of LLM can help us dig more useful signals from the existing natural language.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1200" dirty="0">
                <a:solidFill>
                  <a:srgbClr val="1A3A5C"/>
                </a:solidFill>
              </a:rPr>
              <a:t>See what can LLM reach outside the traditional NLP.</a:t>
            </a:r>
            <a:endParaRPr sz="1200" dirty="0">
              <a:solidFill>
                <a:srgbClr val="1A3A5C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97680" y="3599646"/>
            <a:ext cx="3749039" cy="3840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3645366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</a:rPr>
              <a:t>Option B: Keep Target, Change Features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983694"/>
            <a:ext cx="3749039" cy="16093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07408" y="4056846"/>
            <a:ext cx="3529584" cy="10063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dirty="0">
                <a:solidFill>
                  <a:srgbClr val="1A3A5C"/>
                </a:solidFill>
              </a:rPr>
              <a:t>Pre-announcement prediction from fundamentals.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dirty="0">
                <a:solidFill>
                  <a:srgbClr val="1A3A5C"/>
                </a:solidFill>
              </a:rPr>
              <a:t>Valuation, leverage, sector M&amp;A activity, options activity</a:t>
            </a:r>
            <a:r>
              <a:rPr lang="en-US" sz="1200" b="0" dirty="0">
                <a:solidFill>
                  <a:srgbClr val="1A3A5C"/>
                </a:solidFill>
              </a:rPr>
              <a:t>, </a:t>
            </a:r>
            <a:r>
              <a:rPr sz="1200" b="0" dirty="0">
                <a:solidFill>
                  <a:srgbClr val="1A3A5C"/>
                </a:solidFill>
              </a:rPr>
              <a:t>the approach with support in the literature; news becomes a secondary layer.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599646"/>
            <a:ext cx="3749039" cy="3840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3645366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</a:rPr>
              <a:t>Option C: Change the Data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983694"/>
            <a:ext cx="3749039" cy="16093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9327" y="4056846"/>
            <a:ext cx="3529584" cy="11103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dirty="0">
                <a:solidFill>
                  <a:srgbClr val="1A3A5C"/>
                </a:solidFill>
              </a:rPr>
              <a:t>Commercial news/rumor feeds (e.g. </a:t>
            </a:r>
            <a:r>
              <a:rPr sz="1200" b="1" dirty="0" err="1">
                <a:solidFill>
                  <a:srgbClr val="1A3A5C"/>
                </a:solidFill>
              </a:rPr>
              <a:t>RavenPack</a:t>
            </a:r>
            <a:r>
              <a:rPr sz="1200" b="1" dirty="0">
                <a:solidFill>
                  <a:srgbClr val="1A3A5C"/>
                </a:solidFill>
              </a:rPr>
              <a:t>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dirty="0">
                <a:solidFill>
                  <a:srgbClr val="1A3A5C"/>
                </a:solidFill>
              </a:rPr>
              <a:t>These do include pre-announcement rumor coverage, but depart from the project's free-data premise.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760720"/>
            <a:ext cx="11430000" cy="64008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852160"/>
            <a:ext cx="11064240" cy="317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dirty="0">
                <a:solidFill>
                  <a:srgbClr val="1A3A5C"/>
                </a:solidFill>
              </a:rPr>
              <a:t>Deliverables: </a:t>
            </a:r>
            <a:r>
              <a:rPr sz="1400" b="0" dirty="0">
                <a:solidFill>
                  <a:srgbClr val="1A3A5C"/>
                </a:solidFill>
              </a:rPr>
              <a:t>week4_news_ma_prediction.ipynb (§1–7 preserved + §6c diagnostic + §8 revised target)  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7408DD0D-A05E-1259-1F8D-682C54ADD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562" y="1234440"/>
            <a:ext cx="7044075" cy="22818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188720"/>
            <a:ext cx="12191695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8000" b="1">
                <a:solidFill>
                  <a:srgbClr val="FFFFFF"/>
                </a:solidFill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121916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888888"/>
                </a:solidFill>
              </a:rPr>
              <a:t>JPMorgan Industry Project  |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1389</Words>
  <Application>Microsoft Macintosh PowerPoint</Application>
  <PresentationFormat>宽屏</PresentationFormat>
  <Paragraphs>165</Paragraphs>
  <Slides>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Dexin Fu</cp:lastModifiedBy>
  <cp:revision>2</cp:revision>
  <dcterms:created xsi:type="dcterms:W3CDTF">2013-01-27T09:14:16Z</dcterms:created>
  <dcterms:modified xsi:type="dcterms:W3CDTF">2026-07-08T19:32:35Z</dcterms:modified>
  <cp:category/>
</cp:coreProperties>
</file>